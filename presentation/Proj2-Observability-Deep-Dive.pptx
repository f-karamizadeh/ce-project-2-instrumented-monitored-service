
<file path=[Content_Types].xml><?xml version="1.0" encoding="utf-8"?>
<Types xmlns="http://schemas.openxmlformats.org/package/2006/content-types">
  <Default Extension="bin" ContentType="application/vnd.openxmlformats-officedocument.oleObject"/>
  <Default Extension="jpeg" ContentType="image/jpeg"/>
  <Default Extension="rels" ContentType="application/vnd.openxmlformats-package.relationships+xml"/>
  <Default Extension="xml" ContentType="application/xml"/>
  <Default Extension="png" ContentType="image/png"/>
  <Default Extension="wmf" ContentType="image/x-wmf"/>
  <Override PartName="/ppt/notesMasters/notesMaster1.xml" ContentType="application/vnd.openxmlformats-officedocument.presentationml.notesMaster+xml"/>
  <Override PartName="/ppt/presentation.xml" ContentType="application/vnd.openxmlformats-officedocument.presentationml.presentation.main+xml"/>
  <Override PartName="/ppt/tableStyles.xml" ContentType="application/vnd.openxmlformats-officedocument.presentationml.tableStyles+xml"/>
  <Override PartName="/ppt/presProps.xml" ContentType="application/vnd.openxmlformats-officedocument.presentationml.presProps+xml"/>
  <Override PartName="/docProps/app.xml" ContentType="application/vnd.openxmlformats-officedocument.extended-properties+xml"/>
  <Override PartName="/ppt/viewProps.xml" ContentType="application/vnd.openxmlformats-officedocument.presentationml.viewProps+xml"/>
  <Override PartName="/docProps/core.xml" ContentType="application/vnd.openxmlformats-package.core-properties+xml"/>
  <Override PartName="/ppt/theme/theme1.xml" ContentType="application/vnd.openxmlformats-officedocument.theme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notesSlides/notesSlide1.xml" ContentType="application/vnd.openxmlformats-officedocument.presentationml.notesSlide+xml"/>
  <Override PartName="/ppt/slides/slide1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11.xml" ContentType="application/vnd.openxmlformats-officedocument.presentationml.notesSlide+xml"/>
  <Override PartName="/ppt/notesSlides/notesSlide8.xml" ContentType="application/vnd.openxmlformats-officedocument.presentationml.notes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  <Override PartName="/ppt/notesSlides/notesSlide10.xml" ContentType="application/vnd.openxmlformats-officedocument.presentationml.notes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slides/slide9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3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autoCompressPictures="0" saveSubsetFonts="1">
  <p:sldMasterIdLst>
    <p:sldMasterId id="2147483648" r:id="rId1"/>
  </p:sldMasterIdLst>
  <p:notesMasterIdLst>
    <p:notesMasterId r:id="rId16"/>
  </p:notes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</p:sldIdLst>
  <p:sldSz cx="12192000" cy="6858000"/>
  <p:notesSz cx="6858000" cy="12192000"/>
  <p:defaultTextStyle>
    <a:lvl1pPr marL="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>
        <p:guide pos="3840"/>
        <p:guide pos="2160" orient="horz"/>
      </p:guideLst>
    </p:cSldViewPr>
  </p:slideViewPr>
  <p:gridSpacing cx="76200" cy="76200"/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 /><Relationship Id="rId18" Type="http://schemas.openxmlformats.org/officeDocument/2006/relationships/tableStyles" Target="tableStyles.xml" /><Relationship Id="rId19" Type="http://schemas.openxmlformats.org/officeDocument/2006/relationships/viewProps" Target="viewProps.xml" 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65201538" name="Header Placeholder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68215508" name="Date Placeholder 2"/>
          <p:cNvSpPr>
            <a:spLocks noGrp="1"/>
          </p:cNvSpPr>
          <p:nvPr>
            <p:ph type="dt" idx="1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>
              <a:defRPr/>
            </a:pPr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374535639" name="Slide Image Placeholder 3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 lang="en-US"/>
          </a:p>
        </p:txBody>
      </p:sp>
      <p:sp>
        <p:nvSpPr>
          <p:cNvPr id="1127903957" name="Notes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/>
          </a:p>
        </p:txBody>
      </p:sp>
      <p:sp>
        <p:nvSpPr>
          <p:cNvPr id="1754574714" name="Footer Placeholder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296659396" name="Slide Number Placeholder 6"/>
          <p:cNvSpPr>
            <a:spLocks noGrp="1"/>
          </p:cNvSpPr>
          <p:nvPr>
            <p:ph type="sldNum" sz="quarter" idx="5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 ?>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 ?>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 ?>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 ?>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 ?>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 ?>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 ?>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 ?>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 ?>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 ?>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 ?>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42712706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3005181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92843899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1</a:t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56018777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96086723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20146827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2</a:t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3268517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62911646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r>
              <a:rPr lang="de-DE"/>
              <a:t>Test note</a:t>
            </a:r>
            <a:endParaRPr lang="en-US"/>
          </a:p>
        </p:txBody>
      </p:sp>
      <p:sp>
        <p:nvSpPr>
          <p:cNvPr id="15964627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3</a:t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54619510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74072835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47317066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64C7331-0136-E50C-3B6B-53C18218AC2D}" type="slidenum">
              <a:rPr lang="en-US"/>
              <a:t>3</a:t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7706251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08464213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80489987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6</a:t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74434707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3773902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98241803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13</a:t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13600353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68521700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43686891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5</a:t>
            </a:fld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02034954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5359365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16157166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4</a:t>
            </a:fld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27043288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99403267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47411413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12</a:t>
            </a:fld>
            <a:endParaRPr 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56692178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99541799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8297279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7</a:t>
            </a:fld>
            <a:endParaRPr 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28804161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78743836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203375041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15</a:t>
            </a:fld>
            <a:endParaRPr lang="en-US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42463104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48676528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70885987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16</a:t>
            </a:fld>
            <a:endParaRPr lang="en-US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54393411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48997100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15281314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18</a:t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dt="0" ftr="0" hdr="0" sldNum="0"/>
  <p:txStyles>
    <p:titleStyle>
      <a:lvl1pPr algn="ctr" defTabSz="914400" rtl="0">
        <a:spcBef>
          <a:spcPts val="0"/>
        </a:spcBef>
        <a:buNone/>
        <a:defRPr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>
        <a:spcBef>
          <a:spcPts val="0"/>
        </a:spcBef>
        <a:buFont typeface="Arial"/>
        <a:buChar char="•"/>
        <a:defRPr sz="3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>
        <a:spcBef>
          <a:spcPts val="0"/>
        </a:spcBef>
        <a:buFont typeface="Arial"/>
        <a:buChar char="–"/>
        <a:defRPr sz="28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>
        <a:spcBef>
          <a:spcPts val="0"/>
        </a:spcBef>
        <a:buFont typeface="Arial"/>
        <a:buChar char="•"/>
        <a:defRPr sz="24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>
        <a:spcBef>
          <a:spcPts val="0"/>
        </a:spcBef>
        <a:buFont typeface="Arial"/>
        <a:buChar char="–"/>
        <a:defRPr sz="20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>
        <a:spcBef>
          <a:spcPts val="0"/>
        </a:spcBef>
        <a:buFont typeface="Arial"/>
        <a:buChar char="»"/>
        <a:defRPr sz="20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Relationship Id="rId7" Type="http://schemas.openxmlformats.org/officeDocument/2006/relationships/image" Target="../media/image8.png"/><Relationship Id="rId8" Type="http://schemas.openxmlformats.org/officeDocument/2006/relationships/image" Target="../media/image9.png"/><Relationship Id="rId9" Type="http://schemas.openxmlformats.org/officeDocument/2006/relationships/image" Target="../media/image10.png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1.png"/><Relationship Id="rId4" Type="http://schemas.openxmlformats.org/officeDocument/2006/relationships/image" Target="../media/image12.png"/><Relationship Id="rId5" Type="http://schemas.openxmlformats.org/officeDocument/2006/relationships/image" Target="../media/image13.png"/><Relationship Id="rId6" Type="http://schemas.openxmlformats.org/officeDocument/2006/relationships/image" Target="../media/image14.png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5.png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6.png"/><Relationship Id="rId4" Type="http://schemas.openxmlformats.org/officeDocument/2006/relationships/image" Target="../media/image17.png"/><Relationship Id="rId5" Type="http://schemas.openxmlformats.org/officeDocument/2006/relationships/image" Target="../media/image18.png"/><Relationship Id="rId6" Type="http://schemas.openxmlformats.org/officeDocument/2006/relationships/image" Target="../media/image19.png"/><Relationship Id="rId7" Type="http://schemas.openxmlformats.org/officeDocument/2006/relationships/image" Target="../media/image20.png"/><Relationship Id="rId8" Type="http://schemas.openxmlformats.org/officeDocument/2006/relationships/image" Target="../media/image21.png"/><Relationship Id="rId9" Type="http://schemas.openxmlformats.org/officeDocument/2006/relationships/image" Target="../media/image22.png"/><Relationship Id="rId10" Type="http://schemas.openxmlformats.org/officeDocument/2006/relationships/image" Target="../media/image23.png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4.png"/><Relationship Id="rId4" Type="http://schemas.openxmlformats.org/officeDocument/2006/relationships/image" Target="../media/image25.png"/><Relationship Id="rId5" Type="http://schemas.openxmlformats.org/officeDocument/2006/relationships/image" Target="../media/image26.png"/><Relationship Id="rId6" Type="http://schemas.openxmlformats.org/officeDocument/2006/relationships/image" Target="../media/image27.png"/><Relationship Id="rId7" Type="http://schemas.openxmlformats.org/officeDocument/2006/relationships/image" Target="../media/image28.png"/><Relationship Id="rId8" Type="http://schemas.openxmlformats.org/officeDocument/2006/relationships/image" Target="../media/image29.png"/><Relationship Id="rId9" Type="http://schemas.openxmlformats.org/officeDocument/2006/relationships/image" Target="../media/image30.png"/><Relationship Id="rId10" Type="http://schemas.openxmlformats.org/officeDocument/2006/relationships/image" Target="../media/image31.png"/><Relationship Id="rId11" Type="http://schemas.openxmlformats.org/officeDocument/2006/relationships/image" Target="../media/image32.png"/><Relationship Id="rId12" Type="http://schemas.openxmlformats.org/officeDocument/2006/relationships/image" Target="../media/image33.png"/><Relationship Id="rId13" Type="http://schemas.openxmlformats.org/officeDocument/2006/relationships/image" Target="../media/image34.png"/><Relationship Id="rId14" Type="http://schemas.openxmlformats.org/officeDocument/2006/relationships/image" Target="../media/image35.png"/><Relationship Id="rId15" Type="http://schemas.openxmlformats.org/officeDocument/2006/relationships/image" Target="../media/image36.png"/><Relationship Id="rId16" Type="http://schemas.openxmlformats.org/officeDocument/2006/relationships/image" Target="../media/image37.png"/><Relationship Id="rId17" Type="http://schemas.openxmlformats.org/officeDocument/2006/relationships/image" Target="../media/image38.png"/><Relationship Id="rId18" Type="http://schemas.openxmlformats.org/officeDocument/2006/relationships/image" Target="../media/image39.png"/><Relationship Id="rId19" Type="http://schemas.openxmlformats.org/officeDocument/2006/relationships/image" Target="../media/image40.png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1.png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2.png"/><Relationship Id="rId4" Type="http://schemas.openxmlformats.org/officeDocument/2006/relationships/image" Target="../media/image43.png"/><Relationship Id="rId5" Type="http://schemas.openxmlformats.org/officeDocument/2006/relationships/image" Target="../media/image44.png"/><Relationship Id="rId6" Type="http://schemas.openxmlformats.org/officeDocument/2006/relationships/image" Target="../media/image45.png"/><Relationship Id="rId7" Type="http://schemas.openxmlformats.org/officeDocument/2006/relationships/image" Target="../media/image46.png"/><Relationship Id="rId8" Type="http://schemas.openxmlformats.org/officeDocument/2006/relationships/image" Target="../media/image47.png"/><Relationship Id="rId9" Type="http://schemas.openxmlformats.org/officeDocument/2006/relationships/image" Target="../media/image48.png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9.png"/><Relationship Id="rId4" Type="http://schemas.openxmlformats.org/officeDocument/2006/relationships/image" Target="../media/image50.png"/><Relationship Id="rId5" Type="http://schemas.openxmlformats.org/officeDocument/2006/relationships/image" Target="../media/image51.png"/><Relationship Id="rId6" Type="http://schemas.openxmlformats.org/officeDocument/2006/relationships/image" Target="../media/image52.png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3.png"/><Relationship Id="rId4" Type="http://schemas.openxmlformats.org/officeDocument/2006/relationships/image" Target="../media/image54.png"/><Relationship Id="rId5" Type="http://schemas.openxmlformats.org/officeDocument/2006/relationships/image" Target="../media/image55.png"/><Relationship Id="rId6" Type="http://schemas.openxmlformats.org/officeDocument/2006/relationships/image" Target="../media/image56.png"/><Relationship Id="rId7" Type="http://schemas.openxmlformats.org/officeDocument/2006/relationships/image" Target="../media/image57.png"/><Relationship Id="rId8" Type="http://schemas.openxmlformats.org/officeDocument/2006/relationships/image" Target="../media/image58.png"/><Relationship Id="rId9" Type="http://schemas.openxmlformats.org/officeDocument/2006/relationships/image" Target="../media/image59.png"/><Relationship Id="rId10" Type="http://schemas.openxmlformats.org/officeDocument/2006/relationships/image" Target="../media/image60.png"/><Relationship Id="rId11" Type="http://schemas.openxmlformats.org/officeDocument/2006/relationships/image" Target="../media/image61.png"/><Relationship Id="rId12" Type="http://schemas.openxmlformats.org/officeDocument/2006/relationships/image" Target="../media/image62.png"/><Relationship Id="rId13" Type="http://schemas.openxmlformats.org/officeDocument/2006/relationships/image" Target="../media/image63.png"/><Relationship Id="rId14" Type="http://schemas.openxmlformats.org/officeDocument/2006/relationships/image" Target="../media/image64.png"/><Relationship Id="rId15" Type="http://schemas.openxmlformats.org/officeDocument/2006/relationships/image" Target="../media/image65.png"/><Relationship Id="rId16" Type="http://schemas.openxmlformats.org/officeDocument/2006/relationships/image" Target="../media/image66.png"/><Relationship Id="rId17" Type="http://schemas.openxmlformats.org/officeDocument/2006/relationships/image" Target="../media/image67.png"/><Relationship Id="rId18" Type="http://schemas.openxmlformats.org/officeDocument/2006/relationships/image" Target="../media/image68.png"/><Relationship Id="rId19" Type="http://schemas.openxmlformats.org/officeDocument/2006/relationships/image" Target="../media/image69.png"/><Relationship Id="rId20" Type="http://schemas.openxmlformats.org/officeDocument/2006/relationships/image" Target="../media/image70.png"/><Relationship Id="rId21" Type="http://schemas.openxmlformats.org/officeDocument/2006/relationships/image" Target="../media/image71.png"/><Relationship Id="rId22" Type="http://schemas.openxmlformats.org/officeDocument/2006/relationships/image" Target="../media/image72.png"/><Relationship Id="rId23" Type="http://schemas.openxmlformats.org/officeDocument/2006/relationships/image" Target="../media/image73.png"/><Relationship Id="rId24" Type="http://schemas.openxmlformats.org/officeDocument/2006/relationships/image" Target="../media/image74.png"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75.png"/><Relationship Id="rId4" Type="http://schemas.openxmlformats.org/officeDocument/2006/relationships/image" Target="../media/image76.png"/><Relationship Id="rId5" Type="http://schemas.openxmlformats.org/officeDocument/2006/relationships/image" Target="../media/image77.png"/><Relationship Id="rId6" Type="http://schemas.openxmlformats.org/officeDocument/2006/relationships/image" Target="../media/image78.png"/><Relationship Id="rId7" Type="http://schemas.openxmlformats.org/officeDocument/2006/relationships/image" Target="../media/image79.png"/><Relationship Id="rId8" Type="http://schemas.openxmlformats.org/officeDocument/2006/relationships/image" Target="../media/image80.png"/><Relationship Id="rId9" Type="http://schemas.openxmlformats.org/officeDocument/2006/relationships/image" Target="../media/image81.png"/><Relationship Id="rId10" Type="http://schemas.openxmlformats.org/officeDocument/2006/relationships/image" Target="../media/image82.png"/></Relationships>
</file>

<file path=ppt/slides/_rels/slide1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83.png"/><Relationship Id="rId4" Type="http://schemas.openxmlformats.org/officeDocument/2006/relationships/image" Target="../media/image84.png"/></Relationships>
</file>

<file path=ppt/slides/_rels/slide1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1">
    <p:bg>
      <p:bgPr shadeToTitle="0">
        <a:solidFill>
          <a:srgbClr val="18162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240609177" name="Image 0" descr="preencoded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0" y="0"/>
            <a:ext cx="6827490" cy="6858000"/>
          </a:xfrm>
          <a:prstGeom prst="rect">
            <a:avLst/>
          </a:prstGeom>
        </p:spPr>
      </p:pic>
      <p:sp>
        <p:nvSpPr>
          <p:cNvPr id="1134853824" name="Text 0"/>
          <p:cNvSpPr txBox="1"/>
          <p:nvPr/>
        </p:nvSpPr>
        <p:spPr bwMode="auto">
          <a:xfrm>
            <a:off x="0" y="0"/>
            <a:ext cx="6827491" cy="6858000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025"/>
              </a:lnSpc>
              <a:buNone/>
              <a:defRPr/>
            </a:pPr>
            <a:endParaRPr lang="en-US" sz="1350"/>
          </a:p>
        </p:txBody>
      </p:sp>
      <p:sp>
        <p:nvSpPr>
          <p:cNvPr id="1528874424" name="Shape 1"/>
          <p:cNvSpPr/>
          <p:nvPr/>
        </p:nvSpPr>
        <p:spPr bwMode="auto">
          <a:xfrm>
            <a:off x="6829425" y="0"/>
            <a:ext cx="5362575" cy="6858000"/>
          </a:xfrm>
          <a:prstGeom prst="rect">
            <a:avLst/>
          </a:prstGeom>
          <a:solidFill>
            <a:srgbClr val="181622"/>
          </a:solidFill>
          <a:ln/>
        </p:spPr>
      </p:sp>
      <p:sp>
        <p:nvSpPr>
          <p:cNvPr id="1971675587" name="Text 2"/>
          <p:cNvSpPr txBox="1"/>
          <p:nvPr/>
        </p:nvSpPr>
        <p:spPr bwMode="auto">
          <a:xfrm flipH="0" flipV="0">
            <a:off x="7284690" y="2313383"/>
            <a:ext cx="4432931" cy="361949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marR="0" indent="0" algn="l">
              <a:lnSpc>
                <a:spcPts val="1459"/>
              </a:lnSpc>
              <a:spcBef>
                <a:spcPts val="0"/>
              </a:spcBef>
              <a:spcAft>
                <a:spcPts val="1499"/>
              </a:spcAft>
              <a:buNone/>
              <a:defRPr/>
            </a:pPr>
            <a:r>
              <a:rPr sz="1400" b="1" i="0" u="none" strike="noStrike" cap="none" spc="136">
                <a:solidFill>
                  <a:srgbClr val="67F4E2"/>
                </a:solidFill>
                <a:latin typeface="Inter"/>
                <a:ea typeface="Inter"/>
                <a:cs typeface="Inter"/>
              </a:rPr>
              <a:t>Instrume</a:t>
            </a:r>
            <a:r>
              <a:rPr sz="1400" b="1" i="0" u="none" strike="noStrike" cap="none" spc="136">
                <a:solidFill>
                  <a:srgbClr val="67F4E2"/>
                </a:solidFill>
                <a:latin typeface="Inter"/>
                <a:ea typeface="Inter"/>
                <a:cs typeface="Inter"/>
              </a:rPr>
              <a:t>nted </a:t>
            </a:r>
            <a:r>
              <a:rPr sz="1400" b="1" i="0" u="none" strike="noStrike" cap="none" spc="136">
                <a:solidFill>
                  <a:srgbClr val="67F4E2"/>
                </a:solidFill>
                <a:latin typeface="Inter"/>
                <a:ea typeface="Inter"/>
                <a:cs typeface="Inter"/>
              </a:rPr>
              <a:t>&amp; Monitored Cloud Service</a:t>
            </a:r>
            <a:endParaRPr sz="1400"/>
          </a:p>
        </p:txBody>
      </p:sp>
      <p:sp>
        <p:nvSpPr>
          <p:cNvPr id="922077354" name="Text 3"/>
          <p:cNvSpPr txBox="1"/>
          <p:nvPr/>
        </p:nvSpPr>
        <p:spPr bwMode="auto">
          <a:xfrm>
            <a:off x="7284690" y="2865834"/>
            <a:ext cx="3704593" cy="1134693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800"/>
              </a:lnSpc>
              <a:buNone/>
              <a:defRPr/>
            </a:pPr>
            <a:r>
              <a:rPr lang="en-US" sz="4800" b="1" spc="-95">
                <a:solidFill>
                  <a:srgbClr val="EAEEF2"/>
                </a:solidFill>
                <a:latin typeface="Space Grotesk"/>
                <a:ea typeface="Space Grotesk"/>
                <a:cs typeface="Space Grotesk"/>
              </a:rPr>
              <a:t>Observability</a:t>
            </a:r>
            <a:endParaRPr lang="en-US" sz="4800"/>
          </a:p>
          <a:p>
            <a:pPr marL="0" indent="0" algn="l">
              <a:lnSpc>
                <a:spcPts val="4800"/>
              </a:lnSpc>
              <a:buNone/>
              <a:defRPr/>
            </a:pPr>
            <a:r>
              <a:rPr lang="de-DE" sz="4800" b="1" spc="-95">
                <a:solidFill>
                  <a:srgbClr val="67F4E2"/>
                </a:solidFill>
                <a:latin typeface="Inter"/>
                <a:ea typeface="Inter"/>
                <a:cs typeface="Inter"/>
              </a:rPr>
              <a:t>Monitoring</a:t>
            </a:r>
            <a:endParaRPr lang="en-US" sz="4800"/>
          </a:p>
        </p:txBody>
      </p:sp>
      <p:pic>
        <p:nvPicPr>
          <p:cNvPr id="904051130" name="Image 1" descr="preencoded.png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>
            <a:off x="7284690" y="4263628"/>
            <a:ext cx="1913186" cy="290513"/>
          </a:xfrm>
          <a:prstGeom prst="rect">
            <a:avLst/>
          </a:prstGeom>
        </p:spPr>
      </p:pic>
      <p:sp>
        <p:nvSpPr>
          <p:cNvPr id="220938188" name="Text 4"/>
          <p:cNvSpPr txBox="1"/>
          <p:nvPr/>
        </p:nvSpPr>
        <p:spPr bwMode="auto">
          <a:xfrm>
            <a:off x="7408514" y="4339827"/>
            <a:ext cx="1773236" cy="158077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>
              <a:defRPr/>
            </a:pPr>
            <a:r>
              <a:rPr lang="de-DE" sz="850" b="1" i="0" u="none" strike="noStrike" cap="none" spc="136">
                <a:solidFill>
                  <a:srgbClr val="67F4E2"/>
                </a:solidFill>
                <a:latin typeface="Inter"/>
                <a:ea typeface="Inter"/>
                <a:cs typeface="Inter"/>
              </a:rPr>
              <a:t>Cloud Engineer</a:t>
            </a:r>
            <a:r>
              <a:rPr lang="de-DE" sz="850" b="1" i="0" u="none" strike="noStrike" cap="none" spc="136">
                <a:solidFill>
                  <a:srgbClr val="67F4E2"/>
                </a:solidFill>
                <a:latin typeface="Inter"/>
                <a:ea typeface="Inter"/>
                <a:cs typeface="Inter"/>
              </a:rPr>
              <a:t> / Ironhack</a:t>
            </a:r>
            <a:endParaRPr lang="de-DE" sz="850" b="1" i="0" u="none" strike="noStrike" cap="none" spc="136">
              <a:solidFill>
                <a:srgbClr val="67F4E2"/>
              </a:solidFill>
              <a:latin typeface="Times New Roman"/>
              <a:cs typeface="Times New Roman"/>
            </a:endParaRPr>
          </a:p>
          <a:p>
            <a:pPr>
              <a:defRPr/>
            </a:pPr>
            <a:endParaRPr/>
          </a:p>
        </p:txBody>
      </p:sp>
      <p:pic>
        <p:nvPicPr>
          <p:cNvPr id="1240002917" name="Image 2" descr="preencoded.png"/>
          <p:cNvPicPr>
            <a:picLocks noChangeAspect="1"/>
          </p:cNvPicPr>
          <p:nvPr/>
        </p:nvPicPr>
        <p:blipFill rotWithShape="1">
          <a:blip r:embed="rId5"/>
          <a:stretch/>
        </p:blipFill>
        <p:spPr bwMode="auto">
          <a:xfrm flipH="0" flipV="0">
            <a:off x="9312175" y="4263627"/>
            <a:ext cx="1869085" cy="290512"/>
          </a:xfrm>
          <a:prstGeom prst="rect">
            <a:avLst/>
          </a:prstGeom>
        </p:spPr>
      </p:pic>
      <p:sp>
        <p:nvSpPr>
          <p:cNvPr id="1264234310" name="Text 5"/>
          <p:cNvSpPr txBox="1"/>
          <p:nvPr/>
        </p:nvSpPr>
        <p:spPr bwMode="auto">
          <a:xfrm>
            <a:off x="9436000" y="4335065"/>
            <a:ext cx="1650776" cy="172477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38"/>
              </a:lnSpc>
              <a:buNone/>
              <a:defRPr/>
            </a:pPr>
            <a:r>
              <a:rPr lang="de-DE" sz="850">
                <a:solidFill>
                  <a:srgbClr val="EAEEF2"/>
                </a:solidFill>
                <a:latin typeface="Inter"/>
                <a:ea typeface="Inter"/>
                <a:cs typeface="Inter"/>
              </a:rPr>
              <a:t>Faramarz Karamizadeh, Aug.2026</a:t>
            </a:r>
            <a:endParaRPr lang="en-US" sz="85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2">
    <p:bg>
      <p:bgPr shadeToTitle="0">
        <a:solidFill>
          <a:srgbClr val="18162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01777318" name="Text 0"/>
          <p:cNvSpPr txBox="1"/>
          <p:nvPr/>
        </p:nvSpPr>
        <p:spPr bwMode="auto">
          <a:xfrm>
            <a:off x="533399" y="533399"/>
            <a:ext cx="1757541" cy="495659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900"/>
              </a:lnSpc>
              <a:buNone/>
              <a:defRPr/>
            </a:pPr>
            <a:r>
              <a:rPr lang="en-US" sz="3900" b="1" spc="-77">
                <a:solidFill>
                  <a:srgbClr val="EAEEF2"/>
                </a:solidFill>
                <a:latin typeface="Space Grotesk"/>
                <a:ea typeface="Space Grotesk"/>
                <a:cs typeface="Space Grotesk"/>
              </a:rPr>
              <a:t>Agenda </a:t>
            </a:r>
            <a:endParaRPr lang="en-US" sz="3900"/>
          </a:p>
        </p:txBody>
      </p:sp>
      <p:pic>
        <p:nvPicPr>
          <p:cNvPr id="1293155738" name="Image 0" descr="preencoded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533400" y="1914525"/>
            <a:ext cx="7048500" cy="514350"/>
          </a:xfrm>
          <a:prstGeom prst="rect">
            <a:avLst/>
          </a:prstGeom>
        </p:spPr>
      </p:pic>
      <p:sp>
        <p:nvSpPr>
          <p:cNvPr id="669683775" name="Text 1"/>
          <p:cNvSpPr txBox="1"/>
          <p:nvPr/>
        </p:nvSpPr>
        <p:spPr bwMode="auto">
          <a:xfrm>
            <a:off x="714375" y="2095499"/>
            <a:ext cx="73431" cy="164444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50"/>
              </a:lnSpc>
              <a:buNone/>
              <a:defRPr/>
            </a:pPr>
            <a:r>
              <a:rPr lang="de-DE" sz="900" b="1" spc="72">
                <a:solidFill>
                  <a:srgbClr val="67F4E2"/>
                </a:solidFill>
                <a:latin typeface="Inter"/>
                <a:ea typeface="Inter"/>
                <a:cs typeface="Inter"/>
              </a:rPr>
              <a:t>1</a:t>
            </a:r>
            <a:endParaRPr lang="en-US" sz="900"/>
          </a:p>
        </p:txBody>
      </p:sp>
      <p:sp>
        <p:nvSpPr>
          <p:cNvPr id="2040363220" name="Text 2"/>
          <p:cNvSpPr txBox="1"/>
          <p:nvPr/>
        </p:nvSpPr>
        <p:spPr bwMode="auto">
          <a:xfrm>
            <a:off x="1666875" y="2076450"/>
            <a:ext cx="4972050" cy="209550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00"/>
              </a:lnSpc>
              <a:buNone/>
              <a:defRPr/>
            </a:pPr>
            <a:r>
              <a:rPr lang="en-US" sz="1200" b="1">
                <a:solidFill>
                  <a:srgbClr val="EAEEF2"/>
                </a:solidFill>
                <a:latin typeface="Inter"/>
                <a:ea typeface="Inter"/>
                <a:cs typeface="Inter"/>
              </a:rPr>
              <a:t>1. Architecture &amp; Instrumentation</a:t>
            </a:r>
            <a:endParaRPr lang="en-US" sz="1200"/>
          </a:p>
        </p:txBody>
      </p:sp>
      <p:pic>
        <p:nvPicPr>
          <p:cNvPr id="427377579" name="Image 1" descr="preencoded.png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>
            <a:off x="533400" y="2562225"/>
            <a:ext cx="7048500" cy="514350"/>
          </a:xfrm>
          <a:prstGeom prst="rect">
            <a:avLst/>
          </a:prstGeom>
        </p:spPr>
      </p:pic>
      <p:sp>
        <p:nvSpPr>
          <p:cNvPr id="732643015" name="Text 4"/>
          <p:cNvSpPr txBox="1"/>
          <p:nvPr/>
        </p:nvSpPr>
        <p:spPr bwMode="auto">
          <a:xfrm>
            <a:off x="714375" y="2743200"/>
            <a:ext cx="73431" cy="162284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50"/>
              </a:lnSpc>
              <a:buNone/>
              <a:defRPr/>
            </a:pPr>
            <a:r>
              <a:rPr lang="de-DE" sz="900" b="1" spc="72">
                <a:solidFill>
                  <a:srgbClr val="67F4E2"/>
                </a:solidFill>
                <a:latin typeface="Inter"/>
                <a:ea typeface="Inter"/>
                <a:cs typeface="Inter"/>
              </a:rPr>
              <a:t>2</a:t>
            </a:r>
            <a:endParaRPr lang="en-US" sz="900"/>
          </a:p>
        </p:txBody>
      </p:sp>
      <p:sp>
        <p:nvSpPr>
          <p:cNvPr id="1022434688" name="Text 5"/>
          <p:cNvSpPr txBox="1"/>
          <p:nvPr/>
        </p:nvSpPr>
        <p:spPr bwMode="auto">
          <a:xfrm>
            <a:off x="1666875" y="2724150"/>
            <a:ext cx="4972050" cy="209550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00"/>
              </a:lnSpc>
              <a:buNone/>
              <a:defRPr/>
            </a:pPr>
            <a:r>
              <a:rPr lang="en-US" sz="1200" b="1">
                <a:solidFill>
                  <a:srgbClr val="EAEEF2"/>
                </a:solidFill>
                <a:latin typeface="Inter"/>
                <a:ea typeface="Inter"/>
                <a:cs typeface="Inter"/>
              </a:rPr>
              <a:t>2. Live Demo — Dashboard &amp; Monitoring</a:t>
            </a:r>
            <a:endParaRPr lang="en-US" sz="1200"/>
          </a:p>
        </p:txBody>
      </p:sp>
      <p:pic>
        <p:nvPicPr>
          <p:cNvPr id="1935035060" name="Image 2" descr="preencoded.png"/>
          <p:cNvPicPr>
            <a:picLocks noChangeAspect="1"/>
          </p:cNvPicPr>
          <p:nvPr/>
        </p:nvPicPr>
        <p:blipFill rotWithShape="1">
          <a:blip r:embed="rId5"/>
          <a:stretch/>
        </p:blipFill>
        <p:spPr bwMode="auto">
          <a:xfrm>
            <a:off x="533400" y="3209925"/>
            <a:ext cx="7048500" cy="514350"/>
          </a:xfrm>
          <a:prstGeom prst="rect">
            <a:avLst/>
          </a:prstGeom>
        </p:spPr>
      </p:pic>
      <p:sp>
        <p:nvSpPr>
          <p:cNvPr id="1795962726" name="Text 7"/>
          <p:cNvSpPr txBox="1"/>
          <p:nvPr/>
        </p:nvSpPr>
        <p:spPr bwMode="auto">
          <a:xfrm>
            <a:off x="714375" y="3390899"/>
            <a:ext cx="73431" cy="162284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50"/>
              </a:lnSpc>
              <a:buNone/>
              <a:defRPr/>
            </a:pPr>
            <a:r>
              <a:rPr lang="de-DE" sz="900" b="1" spc="72">
                <a:solidFill>
                  <a:srgbClr val="67F4E2"/>
                </a:solidFill>
                <a:latin typeface="Inter"/>
                <a:ea typeface="Inter"/>
                <a:cs typeface="Inter"/>
              </a:rPr>
              <a:t>3</a:t>
            </a:r>
            <a:endParaRPr lang="en-US" sz="900"/>
          </a:p>
        </p:txBody>
      </p:sp>
      <p:sp>
        <p:nvSpPr>
          <p:cNvPr id="1538559007" name="Text 8"/>
          <p:cNvSpPr txBox="1"/>
          <p:nvPr/>
        </p:nvSpPr>
        <p:spPr bwMode="auto">
          <a:xfrm>
            <a:off x="1666875" y="3371850"/>
            <a:ext cx="4972050" cy="209550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00"/>
              </a:lnSpc>
              <a:buNone/>
              <a:defRPr/>
            </a:pPr>
            <a:r>
              <a:rPr lang="en-US" sz="1200" b="1">
                <a:solidFill>
                  <a:srgbClr val="EAEEF2"/>
                </a:solidFill>
                <a:latin typeface="Inter"/>
                <a:ea typeface="Inter"/>
                <a:cs typeface="Inter"/>
              </a:rPr>
              <a:t>3. Incident Response Simulation</a:t>
            </a:r>
            <a:endParaRPr lang="en-US" sz="1200"/>
          </a:p>
        </p:txBody>
      </p:sp>
      <p:pic>
        <p:nvPicPr>
          <p:cNvPr id="1360490664" name="Image 3" descr="preencoded.png"/>
          <p:cNvPicPr>
            <a:picLocks noChangeAspect="1"/>
          </p:cNvPicPr>
          <p:nvPr/>
        </p:nvPicPr>
        <p:blipFill rotWithShape="1">
          <a:blip r:embed="rId6"/>
          <a:stretch/>
        </p:blipFill>
        <p:spPr bwMode="auto">
          <a:xfrm>
            <a:off x="533400" y="3857625"/>
            <a:ext cx="7048500" cy="514350"/>
          </a:xfrm>
          <a:prstGeom prst="rect">
            <a:avLst/>
          </a:prstGeom>
        </p:spPr>
      </p:pic>
      <p:sp>
        <p:nvSpPr>
          <p:cNvPr id="536519832" name="Text 10"/>
          <p:cNvSpPr txBox="1"/>
          <p:nvPr/>
        </p:nvSpPr>
        <p:spPr bwMode="auto">
          <a:xfrm>
            <a:off x="714375" y="4038599"/>
            <a:ext cx="73431" cy="162284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50"/>
              </a:lnSpc>
              <a:buNone/>
              <a:defRPr/>
            </a:pPr>
            <a:r>
              <a:rPr lang="de-DE" sz="900" b="1" spc="72">
                <a:solidFill>
                  <a:srgbClr val="67F4E2"/>
                </a:solidFill>
                <a:latin typeface="Inter"/>
                <a:ea typeface="Inter"/>
                <a:cs typeface="Inter"/>
              </a:rPr>
              <a:t>4</a:t>
            </a:r>
            <a:endParaRPr lang="en-US" sz="900"/>
          </a:p>
        </p:txBody>
      </p:sp>
      <p:sp>
        <p:nvSpPr>
          <p:cNvPr id="1221080377" name="Text 11"/>
          <p:cNvSpPr txBox="1"/>
          <p:nvPr/>
        </p:nvSpPr>
        <p:spPr bwMode="auto">
          <a:xfrm>
            <a:off x="1666875" y="4019550"/>
            <a:ext cx="4972050" cy="209550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00"/>
              </a:lnSpc>
              <a:buNone/>
              <a:defRPr/>
            </a:pPr>
            <a:r>
              <a:rPr lang="en-US" sz="1200" b="1">
                <a:solidFill>
                  <a:srgbClr val="EAEEF2"/>
                </a:solidFill>
                <a:latin typeface="Inter"/>
                <a:ea typeface="Inter"/>
                <a:cs typeface="Inter"/>
              </a:rPr>
              <a:t>4. Alerting &amp; Response</a:t>
            </a:r>
            <a:endParaRPr lang="en-US" sz="1200"/>
          </a:p>
        </p:txBody>
      </p:sp>
      <p:pic>
        <p:nvPicPr>
          <p:cNvPr id="631723080" name="Image 4" descr="preencoded.png"/>
          <p:cNvPicPr>
            <a:picLocks noChangeAspect="1"/>
          </p:cNvPicPr>
          <p:nvPr/>
        </p:nvPicPr>
        <p:blipFill rotWithShape="1">
          <a:blip r:embed="rId7"/>
          <a:stretch/>
        </p:blipFill>
        <p:spPr bwMode="auto">
          <a:xfrm>
            <a:off x="533400" y="4505325"/>
            <a:ext cx="7048500" cy="514350"/>
          </a:xfrm>
          <a:prstGeom prst="rect">
            <a:avLst/>
          </a:prstGeom>
        </p:spPr>
      </p:pic>
      <p:sp>
        <p:nvSpPr>
          <p:cNvPr id="957608786" name="Text 13"/>
          <p:cNvSpPr txBox="1"/>
          <p:nvPr/>
        </p:nvSpPr>
        <p:spPr bwMode="auto">
          <a:xfrm>
            <a:off x="714375" y="4686300"/>
            <a:ext cx="73431" cy="162284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50"/>
              </a:lnSpc>
              <a:buNone/>
              <a:defRPr/>
            </a:pPr>
            <a:r>
              <a:rPr lang="de-DE" sz="900" b="1" spc="72">
                <a:solidFill>
                  <a:srgbClr val="67F4E2"/>
                </a:solidFill>
                <a:latin typeface="Inter"/>
                <a:ea typeface="Inter"/>
                <a:cs typeface="Inter"/>
              </a:rPr>
              <a:t>5</a:t>
            </a:r>
            <a:endParaRPr lang="en-US" sz="900"/>
          </a:p>
        </p:txBody>
      </p:sp>
      <p:sp>
        <p:nvSpPr>
          <p:cNvPr id="1674017214" name="Text 14"/>
          <p:cNvSpPr txBox="1"/>
          <p:nvPr/>
        </p:nvSpPr>
        <p:spPr bwMode="auto">
          <a:xfrm>
            <a:off x="1666875" y="4667250"/>
            <a:ext cx="4972050" cy="209550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00"/>
              </a:lnSpc>
              <a:buNone/>
              <a:defRPr/>
            </a:pPr>
            <a:r>
              <a:rPr lang="en-US" sz="1200" b="1">
                <a:solidFill>
                  <a:srgbClr val="EAEEF2"/>
                </a:solidFill>
                <a:latin typeface="Inter"/>
                <a:ea typeface="Inter"/>
                <a:cs typeface="Inter"/>
              </a:rPr>
              <a:t>5. Learnings &amp; Improvements</a:t>
            </a:r>
            <a:endParaRPr lang="en-US" sz="1200"/>
          </a:p>
        </p:txBody>
      </p:sp>
      <p:pic>
        <p:nvPicPr>
          <p:cNvPr id="1280587436" name="Image 5" descr="preencoded.png"/>
          <p:cNvPicPr>
            <a:picLocks noChangeAspect="1"/>
          </p:cNvPicPr>
          <p:nvPr/>
        </p:nvPicPr>
        <p:blipFill rotWithShape="1">
          <a:blip r:embed="rId8"/>
          <a:stretch/>
        </p:blipFill>
        <p:spPr bwMode="auto">
          <a:xfrm>
            <a:off x="533400" y="5153024"/>
            <a:ext cx="7048500" cy="514350"/>
          </a:xfrm>
          <a:prstGeom prst="rect">
            <a:avLst/>
          </a:prstGeom>
        </p:spPr>
      </p:pic>
      <p:sp>
        <p:nvSpPr>
          <p:cNvPr id="1890351242" name="Text 16"/>
          <p:cNvSpPr txBox="1"/>
          <p:nvPr/>
        </p:nvSpPr>
        <p:spPr bwMode="auto">
          <a:xfrm>
            <a:off x="714375" y="5333999"/>
            <a:ext cx="73431" cy="162284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50"/>
              </a:lnSpc>
              <a:buNone/>
              <a:defRPr/>
            </a:pPr>
            <a:r>
              <a:rPr lang="de-DE" sz="900" b="1" spc="72">
                <a:solidFill>
                  <a:srgbClr val="67F4E2"/>
                </a:solidFill>
                <a:latin typeface="Inter"/>
                <a:ea typeface="Inter"/>
                <a:cs typeface="Inter"/>
              </a:rPr>
              <a:t>6</a:t>
            </a:r>
            <a:endParaRPr lang="en-US" sz="900"/>
          </a:p>
        </p:txBody>
      </p:sp>
      <p:sp>
        <p:nvSpPr>
          <p:cNvPr id="347211888" name="Text 17"/>
          <p:cNvSpPr txBox="1"/>
          <p:nvPr/>
        </p:nvSpPr>
        <p:spPr bwMode="auto">
          <a:xfrm>
            <a:off x="1666874" y="5314949"/>
            <a:ext cx="508813" cy="209908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00"/>
              </a:lnSpc>
              <a:buNone/>
              <a:defRPr/>
            </a:pPr>
            <a:r>
              <a:rPr lang="en-US" sz="1200" b="1">
                <a:solidFill>
                  <a:srgbClr val="EAEEF2"/>
                </a:solidFill>
                <a:latin typeface="Inter"/>
                <a:ea typeface="Inter"/>
                <a:cs typeface="Inter"/>
              </a:rPr>
              <a:t>6. Q&amp;A </a:t>
            </a:r>
            <a:endParaRPr lang="en-US" sz="1200"/>
          </a:p>
        </p:txBody>
      </p:sp>
      <p:pic>
        <p:nvPicPr>
          <p:cNvPr id="1371037183" name="Image 6" descr="preencoded.png"/>
          <p:cNvPicPr>
            <a:picLocks noChangeAspect="1"/>
          </p:cNvPicPr>
          <p:nvPr/>
        </p:nvPicPr>
        <p:blipFill rotWithShape="1">
          <a:blip r:embed="rId9"/>
          <a:stretch/>
        </p:blipFill>
        <p:spPr bwMode="auto">
          <a:xfrm>
            <a:off x="8039100" y="1257300"/>
            <a:ext cx="3619500" cy="5067300"/>
          </a:xfrm>
          <a:prstGeom prst="rect">
            <a:avLst/>
          </a:prstGeom>
        </p:spPr>
      </p:pic>
      <p:sp>
        <p:nvSpPr>
          <p:cNvPr id="1928805483" name="Text 19"/>
          <p:cNvSpPr txBox="1"/>
          <p:nvPr/>
        </p:nvSpPr>
        <p:spPr bwMode="auto">
          <a:xfrm>
            <a:off x="8277224" y="2581423"/>
            <a:ext cx="1753882" cy="343620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00"/>
              </a:lnSpc>
              <a:buNone/>
              <a:defRPr/>
            </a:pPr>
            <a:r>
              <a:rPr lang="en-US" sz="2700" b="1">
                <a:solidFill>
                  <a:srgbClr val="67F4E2"/>
                </a:solidFill>
                <a:latin typeface="Space Grotesk"/>
                <a:ea typeface="Space Grotesk"/>
                <a:cs typeface="Space Grotesk"/>
              </a:rPr>
              <a:t>1</a:t>
            </a:r>
            <a:r>
              <a:rPr lang="de-DE" sz="2700" b="1">
                <a:solidFill>
                  <a:srgbClr val="67F4E2"/>
                </a:solidFill>
                <a:latin typeface="Space Grotesk"/>
                <a:ea typeface="Space Grotesk"/>
                <a:cs typeface="Space Grotesk"/>
              </a:rPr>
              <a:t>6</a:t>
            </a:r>
            <a:r>
              <a:rPr lang="en-US" sz="2700" b="1">
                <a:solidFill>
                  <a:srgbClr val="67F4E2"/>
                </a:solidFill>
                <a:latin typeface="Space Grotesk"/>
                <a:ea typeface="Space Grotesk"/>
                <a:cs typeface="Space Grotesk"/>
              </a:rPr>
              <a:t> widgets</a:t>
            </a:r>
            <a:endParaRPr lang="en-US" sz="2700"/>
          </a:p>
        </p:txBody>
      </p:sp>
      <p:sp>
        <p:nvSpPr>
          <p:cNvPr id="1193191485" name="Text 20"/>
          <p:cNvSpPr txBox="1"/>
          <p:nvPr/>
        </p:nvSpPr>
        <p:spPr bwMode="auto">
          <a:xfrm>
            <a:off x="8277225" y="2981474"/>
            <a:ext cx="3143250" cy="297061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70"/>
              </a:lnSpc>
              <a:buNone/>
              <a:defRPr/>
            </a:pPr>
            <a:r>
              <a:rPr lang="en-US" sz="900">
                <a:solidFill>
                  <a:srgbClr val="EAEEF2">
                    <a:alpha val="70000"/>
                  </a:srgbClr>
                </a:solidFill>
                <a:latin typeface="Inter"/>
                <a:ea typeface="Inter"/>
                <a:cs typeface="Inter"/>
              </a:rPr>
              <a:t> • Period 60s • SingleValue + Golden Signals + Correlation</a:t>
            </a:r>
            <a:endParaRPr lang="en-US" sz="900"/>
          </a:p>
        </p:txBody>
      </p:sp>
      <p:sp>
        <p:nvSpPr>
          <p:cNvPr id="586170989" name="Shape 21"/>
          <p:cNvSpPr/>
          <p:nvPr/>
        </p:nvSpPr>
        <p:spPr bwMode="auto">
          <a:xfrm>
            <a:off x="8277225" y="3448050"/>
            <a:ext cx="3143250" cy="9525"/>
          </a:xfrm>
          <a:prstGeom prst="rect">
            <a:avLst/>
          </a:prstGeom>
          <a:solidFill>
            <a:srgbClr val="E6EFEF">
              <a:alpha val="12000"/>
            </a:srgbClr>
          </a:solidFill>
          <a:ln/>
        </p:spPr>
      </p:sp>
      <p:sp>
        <p:nvSpPr>
          <p:cNvPr id="597226851" name="Text 22"/>
          <p:cNvSpPr txBox="1"/>
          <p:nvPr/>
        </p:nvSpPr>
        <p:spPr bwMode="auto">
          <a:xfrm>
            <a:off x="8277224" y="3630960"/>
            <a:ext cx="2878179" cy="347939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00"/>
              </a:lnSpc>
              <a:buNone/>
              <a:defRPr/>
            </a:pPr>
            <a:r>
              <a:rPr lang="en-US" sz="2700" b="1">
                <a:solidFill>
                  <a:srgbClr val="67F4E2"/>
                </a:solidFill>
                <a:latin typeface="Space Grotesk"/>
                <a:ea typeface="Space Grotesk"/>
                <a:cs typeface="Space Grotesk"/>
              </a:rPr>
              <a:t>5 </a:t>
            </a:r>
            <a:r>
              <a:rPr lang="de-DE" sz="2700" b="1">
                <a:solidFill>
                  <a:srgbClr val="67F4E2"/>
                </a:solidFill>
                <a:latin typeface="Space Grotesk"/>
                <a:ea typeface="Space Grotesk"/>
                <a:cs typeface="Space Grotesk"/>
              </a:rPr>
              <a:t>Custom metrics</a:t>
            </a:r>
            <a:endParaRPr lang="en-US" sz="2700"/>
          </a:p>
        </p:txBody>
      </p:sp>
      <p:sp>
        <p:nvSpPr>
          <p:cNvPr id="1865411080" name="Text 23"/>
          <p:cNvSpPr txBox="1"/>
          <p:nvPr/>
        </p:nvSpPr>
        <p:spPr bwMode="auto">
          <a:xfrm>
            <a:off x="8277225" y="4031010"/>
            <a:ext cx="3143250" cy="297061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70"/>
              </a:lnSpc>
              <a:buNone/>
              <a:defRPr/>
            </a:pPr>
            <a:r>
              <a:rPr lang="en-US" sz="900">
                <a:solidFill>
                  <a:srgbClr val="EAEEF2">
                    <a:alpha val="70000"/>
                  </a:srgbClr>
                </a:solidFill>
                <a:latin typeface="Inter"/>
                <a:ea typeface="Inter"/>
                <a:cs typeface="Inter"/>
              </a:rPr>
              <a:t>request_count • api_latency • error_count • orders_per_minute • order_value</a:t>
            </a:r>
            <a:endParaRPr lang="en-US" sz="900"/>
          </a:p>
        </p:txBody>
      </p:sp>
      <p:sp>
        <p:nvSpPr>
          <p:cNvPr id="295484740" name="Shape 24"/>
          <p:cNvSpPr/>
          <p:nvPr/>
        </p:nvSpPr>
        <p:spPr bwMode="auto">
          <a:xfrm>
            <a:off x="8277225" y="4495800"/>
            <a:ext cx="3143250" cy="9525"/>
          </a:xfrm>
          <a:prstGeom prst="rect">
            <a:avLst/>
          </a:prstGeom>
          <a:solidFill>
            <a:srgbClr val="E6EFEF">
              <a:alpha val="12000"/>
            </a:srgbClr>
          </a:solidFill>
          <a:ln/>
        </p:spPr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fast" p14:dur="500" advClick="1">
        <p:randomBar dir="horz"/>
      </p:transition>
    </mc:Choice>
    <mc:Fallback>
      <p:transition spd="fast" advClick="1">
        <p:randomBar dir="horz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31557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96837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0363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73775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26430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24346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50350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59627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85590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04906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65198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10803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17230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76087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740172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05874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0351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72118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1037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88054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31914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61709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72268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654110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54847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3">
    <p:bg>
      <p:bgPr shadeToTitle="0">
        <a:solidFill>
          <a:srgbClr val="18162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603227756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flipH="0" flipV="0">
            <a:off x="342254" y="2052960"/>
            <a:ext cx="11507491" cy="4805038"/>
          </a:xfrm>
          <a:prstGeom prst="rect">
            <a:avLst/>
          </a:prstGeom>
        </p:spPr>
      </p:pic>
      <p:sp>
        <p:nvSpPr>
          <p:cNvPr id="1029824324" name="Text 0"/>
          <p:cNvSpPr txBox="1"/>
          <p:nvPr/>
        </p:nvSpPr>
        <p:spPr bwMode="auto">
          <a:xfrm>
            <a:off x="255972" y="24783"/>
            <a:ext cx="1536819" cy="870000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600"/>
              </a:lnSpc>
              <a:buNone/>
              <a:defRPr/>
            </a:pPr>
            <a:r>
              <a:rPr lang="en-US" sz="2200" b="1" spc="-72">
                <a:solidFill>
                  <a:srgbClr val="EAEEF2"/>
                </a:solidFill>
                <a:latin typeface="Space Grotesk"/>
                <a:ea typeface="Space Grotesk"/>
                <a:cs typeface="Space Grotesk"/>
              </a:rPr>
              <a:t>Architecture</a:t>
            </a:r>
            <a:endParaRPr sz="2200"/>
          </a:p>
          <a:p>
            <a:pPr marL="0" indent="0" algn="l">
              <a:lnSpc>
                <a:spcPts val="3600"/>
              </a:lnSpc>
              <a:buNone/>
              <a:defRPr/>
            </a:pPr>
            <a:endParaRPr lang="en-US" sz="3600"/>
          </a:p>
        </p:txBody>
      </p:sp>
      <p:pic>
        <p:nvPicPr>
          <p:cNvPr id="612340166" name="Image 0" descr="preencoded.png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 flipH="0" flipV="0">
            <a:off x="1397329" y="841826"/>
            <a:ext cx="3357800" cy="1111550"/>
          </a:xfrm>
          <a:prstGeom prst="rect">
            <a:avLst/>
          </a:prstGeom>
        </p:spPr>
      </p:pic>
      <p:sp>
        <p:nvSpPr>
          <p:cNvPr id="338298132" name="Text 1"/>
          <p:cNvSpPr txBox="1"/>
          <p:nvPr/>
        </p:nvSpPr>
        <p:spPr bwMode="auto">
          <a:xfrm flipH="0" flipV="0">
            <a:off x="1465962" y="957513"/>
            <a:ext cx="3108192" cy="125610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990"/>
              </a:lnSpc>
              <a:spcAft>
                <a:spcPts val="600"/>
              </a:spcAft>
              <a:buNone/>
              <a:defRPr/>
            </a:pPr>
            <a:r>
              <a:rPr lang="en-US" sz="850" b="1" spc="99">
                <a:solidFill>
                  <a:srgbClr val="67F4E2"/>
                </a:solidFill>
                <a:latin typeface="Space Grotesk"/>
                <a:ea typeface="Space Grotesk"/>
                <a:cs typeface="Space Grotesk"/>
              </a:rPr>
              <a:t>INSTANCE</a:t>
            </a:r>
            <a:endParaRPr lang="en-US" sz="850"/>
          </a:p>
        </p:txBody>
      </p:sp>
      <p:sp>
        <p:nvSpPr>
          <p:cNvPr id="1739735229" name="Text 2"/>
          <p:cNvSpPr txBox="1"/>
          <p:nvPr/>
        </p:nvSpPr>
        <p:spPr bwMode="auto">
          <a:xfrm flipH="0" flipV="0">
            <a:off x="1465962" y="1168850"/>
            <a:ext cx="3108192" cy="377128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>
              <a:buNone/>
              <a:defRPr/>
            </a:pPr>
            <a:r>
              <a:rPr lang="en-US" sz="1050" b="1">
                <a:solidFill>
                  <a:srgbClr val="EAEEF2"/>
                </a:solidFill>
                <a:latin typeface="Inter"/>
                <a:ea typeface="Inter"/>
                <a:cs typeface="Inter"/>
              </a:rPr>
              <a:t>i-01b</a:t>
            </a:r>
            <a:r>
              <a:rPr lang="de-DE" sz="1050" b="1">
                <a:solidFill>
                  <a:srgbClr val="EAEEF2"/>
                </a:solidFill>
                <a:latin typeface="Inter"/>
                <a:ea typeface="Inter"/>
                <a:cs typeface="Inter"/>
              </a:rPr>
              <a:t>xxx</a:t>
            </a:r>
            <a:r>
              <a:rPr lang="en-US" sz="1050">
                <a:solidFill>
                  <a:srgbClr val="EAEFF2">
                    <a:alpha val="85000"/>
                  </a:srgbClr>
                </a:solidFill>
                <a:latin typeface="Inter"/>
                <a:ea typeface="Inter"/>
                <a:cs typeface="Inter"/>
              </a:rPr>
              <a:t>  myapp.service • Flask + Gunicorn 2 sync workers</a:t>
            </a:r>
            <a:r>
              <a:rPr lang="de-DE" sz="1050">
                <a:solidFill>
                  <a:schemeClr val="bg1"/>
                </a:solidFill>
              </a:rPr>
              <a:t>. Systemd service</a:t>
            </a:r>
            <a:endParaRPr lang="en-US" sz="1050"/>
          </a:p>
        </p:txBody>
      </p:sp>
      <p:pic>
        <p:nvPicPr>
          <p:cNvPr id="1113387993" name="Image 1" descr="preencoded.png"/>
          <p:cNvPicPr>
            <a:picLocks noChangeAspect="1"/>
          </p:cNvPicPr>
          <p:nvPr/>
        </p:nvPicPr>
        <p:blipFill rotWithShape="1">
          <a:blip r:embed="rId5"/>
          <a:stretch/>
        </p:blipFill>
        <p:spPr bwMode="auto">
          <a:xfrm flipH="0" flipV="0">
            <a:off x="8268276" y="884315"/>
            <a:ext cx="3168843" cy="1069061"/>
          </a:xfrm>
          <a:prstGeom prst="rect">
            <a:avLst/>
          </a:prstGeom>
        </p:spPr>
      </p:pic>
      <p:sp>
        <p:nvSpPr>
          <p:cNvPr id="1548801272" name="Text 3"/>
          <p:cNvSpPr txBox="1"/>
          <p:nvPr/>
        </p:nvSpPr>
        <p:spPr bwMode="auto">
          <a:xfrm flipH="0" flipV="0">
            <a:off x="8322863" y="1046240"/>
            <a:ext cx="2933282" cy="125610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990"/>
              </a:lnSpc>
              <a:spcAft>
                <a:spcPts val="600"/>
              </a:spcAft>
              <a:buNone/>
              <a:defRPr/>
            </a:pPr>
            <a:r>
              <a:rPr lang="en-US" sz="850" b="1" spc="99">
                <a:solidFill>
                  <a:srgbClr val="67F4E2"/>
                </a:solidFill>
                <a:latin typeface="Space Grotesk"/>
                <a:ea typeface="Space Grotesk"/>
                <a:cs typeface="Space Grotesk"/>
              </a:rPr>
              <a:t>LOGGING PIPELINE</a:t>
            </a:r>
            <a:endParaRPr lang="en-US" sz="850"/>
          </a:p>
        </p:txBody>
      </p:sp>
      <p:sp>
        <p:nvSpPr>
          <p:cNvPr id="1794295737" name="Text 4"/>
          <p:cNvSpPr txBox="1"/>
          <p:nvPr/>
        </p:nvSpPr>
        <p:spPr bwMode="auto">
          <a:xfrm flipH="0" flipV="0">
            <a:off x="8322863" y="1257576"/>
            <a:ext cx="2933282" cy="377128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>
              <a:buNone/>
              <a:defRPr/>
            </a:pPr>
            <a:r>
              <a:rPr lang="en-US" sz="1050">
                <a:solidFill>
                  <a:srgbClr val="EAEFF2">
                    <a:alpha val="85000"/>
                  </a:srgbClr>
                </a:solidFill>
                <a:latin typeface="Inter"/>
                <a:ea typeface="Inter"/>
                <a:cs typeface="Inter"/>
              </a:rPr>
              <a:t>systemd StandardOutput → </a:t>
            </a:r>
            <a:r>
              <a:rPr lang="en-US" sz="1050" b="1">
                <a:solidFill>
                  <a:srgbClr val="EAEEF2"/>
                </a:solidFill>
                <a:latin typeface="Inter"/>
                <a:ea typeface="Inter"/>
                <a:cs typeface="Inter"/>
              </a:rPr>
              <a:t>app.log JSON only</a:t>
            </a:r>
            <a:r>
              <a:rPr lang="en-US" sz="1050">
                <a:solidFill>
                  <a:srgbClr val="EAEFF2">
                    <a:alpha val="85000"/>
                  </a:srgbClr>
                </a:solidFill>
                <a:latin typeface="Inter"/>
                <a:ea typeface="Inter"/>
                <a:cs typeface="Inter"/>
              </a:rPr>
              <a:t>  • gunicorn-error.log • CWAgent → </a:t>
            </a:r>
            <a:r>
              <a:rPr lang="en-US" sz="1050" b="1">
                <a:solidFill>
                  <a:srgbClr val="EAEEF2"/>
                </a:solidFill>
                <a:latin typeface="Inter"/>
                <a:ea typeface="Inter"/>
                <a:cs typeface="Inter"/>
              </a:rPr>
              <a:t>proj2-logs</a:t>
            </a:r>
            <a:r>
              <a:rPr lang="en-US" sz="1050">
                <a:solidFill>
                  <a:srgbClr val="EAEFF2">
                    <a:alpha val="85000"/>
                  </a:srgbClr>
                </a:solidFill>
                <a:latin typeface="Inter"/>
                <a:ea typeface="Inter"/>
                <a:cs typeface="Inter"/>
              </a:rPr>
              <a:t> log group</a:t>
            </a:r>
            <a:endParaRPr lang="en-US" sz="1050"/>
          </a:p>
        </p:txBody>
      </p:sp>
      <p:pic>
        <p:nvPicPr>
          <p:cNvPr id="1531479373" name="Image 2" descr="preencoded.png"/>
          <p:cNvPicPr>
            <a:picLocks noChangeAspect="1"/>
          </p:cNvPicPr>
          <p:nvPr/>
        </p:nvPicPr>
        <p:blipFill rotWithShape="1">
          <a:blip r:embed="rId6"/>
          <a:stretch/>
        </p:blipFill>
        <p:spPr bwMode="auto">
          <a:xfrm flipH="0" flipV="0">
            <a:off x="4939150" y="871735"/>
            <a:ext cx="3168843" cy="1081641"/>
          </a:xfrm>
          <a:prstGeom prst="rect">
            <a:avLst/>
          </a:prstGeom>
        </p:spPr>
      </p:pic>
      <p:sp>
        <p:nvSpPr>
          <p:cNvPr id="213026106" name="Text 5"/>
          <p:cNvSpPr txBox="1"/>
          <p:nvPr/>
        </p:nvSpPr>
        <p:spPr bwMode="auto">
          <a:xfrm flipH="0" flipV="0">
            <a:off x="4993736" y="1033660"/>
            <a:ext cx="2933282" cy="125610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990"/>
              </a:lnSpc>
              <a:spcAft>
                <a:spcPts val="600"/>
              </a:spcAft>
              <a:buNone/>
              <a:defRPr/>
            </a:pPr>
            <a:r>
              <a:rPr lang="en-US" sz="850" b="1" spc="99">
                <a:solidFill>
                  <a:srgbClr val="67F4E2"/>
                </a:solidFill>
                <a:latin typeface="Space Grotesk"/>
                <a:ea typeface="Space Grotesk"/>
                <a:cs typeface="Space Grotesk"/>
              </a:rPr>
              <a:t>METRICS</a:t>
            </a:r>
            <a:endParaRPr lang="en-US" sz="850"/>
          </a:p>
        </p:txBody>
      </p:sp>
      <p:sp>
        <p:nvSpPr>
          <p:cNvPr id="777751175" name="Text 6"/>
          <p:cNvSpPr txBox="1"/>
          <p:nvPr/>
        </p:nvSpPr>
        <p:spPr bwMode="auto">
          <a:xfrm flipH="0" flipV="0">
            <a:off x="4993736" y="1244996"/>
            <a:ext cx="2933282" cy="377128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>
              <a:buNone/>
              <a:defRPr/>
            </a:pPr>
            <a:r>
              <a:rPr lang="en-US" sz="1050">
                <a:solidFill>
                  <a:srgbClr val="EAEFF2">
                    <a:alpha val="85000"/>
                  </a:srgbClr>
                </a:solidFill>
                <a:latin typeface="Inter"/>
                <a:ea typeface="Inter"/>
                <a:cs typeface="Inter"/>
              </a:rPr>
              <a:t>Namespaces: </a:t>
            </a:r>
            <a:r>
              <a:rPr lang="en-US" sz="1050" b="1">
                <a:solidFill>
                  <a:srgbClr val="EAEEF2"/>
                </a:solidFill>
                <a:latin typeface="Inter"/>
                <a:ea typeface="Inter"/>
                <a:cs typeface="Inter"/>
              </a:rPr>
              <a:t>Proj2/MyApp</a:t>
            </a:r>
            <a:r>
              <a:rPr lang="en-US" sz="1050">
                <a:solidFill>
                  <a:srgbClr val="EAEFF2">
                    <a:alpha val="85000"/>
                  </a:srgbClr>
                </a:solidFill>
                <a:latin typeface="Inter"/>
                <a:ea typeface="Inter"/>
                <a:cs typeface="Inter"/>
              </a:rPr>
              <a:t> (custom) + CWAgent (mem/disk) + AWS/EC2 (CPU/Network) • boto3 put_metric_data • period 60s</a:t>
            </a:r>
            <a:endParaRPr lang="en-US" sz="105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23401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8298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39735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14793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026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77511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33879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488012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42957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32277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3">
    <p:bg>
      <p:bgPr shadeToTitle="0">
        <a:solidFill>
          <a:srgbClr val="18162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815547082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flipH="0" flipV="0">
            <a:off x="413515" y="745566"/>
            <a:ext cx="2949677" cy="6112433"/>
          </a:xfrm>
          <a:prstGeom prst="rect">
            <a:avLst/>
          </a:prstGeom>
        </p:spPr>
      </p:pic>
      <p:sp>
        <p:nvSpPr>
          <p:cNvPr id="1549324895" name="TextBox 1"/>
          <p:cNvSpPr txBox="1"/>
          <p:nvPr/>
        </p:nvSpPr>
        <p:spPr bwMode="auto">
          <a:xfrm>
            <a:off x="457200" y="44165"/>
            <a:ext cx="10989718" cy="518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EAEEF2"/>
                </a:solidFill>
                <a:latin typeface="Space Grotesk"/>
              </a:defRPr>
            </a:pPr>
            <a:r>
              <a:rPr/>
              <a:t>Project Highlights</a:t>
            </a:r>
            <a:r>
              <a:rPr sz="1200">
                <a:solidFill>
                  <a:srgbClr val="67F4E2"/>
                </a:solidFill>
              </a:rPr>
              <a:t> </a:t>
            </a:r>
            <a:endParaRPr/>
          </a:p>
        </p:txBody>
      </p:sp>
      <p:sp>
        <p:nvSpPr>
          <p:cNvPr id="1019842301" name="Rectangle 2"/>
          <p:cNvSpPr/>
          <p:nvPr/>
        </p:nvSpPr>
        <p:spPr bwMode="auto">
          <a:xfrm flipH="0" flipV="0">
            <a:off x="4202466" y="128356"/>
            <a:ext cx="3474720" cy="1134455"/>
          </a:xfrm>
          <a:prstGeom prst="rect">
            <a:avLst/>
          </a:prstGeom>
          <a:solidFill>
            <a:srgbClr val="232130"/>
          </a:solidFill>
          <a:ln w="12700">
            <a:solidFill>
              <a:srgbClr val="3C3C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900" b="1">
                <a:solidFill>
                  <a:srgbClr val="67F4E2"/>
                </a:solidFill>
                <a:latin typeface="JetBrains Mono"/>
              </a:defRPr>
            </a:pPr>
            <a:endParaRPr/>
          </a:p>
          <a:p>
            <a:pPr algn="ctr">
              <a:defRPr sz="900" b="1">
                <a:solidFill>
                  <a:srgbClr val="67F4E2"/>
                </a:solidFill>
                <a:latin typeface="JetBrains Mono"/>
              </a:defRPr>
            </a:pPr>
            <a:r>
              <a:rPr lang="en-US" sz="1100" b="1" i="0" u="none" strike="noStrike" cap="none" spc="0">
                <a:solidFill>
                  <a:srgbClr val="67F4E2"/>
                </a:solidFill>
                <a:latin typeface="+mn-lt"/>
                <a:ea typeface="+mn-ea"/>
                <a:cs typeface="+mn-cs"/>
              </a:rPr>
              <a:t>100% IaC • Terraform + Ansible</a:t>
            </a:r>
            <a:endParaRPr sz="1100" b="1"/>
          </a:p>
          <a:p>
            <a:pPr algn="ctr">
              <a:spcBef>
                <a:spcPts val="398"/>
              </a:spcBef>
              <a:defRPr sz="1200" b="1">
                <a:solidFill>
                  <a:srgbClr val="EAEEF2"/>
                </a:solidFill>
              </a:defRPr>
            </a:pPr>
            <a:r>
              <a:rPr/>
              <a:t>Terraform</a:t>
            </a:r>
            <a:r>
              <a:rPr lang="de-DE"/>
              <a:t> modular</a:t>
            </a:r>
            <a:r>
              <a:rPr/>
              <a:t> + Ansible full stack</a:t>
            </a:r>
            <a:endParaRPr/>
          </a:p>
          <a:p>
            <a:pPr algn="ctr">
              <a:spcBef>
                <a:spcPts val="398"/>
              </a:spcBef>
              <a:defRPr sz="900">
                <a:solidFill>
                  <a:srgbClr val="B4B4BE"/>
                </a:solidFill>
              </a:defRPr>
            </a:pPr>
            <a:r>
              <a:rPr/>
              <a:t>VPC, EC2 i-01b04296, SG, IAM-role, CWAgent</a:t>
            </a:r>
            <a:r>
              <a:rPr lang="de-DE"/>
              <a:t> configs</a:t>
            </a:r>
            <a:r>
              <a:rPr/>
              <a:t>, myapp.service. Reproducible.</a:t>
            </a:r>
            <a:endParaRPr/>
          </a:p>
        </p:txBody>
      </p:sp>
      <p:sp>
        <p:nvSpPr>
          <p:cNvPr id="46437132" name="Rectangle 3"/>
          <p:cNvSpPr/>
          <p:nvPr/>
        </p:nvSpPr>
        <p:spPr bwMode="auto">
          <a:xfrm flipH="0" flipV="0">
            <a:off x="4206240" y="1376778"/>
            <a:ext cx="3474720" cy="1268026"/>
          </a:xfrm>
          <a:prstGeom prst="rect">
            <a:avLst/>
          </a:prstGeom>
          <a:solidFill>
            <a:srgbClr val="232130"/>
          </a:solidFill>
          <a:ln w="12700">
            <a:solidFill>
              <a:srgbClr val="3C3C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900" b="1">
                <a:solidFill>
                  <a:srgbClr val="67F4E2"/>
                </a:solidFill>
                <a:latin typeface="JetBrains Mono"/>
              </a:defRPr>
            </a:pPr>
            <a:r>
              <a:rPr/>
              <a:t>5 Custom Metrics [Business]</a:t>
            </a:r>
            <a:endParaRPr/>
          </a:p>
          <a:p>
            <a:pPr algn="ctr">
              <a:spcBef>
                <a:spcPts val="398"/>
              </a:spcBef>
              <a:defRPr sz="1200" b="1">
                <a:solidFill>
                  <a:srgbClr val="EAEEF2"/>
                </a:solidFill>
              </a:defRPr>
            </a:pPr>
            <a:r>
              <a:rPr/>
              <a:t>orders_per_minute + order_value</a:t>
            </a:r>
            <a:endParaRPr/>
          </a:p>
          <a:p>
            <a:pPr algn="ctr">
              <a:spcBef>
                <a:spcPts val="398"/>
              </a:spcBef>
              <a:defRPr sz="900">
                <a:solidFill>
                  <a:srgbClr val="B4B4BE"/>
                </a:solidFill>
              </a:defRPr>
            </a:pPr>
            <a:r>
              <a:rPr/>
              <a:t>request_count api_latency error_count + biz orders_per_minute order_value via boto3.</a:t>
            </a:r>
            <a:endParaRPr/>
          </a:p>
        </p:txBody>
      </p:sp>
      <p:sp>
        <p:nvSpPr>
          <p:cNvPr id="577491431" name="Rectangle 4"/>
          <p:cNvSpPr/>
          <p:nvPr/>
        </p:nvSpPr>
        <p:spPr bwMode="auto">
          <a:xfrm flipH="0" flipV="0">
            <a:off x="8556369" y="683210"/>
            <a:ext cx="3474720" cy="1110818"/>
          </a:xfrm>
          <a:prstGeom prst="rect">
            <a:avLst/>
          </a:prstGeom>
          <a:solidFill>
            <a:srgbClr val="232130"/>
          </a:solidFill>
          <a:ln w="12700">
            <a:solidFill>
              <a:srgbClr val="3C3C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900" b="1">
                <a:solidFill>
                  <a:srgbClr val="67F4E2"/>
                </a:solidFill>
                <a:latin typeface="JetBrains Mono"/>
              </a:defRPr>
            </a:pPr>
            <a:r>
              <a:rPr/>
              <a:t>Memory Anomaly</a:t>
            </a:r>
            <a:r>
              <a:rPr lang="de-DE"/>
              <a:t> alarm and dashboard</a:t>
            </a:r>
            <a:r>
              <a:rPr/>
              <a:t> [USE]</a:t>
            </a:r>
            <a:endParaRPr/>
          </a:p>
          <a:p>
            <a:pPr algn="ctr">
              <a:spcBef>
                <a:spcPts val="398"/>
              </a:spcBef>
              <a:defRPr sz="1200" b="1">
                <a:solidFill>
                  <a:srgbClr val="EAEEF2"/>
                </a:solidFill>
              </a:defRPr>
            </a:pPr>
            <a:r>
              <a:rPr/>
              <a:t>mem_used_percent detection</a:t>
            </a:r>
            <a:endParaRPr/>
          </a:p>
          <a:p>
            <a:pPr algn="ctr">
              <a:spcBef>
                <a:spcPts val="398"/>
              </a:spcBef>
              <a:defRPr sz="900">
                <a:solidFill>
                  <a:srgbClr val="B4B4BE"/>
                </a:solidFill>
              </a:defRPr>
            </a:pPr>
            <a:r>
              <a:rPr/>
              <a:t>Infra saturation signal from CWAgent. SingleValue widget + anomaly band vs latency.</a:t>
            </a:r>
            <a:endParaRPr/>
          </a:p>
        </p:txBody>
      </p:sp>
      <p:sp>
        <p:nvSpPr>
          <p:cNvPr id="14511331" name="Rectangle 5"/>
          <p:cNvSpPr/>
          <p:nvPr/>
        </p:nvSpPr>
        <p:spPr bwMode="auto">
          <a:xfrm flipH="0" flipV="0">
            <a:off x="8548825" y="4790241"/>
            <a:ext cx="3474720" cy="1299616"/>
          </a:xfrm>
          <a:prstGeom prst="rect">
            <a:avLst/>
          </a:prstGeom>
          <a:solidFill>
            <a:srgbClr val="232130"/>
          </a:solidFill>
          <a:ln w="12700">
            <a:solidFill>
              <a:srgbClr val="3C3C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900" b="1">
                <a:solidFill>
                  <a:srgbClr val="67F4E2"/>
                </a:solidFill>
                <a:latin typeface="JetBrains Mono"/>
              </a:defRPr>
            </a:pPr>
            <a:r>
              <a:rPr/>
              <a:t>Correlation Dashboard</a:t>
            </a:r>
            <a:endParaRPr/>
          </a:p>
          <a:p>
            <a:pPr algn="ctr">
              <a:spcBef>
                <a:spcPts val="398"/>
              </a:spcBef>
              <a:defRPr sz="1200" b="1">
                <a:solidFill>
                  <a:srgbClr val="EAEEF2"/>
                </a:solidFill>
              </a:defRPr>
            </a:pPr>
            <a:r>
              <a:rPr/>
              <a:t>Latency vs Traffic vs Errors vs CPU</a:t>
            </a:r>
            <a:endParaRPr/>
          </a:p>
          <a:p>
            <a:pPr algn="ctr">
              <a:spcBef>
                <a:spcPts val="398"/>
              </a:spcBef>
              <a:defRPr sz="900">
                <a:solidFill>
                  <a:srgbClr val="B4B4BE"/>
                </a:solidFill>
              </a:defRPr>
            </a:pPr>
            <a:r>
              <a:rPr/>
              <a:t>One view: P95 latency ↔ request_count ↔ error_count ↔ CPU. Golden + USE.</a:t>
            </a:r>
            <a:endParaRPr/>
          </a:p>
        </p:txBody>
      </p:sp>
      <p:sp>
        <p:nvSpPr>
          <p:cNvPr id="1192231185" name="Rectangle 6"/>
          <p:cNvSpPr/>
          <p:nvPr/>
        </p:nvSpPr>
        <p:spPr bwMode="auto">
          <a:xfrm flipH="0" flipV="0">
            <a:off x="4206240" y="2792544"/>
            <a:ext cx="3474720" cy="1194416"/>
          </a:xfrm>
          <a:prstGeom prst="rect">
            <a:avLst/>
          </a:prstGeom>
          <a:solidFill>
            <a:srgbClr val="232130"/>
          </a:solidFill>
          <a:ln w="12700">
            <a:solidFill>
              <a:srgbClr val="3C3C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900" b="1">
                <a:solidFill>
                  <a:srgbClr val="67F4E2"/>
                </a:solidFill>
                <a:latin typeface="JetBrains Mono"/>
              </a:defRPr>
            </a:pPr>
            <a:r>
              <a:rPr lang="de-DE"/>
              <a:t>6 Warn / Critical</a:t>
            </a:r>
            <a:r>
              <a:rPr/>
              <a:t> Alarms</a:t>
            </a:r>
            <a:endParaRPr/>
          </a:p>
          <a:p>
            <a:pPr algn="ctr">
              <a:spcBef>
                <a:spcPts val="398"/>
              </a:spcBef>
              <a:defRPr sz="1200" b="1">
                <a:solidFill>
                  <a:srgbClr val="EAEEF2"/>
                </a:solidFill>
              </a:defRPr>
            </a:pPr>
            <a:r>
              <a:rPr/>
              <a:t>high-error, high-latency, no-traffic, high-cpu</a:t>
            </a:r>
            <a:endParaRPr/>
          </a:p>
          <a:p>
            <a:pPr algn="ctr">
              <a:spcBef>
                <a:spcPts val="398"/>
              </a:spcBef>
              <a:defRPr sz="900">
                <a:solidFill>
                  <a:srgbClr val="B4B4BE"/>
                </a:solidFill>
              </a:defRPr>
            </a:pPr>
            <a:r>
              <a:rPr/>
              <a:t>&gt;5 errors /2x60s, P95 &gt;800ms, no traffic 5m, cpu &gt;85% → SNS proj2-alerts.</a:t>
            </a:r>
            <a:endParaRPr/>
          </a:p>
        </p:txBody>
      </p:sp>
      <p:sp>
        <p:nvSpPr>
          <p:cNvPr id="2038147305" name="Rectangle 7"/>
          <p:cNvSpPr/>
          <p:nvPr/>
        </p:nvSpPr>
        <p:spPr bwMode="auto">
          <a:xfrm flipH="0" flipV="0">
            <a:off x="8556369" y="1914024"/>
            <a:ext cx="3474720" cy="1193158"/>
          </a:xfrm>
          <a:prstGeom prst="rect">
            <a:avLst/>
          </a:prstGeom>
          <a:solidFill>
            <a:srgbClr val="232130"/>
          </a:solidFill>
          <a:ln w="12700">
            <a:solidFill>
              <a:srgbClr val="3C3C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900" b="1">
                <a:solidFill>
                  <a:srgbClr val="67F4E2"/>
                </a:solidFill>
                <a:latin typeface="JetBrains Mono"/>
              </a:defRPr>
            </a:pPr>
            <a:r>
              <a:rPr lang="de-DE"/>
              <a:t>Golden signals</a:t>
            </a:r>
            <a:endParaRPr/>
          </a:p>
          <a:p>
            <a:pPr algn="ctr">
              <a:spcBef>
                <a:spcPts val="398"/>
              </a:spcBef>
              <a:defRPr sz="1200" b="1">
                <a:solidFill>
                  <a:srgbClr val="EAEEF2"/>
                </a:solidFill>
              </a:defRPr>
            </a:pPr>
            <a:r>
              <a:rPr lang="de-DE"/>
              <a:t>Traffic</a:t>
            </a:r>
            <a:r>
              <a:rPr/>
              <a:t>→ </a:t>
            </a:r>
            <a:r>
              <a:rPr lang="de-DE"/>
              <a:t>Error</a:t>
            </a:r>
            <a:r>
              <a:rPr/>
              <a:t>→ </a:t>
            </a:r>
            <a:r>
              <a:rPr lang="de-DE"/>
              <a:t>Latency</a:t>
            </a:r>
            <a:r>
              <a:rPr/>
              <a:t>→ </a:t>
            </a:r>
            <a:r>
              <a:rPr lang="de-DE"/>
              <a:t>Saturation</a:t>
            </a:r>
            <a:endParaRPr/>
          </a:p>
          <a:p>
            <a:pPr algn="ctr">
              <a:spcBef>
                <a:spcPts val="398"/>
              </a:spcBef>
              <a:defRPr sz="900">
                <a:solidFill>
                  <a:srgbClr val="B4B4BE"/>
                </a:solidFill>
              </a:defRPr>
            </a:pPr>
            <a:r>
              <a:rPr/>
              <a:t>EC2 → Gunicorn → Flask → CWAgent → CloudWatch - full traceability</a:t>
            </a:r>
            <a:endParaRPr/>
          </a:p>
        </p:txBody>
      </p:sp>
      <p:sp>
        <p:nvSpPr>
          <p:cNvPr id="1798567717" name="Rectangle 8"/>
          <p:cNvSpPr/>
          <p:nvPr/>
        </p:nvSpPr>
        <p:spPr bwMode="auto">
          <a:xfrm flipH="0" flipV="0">
            <a:off x="4202466" y="5456733"/>
            <a:ext cx="3474720" cy="1266251"/>
          </a:xfrm>
          <a:prstGeom prst="rect">
            <a:avLst/>
          </a:prstGeom>
          <a:solidFill>
            <a:srgbClr val="232130"/>
          </a:solidFill>
          <a:ln w="12700">
            <a:solidFill>
              <a:srgbClr val="3C3C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900" b="1">
                <a:solidFill>
                  <a:srgbClr val="67F4E2"/>
                </a:solidFill>
                <a:latin typeface="JetBrains Mono"/>
              </a:defRPr>
            </a:pPr>
            <a:r>
              <a:rPr/>
              <a:t>Custom Widgets</a:t>
            </a:r>
            <a:endParaRPr/>
          </a:p>
          <a:p>
            <a:pPr algn="ctr">
              <a:spcBef>
                <a:spcPts val="398"/>
              </a:spcBef>
              <a:defRPr sz="1200" b="1">
                <a:solidFill>
                  <a:srgbClr val="EAEEF2"/>
                </a:solidFill>
              </a:defRPr>
            </a:pPr>
            <a:r>
              <a:rPr/>
              <a:t>SingleValue + USE</a:t>
            </a:r>
            <a:endParaRPr/>
          </a:p>
          <a:p>
            <a:pPr algn="ctr">
              <a:spcBef>
                <a:spcPts val="398"/>
              </a:spcBef>
              <a:defRPr sz="900">
                <a:solidFill>
                  <a:srgbClr val="B4B4BE"/>
                </a:solidFill>
              </a:defRPr>
            </a:pPr>
            <a:r>
              <a:rPr/>
              <a:t> Rate, Duration, Errors, Saturation unified.</a:t>
            </a:r>
            <a:endParaRPr/>
          </a:p>
        </p:txBody>
      </p:sp>
      <p:sp>
        <p:nvSpPr>
          <p:cNvPr id="1821483858" name="Rectangle 9"/>
          <p:cNvSpPr/>
          <p:nvPr/>
        </p:nvSpPr>
        <p:spPr bwMode="auto">
          <a:xfrm flipH="0" flipV="0">
            <a:off x="4206240" y="4115835"/>
            <a:ext cx="3474720" cy="1229261"/>
          </a:xfrm>
          <a:prstGeom prst="rect">
            <a:avLst/>
          </a:prstGeom>
          <a:solidFill>
            <a:srgbClr val="232130"/>
          </a:solidFill>
          <a:ln w="12700">
            <a:solidFill>
              <a:srgbClr val="3C3C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900" b="1">
                <a:solidFill>
                  <a:srgbClr val="67F4E2"/>
                </a:solidFill>
                <a:latin typeface="JetBrains Mono"/>
              </a:defRPr>
            </a:pPr>
            <a:r>
              <a:rPr/>
              <a:t>Structured Logging</a:t>
            </a:r>
            <a:endParaRPr/>
          </a:p>
          <a:p>
            <a:pPr algn="ctr">
              <a:spcBef>
                <a:spcPts val="398"/>
              </a:spcBef>
              <a:defRPr sz="1200" b="1">
                <a:solidFill>
                  <a:srgbClr val="EAEEF2"/>
                </a:solidFill>
              </a:defRPr>
            </a:pPr>
            <a:r>
              <a:rPr/>
              <a:t>correlation_id • level • latency_ms</a:t>
            </a:r>
            <a:endParaRPr/>
          </a:p>
          <a:p>
            <a:pPr algn="ctr">
              <a:spcBef>
                <a:spcPts val="398"/>
              </a:spcBef>
              <a:defRPr sz="900">
                <a:solidFill>
                  <a:srgbClr val="B4B4BE"/>
                </a:solidFill>
              </a:defRPr>
            </a:pPr>
            <a:r>
              <a:rPr/>
              <a:t>structlog JSON → 20+ fields. X-Corr-ID 51e9ef29 → filter correlation_id='demo-123'.</a:t>
            </a:r>
            <a:endParaRPr/>
          </a:p>
        </p:txBody>
      </p:sp>
      <p:sp>
        <p:nvSpPr>
          <p:cNvPr id="1021084818" name="Rectangle 9"/>
          <p:cNvSpPr/>
          <p:nvPr/>
        </p:nvSpPr>
        <p:spPr bwMode="auto">
          <a:xfrm flipH="0" flipV="0">
            <a:off x="8556369" y="3452968"/>
            <a:ext cx="3474720" cy="1217054"/>
          </a:xfrm>
          <a:prstGeom prst="rect">
            <a:avLst/>
          </a:prstGeom>
          <a:solidFill>
            <a:srgbClr val="232130"/>
          </a:solidFill>
          <a:ln w="12700">
            <a:solidFill>
              <a:srgbClr val="3C3C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marL="0" marR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EAEEF2"/>
                </a:solidFill>
              </a:defRPr>
            </a:pPr>
            <a:r>
              <a:rPr lang="en-US" sz="900" b="1" i="0" u="none" strike="noStrike" cap="none" spc="0">
                <a:solidFill>
                  <a:srgbClr val="67F4E2"/>
                </a:solidFill>
                <a:latin typeface="JetBrains Mono"/>
                <a:ea typeface="JetBrains Mono"/>
                <a:cs typeface="JetBrains Mono"/>
              </a:rPr>
              <a:t>Composite alarms </a:t>
            </a:r>
            <a:endParaRPr/>
          </a:p>
          <a:p>
            <a:pPr marL="0" marR="0" indent="0" algn="ctr">
              <a:lnSpc>
                <a:spcPct val="100000"/>
              </a:lnSpc>
              <a:spcBef>
                <a:spcPts val="398"/>
              </a:spcBef>
              <a:spcAft>
                <a:spcPts val="0"/>
              </a:spcAft>
              <a:defRPr sz="900">
                <a:solidFill>
                  <a:srgbClr val="B4B4BE"/>
                </a:solidFill>
              </a:defRPr>
            </a:pPr>
            <a:r>
              <a:rPr lang="en-US" sz="1200" b="1" i="0" u="none" strike="noStrike" cap="none" spc="0">
                <a:solidFill>
                  <a:srgbClr val="EAEEF2"/>
                </a:solidFill>
                <a:latin typeface="Calibri"/>
                <a:ea typeface="Calibri"/>
                <a:cs typeface="Calibri"/>
              </a:rPr>
              <a:t>combining multiple conditions</a:t>
            </a:r>
            <a:endParaRPr lang="en-US" sz="1200" b="1" i="0" u="none" strike="noStrike" cap="none" spc="0">
              <a:solidFill>
                <a:srgbClr val="EAEEF2"/>
              </a:solidFill>
              <a:latin typeface="Times New Roman"/>
              <a:cs typeface="Times New Roman"/>
            </a:endParaRPr>
          </a:p>
          <a:p>
            <a:pPr marL="0" marR="0" indent="0" algn="ctr">
              <a:lnSpc>
                <a:spcPct val="100000"/>
              </a:lnSpc>
              <a:spcBef>
                <a:spcPts val="398"/>
              </a:spcBef>
              <a:spcAft>
                <a:spcPts val="0"/>
              </a:spcAft>
              <a:defRPr sz="900">
                <a:solidFill>
                  <a:srgbClr val="B4B4BE"/>
                </a:solidFill>
              </a:defRPr>
            </a:pPr>
            <a:r>
              <a:rPr lang="en-US" sz="900" b="0" i="0" strike="noStrike" cap="none" spc="0">
                <a:latin typeface="Calibri"/>
                <a:ea typeface="Calibri"/>
                <a:cs typeface="Calibri"/>
              </a:rPr>
              <a:t>mem-use-anomaly-</a:t>
            </a:r>
            <a:r>
              <a:rPr lang="en-US" sz="900" b="0" i="0" strike="noStrike" cap="none" spc="0">
                <a:latin typeface="Calibri"/>
                <a:ea typeface="Calibri"/>
                <a:cs typeface="Calibri"/>
              </a:rPr>
              <a:t>detection</a:t>
            </a:r>
            <a:r>
              <a:rPr lang="en-US" sz="900" b="0" i="0" u="none" strike="noStrike" cap="none" spc="0">
                <a:solidFill>
                  <a:schemeClr val="bg1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900" b="0" i="0" u="none" strike="noStrike" cap="none" spc="0">
                <a:solidFill>
                  <a:schemeClr val="bg1"/>
                </a:solidFill>
                <a:latin typeface="Calibri"/>
                <a:ea typeface="Calibri"/>
                <a:cs typeface="Calibri"/>
              </a:rPr>
              <a:t>&amp; </a:t>
            </a:r>
            <a:r>
              <a:rPr lang="en-US" sz="900" b="0" i="0" strike="noStrike" cap="none" spc="0">
                <a:latin typeface="Calibri"/>
                <a:ea typeface="Calibri"/>
                <a:cs typeface="Calibri"/>
              </a:rPr>
              <a:t>high-</a:t>
            </a:r>
            <a:r>
              <a:rPr lang="en-US" sz="900" b="0" i="0" strike="noStrike" cap="none" spc="0">
                <a:latin typeface="Calibri"/>
                <a:ea typeface="Calibri"/>
                <a:cs typeface="Calibri"/>
              </a:rPr>
              <a:t>latency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98423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55470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437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22311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14838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85677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74914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81473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10848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5113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6">
    <p:bg>
      <p:bgPr shadeToTitle="0">
        <a:solidFill>
          <a:srgbClr val="18162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16906254" name="Text 0"/>
          <p:cNvSpPr txBox="1"/>
          <p:nvPr/>
        </p:nvSpPr>
        <p:spPr bwMode="auto">
          <a:xfrm>
            <a:off x="533400" y="1418332"/>
            <a:ext cx="11125200" cy="950416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>
              <a:buNone/>
              <a:defRPr/>
            </a:pPr>
            <a:r>
              <a:rPr lang="en-US" sz="3900" b="1" spc="-77">
                <a:solidFill>
                  <a:srgbClr val="EAEEF2"/>
                </a:solidFill>
                <a:latin typeface="Space Grotesk"/>
                <a:ea typeface="Space Grotesk"/>
                <a:cs typeface="Space Grotesk"/>
              </a:rPr>
              <a:t>Custom Metrics — </a:t>
            </a:r>
            <a:r>
              <a:rPr lang="en-US" sz="3900" b="1" spc="-77">
                <a:solidFill>
                  <a:srgbClr val="67F4E2"/>
                </a:solidFill>
                <a:latin typeface="Inter"/>
                <a:ea typeface="Inter"/>
                <a:cs typeface="Inter"/>
              </a:rPr>
              <a:t>5 signals</a:t>
            </a:r>
            <a:r>
              <a:rPr lang="en-US" sz="3900" b="1" spc="-77">
                <a:solidFill>
                  <a:srgbClr val="EAEEF2"/>
                </a:solidFill>
                <a:latin typeface="Space Grotesk"/>
                <a:ea typeface="Space Grotesk"/>
                <a:cs typeface="Space Grotesk"/>
              </a:rPr>
              <a:t> via boto3 put_metric_data</a:t>
            </a:r>
            <a:endParaRPr lang="en-US" sz="3900"/>
          </a:p>
        </p:txBody>
      </p:sp>
      <p:pic>
        <p:nvPicPr>
          <p:cNvPr id="1543916807" name="Image 0" descr="preencoded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533400" y="2635448"/>
            <a:ext cx="3619500" cy="1167705"/>
          </a:xfrm>
          <a:prstGeom prst="rect">
            <a:avLst/>
          </a:prstGeom>
        </p:spPr>
      </p:pic>
      <p:sp>
        <p:nvSpPr>
          <p:cNvPr id="858479948" name="Text 1"/>
          <p:cNvSpPr txBox="1"/>
          <p:nvPr/>
        </p:nvSpPr>
        <p:spPr bwMode="auto">
          <a:xfrm>
            <a:off x="857250" y="2806898"/>
            <a:ext cx="3114675" cy="204788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688"/>
              </a:lnSpc>
              <a:buNone/>
              <a:defRPr/>
            </a:pPr>
            <a:r>
              <a:rPr lang="en-US" sz="1150" b="1">
                <a:solidFill>
                  <a:srgbClr val="EAEEF2"/>
                </a:solidFill>
                <a:latin typeface="Space Grotesk"/>
                <a:ea typeface="Space Grotesk"/>
                <a:cs typeface="Space Grotesk"/>
              </a:rPr>
              <a:t>request_count</a:t>
            </a:r>
            <a:endParaRPr lang="en-US" sz="1150"/>
          </a:p>
        </p:txBody>
      </p:sp>
      <p:pic>
        <p:nvPicPr>
          <p:cNvPr id="1891449163" name="Image 1" descr="preencoded.png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>
            <a:off x="714375" y="2871192"/>
            <a:ext cx="66675" cy="66675"/>
          </a:xfrm>
          <a:prstGeom prst="rect">
            <a:avLst/>
          </a:prstGeom>
        </p:spPr>
      </p:pic>
      <p:sp>
        <p:nvSpPr>
          <p:cNvPr id="637304334" name="Text 2"/>
          <p:cNvSpPr txBox="1"/>
          <p:nvPr/>
        </p:nvSpPr>
        <p:spPr bwMode="auto">
          <a:xfrm>
            <a:off x="714375" y="2867025"/>
            <a:ext cx="66675" cy="66675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>
              <a:buNone/>
              <a:defRPr/>
            </a:pPr>
            <a:endParaRPr lang="en-US"/>
          </a:p>
        </p:txBody>
      </p:sp>
      <p:sp>
        <p:nvSpPr>
          <p:cNvPr id="1792570015" name="Text 3"/>
          <p:cNvSpPr txBox="1"/>
          <p:nvPr/>
        </p:nvSpPr>
        <p:spPr bwMode="auto">
          <a:xfrm>
            <a:off x="714375" y="3097411"/>
            <a:ext cx="3257550" cy="147638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38"/>
              </a:lnSpc>
              <a:buNone/>
              <a:defRPr/>
            </a:pPr>
            <a:r>
              <a:rPr lang="en-US" sz="850" b="1" spc="66">
                <a:solidFill>
                  <a:srgbClr val="67F4E2"/>
                </a:solidFill>
                <a:latin typeface="Inter"/>
                <a:ea typeface="Inter"/>
                <a:cs typeface="Inter"/>
              </a:rPr>
              <a:t>COUNT • Sum • after_request</a:t>
            </a:r>
            <a:endParaRPr lang="en-US" sz="850"/>
          </a:p>
        </p:txBody>
      </p:sp>
      <p:sp>
        <p:nvSpPr>
          <p:cNvPr id="1240464779" name="Text 4"/>
          <p:cNvSpPr txBox="1"/>
          <p:nvPr/>
        </p:nvSpPr>
        <p:spPr bwMode="auto">
          <a:xfrm>
            <a:off x="714375" y="3321248"/>
            <a:ext cx="3257550" cy="319980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buNone/>
              <a:defRPr/>
            </a:pPr>
            <a:r>
              <a:rPr lang="en-US" sz="900">
                <a:solidFill>
                  <a:srgbClr val="EAEEF2">
                    <a:alpha val="75000"/>
                  </a:srgbClr>
                </a:solidFill>
                <a:latin typeface="Inter"/>
                <a:ea typeface="Inter"/>
                <a:cs typeface="Inter"/>
              </a:rPr>
              <a:t>Every request increments. Fuels Rate &amp; health. Never rely on ALB logs.</a:t>
            </a:r>
            <a:endParaRPr lang="en-US" sz="900"/>
          </a:p>
        </p:txBody>
      </p:sp>
      <p:pic>
        <p:nvPicPr>
          <p:cNvPr id="297698753" name="Image 2" descr="preencoded.png"/>
          <p:cNvPicPr>
            <a:picLocks noChangeAspect="1"/>
          </p:cNvPicPr>
          <p:nvPr/>
        </p:nvPicPr>
        <p:blipFill rotWithShape="1">
          <a:blip r:embed="rId5"/>
          <a:stretch/>
        </p:blipFill>
        <p:spPr bwMode="auto">
          <a:xfrm>
            <a:off x="4286250" y="2635448"/>
            <a:ext cx="3619500" cy="1167705"/>
          </a:xfrm>
          <a:prstGeom prst="rect">
            <a:avLst/>
          </a:prstGeom>
        </p:spPr>
      </p:pic>
      <p:sp>
        <p:nvSpPr>
          <p:cNvPr id="71383884" name="Text 5"/>
          <p:cNvSpPr txBox="1"/>
          <p:nvPr/>
        </p:nvSpPr>
        <p:spPr bwMode="auto">
          <a:xfrm>
            <a:off x="4610100" y="2806898"/>
            <a:ext cx="3114675" cy="204788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688"/>
              </a:lnSpc>
              <a:buNone/>
              <a:defRPr/>
            </a:pPr>
            <a:r>
              <a:rPr lang="en-US" sz="1150" b="1">
                <a:solidFill>
                  <a:srgbClr val="EAEEF2"/>
                </a:solidFill>
                <a:latin typeface="Space Grotesk"/>
                <a:ea typeface="Space Grotesk"/>
                <a:cs typeface="Space Grotesk"/>
              </a:rPr>
              <a:t>api_latency</a:t>
            </a:r>
            <a:endParaRPr lang="en-US" sz="1150"/>
          </a:p>
        </p:txBody>
      </p:sp>
      <p:pic>
        <p:nvPicPr>
          <p:cNvPr id="1403642998" name="Image 3" descr="preencoded.png"/>
          <p:cNvPicPr>
            <a:picLocks noChangeAspect="1"/>
          </p:cNvPicPr>
          <p:nvPr/>
        </p:nvPicPr>
        <p:blipFill rotWithShape="1">
          <a:blip r:embed="rId6"/>
          <a:stretch/>
        </p:blipFill>
        <p:spPr bwMode="auto">
          <a:xfrm>
            <a:off x="4467225" y="2871192"/>
            <a:ext cx="66675" cy="66675"/>
          </a:xfrm>
          <a:prstGeom prst="rect">
            <a:avLst/>
          </a:prstGeom>
        </p:spPr>
      </p:pic>
      <p:sp>
        <p:nvSpPr>
          <p:cNvPr id="1183811142" name="Text 6"/>
          <p:cNvSpPr txBox="1"/>
          <p:nvPr/>
        </p:nvSpPr>
        <p:spPr bwMode="auto">
          <a:xfrm>
            <a:off x="4467225" y="2867025"/>
            <a:ext cx="66675" cy="66675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>
              <a:buNone/>
              <a:defRPr/>
            </a:pPr>
            <a:endParaRPr lang="en-US"/>
          </a:p>
        </p:txBody>
      </p:sp>
      <p:sp>
        <p:nvSpPr>
          <p:cNvPr id="1536834278" name="Text 7"/>
          <p:cNvSpPr txBox="1"/>
          <p:nvPr/>
        </p:nvSpPr>
        <p:spPr bwMode="auto">
          <a:xfrm>
            <a:off x="4467225" y="3097411"/>
            <a:ext cx="3257550" cy="147638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38"/>
              </a:lnSpc>
              <a:buNone/>
              <a:defRPr/>
            </a:pPr>
            <a:r>
              <a:rPr lang="en-US" sz="850" b="1" spc="66">
                <a:solidFill>
                  <a:srgbClr val="67F4E2"/>
                </a:solidFill>
                <a:latin typeface="Inter"/>
                <a:ea typeface="Inter"/>
                <a:cs typeface="Inter"/>
              </a:rPr>
              <a:t>MILLISECONDS • Avg/Max/P95</a:t>
            </a:r>
            <a:endParaRPr lang="en-US" sz="850"/>
          </a:p>
        </p:txBody>
      </p:sp>
      <p:sp>
        <p:nvSpPr>
          <p:cNvPr id="1945789804" name="Text 8"/>
          <p:cNvSpPr txBox="1"/>
          <p:nvPr/>
        </p:nvSpPr>
        <p:spPr bwMode="auto">
          <a:xfrm>
            <a:off x="4467225" y="3321248"/>
            <a:ext cx="3257550" cy="159990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60"/>
              </a:lnSpc>
              <a:buNone/>
              <a:defRPr/>
            </a:pPr>
            <a:r>
              <a:rPr lang="en-US" sz="900">
                <a:solidFill>
                  <a:srgbClr val="EAEEF2">
                    <a:alpha val="75000"/>
                  </a:srgbClr>
                </a:solidFill>
                <a:latin typeface="Inter"/>
                <a:ea typeface="Inter"/>
                <a:cs typeface="Inter"/>
              </a:rPr>
              <a:t>latency_ms = (now - g.start)*1000. Duration golden signal.</a:t>
            </a:r>
            <a:endParaRPr lang="en-US" sz="900"/>
          </a:p>
        </p:txBody>
      </p:sp>
      <p:pic>
        <p:nvPicPr>
          <p:cNvPr id="1206772175" name="Image 4" descr="preencoded.png"/>
          <p:cNvPicPr>
            <a:picLocks noChangeAspect="1"/>
          </p:cNvPicPr>
          <p:nvPr/>
        </p:nvPicPr>
        <p:blipFill rotWithShape="1">
          <a:blip r:embed="rId7"/>
          <a:stretch/>
        </p:blipFill>
        <p:spPr bwMode="auto">
          <a:xfrm>
            <a:off x="8039100" y="2635448"/>
            <a:ext cx="3619500" cy="1167705"/>
          </a:xfrm>
          <a:prstGeom prst="rect">
            <a:avLst/>
          </a:prstGeom>
        </p:spPr>
      </p:pic>
      <p:sp>
        <p:nvSpPr>
          <p:cNvPr id="1433773012" name="Text 9"/>
          <p:cNvSpPr txBox="1"/>
          <p:nvPr/>
        </p:nvSpPr>
        <p:spPr bwMode="auto">
          <a:xfrm>
            <a:off x="8362950" y="2806898"/>
            <a:ext cx="3114675" cy="204788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688"/>
              </a:lnSpc>
              <a:buNone/>
              <a:defRPr/>
            </a:pPr>
            <a:r>
              <a:rPr lang="en-US" sz="1150" b="1">
                <a:solidFill>
                  <a:srgbClr val="EAEEF2"/>
                </a:solidFill>
                <a:latin typeface="Space Grotesk"/>
                <a:ea typeface="Space Grotesk"/>
                <a:cs typeface="Space Grotesk"/>
              </a:rPr>
              <a:t>error_count</a:t>
            </a:r>
            <a:endParaRPr lang="en-US" sz="1150"/>
          </a:p>
        </p:txBody>
      </p:sp>
      <p:pic>
        <p:nvPicPr>
          <p:cNvPr id="492283147" name="Image 5" descr="preencoded.png"/>
          <p:cNvPicPr>
            <a:picLocks noChangeAspect="1"/>
          </p:cNvPicPr>
          <p:nvPr/>
        </p:nvPicPr>
        <p:blipFill rotWithShape="1">
          <a:blip r:embed="rId8"/>
          <a:stretch/>
        </p:blipFill>
        <p:spPr bwMode="auto">
          <a:xfrm>
            <a:off x="8220075" y="2871192"/>
            <a:ext cx="66675" cy="66675"/>
          </a:xfrm>
          <a:prstGeom prst="rect">
            <a:avLst/>
          </a:prstGeom>
        </p:spPr>
      </p:pic>
      <p:sp>
        <p:nvSpPr>
          <p:cNvPr id="735499588" name="Text 10"/>
          <p:cNvSpPr txBox="1"/>
          <p:nvPr/>
        </p:nvSpPr>
        <p:spPr bwMode="auto">
          <a:xfrm>
            <a:off x="8220075" y="2867025"/>
            <a:ext cx="66675" cy="66675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>
              <a:buNone/>
              <a:defRPr/>
            </a:pPr>
            <a:endParaRPr lang="en-US"/>
          </a:p>
        </p:txBody>
      </p:sp>
      <p:sp>
        <p:nvSpPr>
          <p:cNvPr id="1719957357" name="Text 11"/>
          <p:cNvSpPr txBox="1"/>
          <p:nvPr/>
        </p:nvSpPr>
        <p:spPr bwMode="auto">
          <a:xfrm>
            <a:off x="8220075" y="3097411"/>
            <a:ext cx="3257550" cy="147638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38"/>
              </a:lnSpc>
              <a:buNone/>
              <a:defRPr/>
            </a:pPr>
            <a:r>
              <a:rPr lang="en-US" sz="850" b="1" spc="66">
                <a:solidFill>
                  <a:srgbClr val="67F4E2"/>
                </a:solidFill>
                <a:latin typeface="Inter"/>
                <a:ea typeface="Inter"/>
                <a:cs typeface="Inter"/>
              </a:rPr>
              <a:t>COUNT • Sum • if status &gt;=400</a:t>
            </a:r>
            <a:endParaRPr lang="en-US" sz="850"/>
          </a:p>
        </p:txBody>
      </p:sp>
      <p:sp>
        <p:nvSpPr>
          <p:cNvPr id="884114807" name="Text 12"/>
          <p:cNvSpPr txBox="1"/>
          <p:nvPr/>
        </p:nvSpPr>
        <p:spPr bwMode="auto">
          <a:xfrm>
            <a:off x="8220075" y="3321248"/>
            <a:ext cx="3257550" cy="319980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buNone/>
              <a:defRPr/>
            </a:pPr>
            <a:r>
              <a:rPr lang="en-US" sz="900">
                <a:solidFill>
                  <a:srgbClr val="EAEEF2">
                    <a:alpha val="75000"/>
                  </a:srgbClr>
                </a:solidFill>
                <a:latin typeface="Inter"/>
                <a:ea typeface="Inter"/>
                <a:cs typeface="Inter"/>
              </a:rPr>
              <a:t>Errors golden signal. Triggers high-error alarm when &gt;5 in 2x60s.</a:t>
            </a:r>
            <a:endParaRPr lang="en-US" sz="900"/>
          </a:p>
        </p:txBody>
      </p:sp>
      <p:pic>
        <p:nvPicPr>
          <p:cNvPr id="23211872" name="Image 6" descr="preencoded.png"/>
          <p:cNvPicPr>
            <a:picLocks noChangeAspect="1"/>
          </p:cNvPicPr>
          <p:nvPr/>
        </p:nvPicPr>
        <p:blipFill rotWithShape="1">
          <a:blip r:embed="rId9"/>
          <a:stretch/>
        </p:blipFill>
        <p:spPr bwMode="auto">
          <a:xfrm>
            <a:off x="533400" y="4069854"/>
            <a:ext cx="5495925" cy="736253"/>
          </a:xfrm>
          <a:prstGeom prst="rect">
            <a:avLst/>
          </a:prstGeom>
        </p:spPr>
      </p:pic>
      <p:sp>
        <p:nvSpPr>
          <p:cNvPr id="1146773503" name="Text 13"/>
          <p:cNvSpPr txBox="1"/>
          <p:nvPr/>
        </p:nvSpPr>
        <p:spPr bwMode="auto">
          <a:xfrm>
            <a:off x="714375" y="4241304"/>
            <a:ext cx="2353717" cy="204788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688"/>
              </a:lnSpc>
              <a:buNone/>
              <a:defRPr/>
            </a:pPr>
            <a:r>
              <a:rPr lang="en-US" sz="1150" b="1">
                <a:solidFill>
                  <a:srgbClr val="EAEEF2"/>
                </a:solidFill>
                <a:latin typeface="Space Grotesk"/>
                <a:ea typeface="Space Grotesk"/>
                <a:cs typeface="Space Grotesk"/>
              </a:rPr>
              <a:t>orders_per_minute</a:t>
            </a:r>
            <a:endParaRPr lang="en-US" sz="1150"/>
          </a:p>
        </p:txBody>
      </p:sp>
      <p:sp>
        <p:nvSpPr>
          <p:cNvPr id="485182218" name="Text 14"/>
          <p:cNvSpPr txBox="1"/>
          <p:nvPr/>
        </p:nvSpPr>
        <p:spPr bwMode="auto">
          <a:xfrm>
            <a:off x="714375" y="4484191"/>
            <a:ext cx="2353717" cy="159990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60"/>
              </a:lnSpc>
              <a:spcBef>
                <a:spcPts val="300"/>
              </a:spcBef>
              <a:buNone/>
              <a:defRPr/>
            </a:pPr>
            <a:r>
              <a:rPr lang="en-US" sz="900">
                <a:solidFill>
                  <a:srgbClr val="EAEEF2">
                    <a:alpha val="75000"/>
                  </a:srgbClr>
                </a:solidFill>
                <a:latin typeface="Inter"/>
                <a:ea typeface="Inter"/>
                <a:cs typeface="Inter"/>
              </a:rPr>
              <a:t>Business saturation signal. Sum per minute.</a:t>
            </a:r>
            <a:endParaRPr lang="en-US" sz="900"/>
          </a:p>
        </p:txBody>
      </p:sp>
      <p:sp>
        <p:nvSpPr>
          <p:cNvPr id="1909728903" name="Text 15"/>
          <p:cNvSpPr txBox="1"/>
          <p:nvPr/>
        </p:nvSpPr>
        <p:spPr bwMode="auto">
          <a:xfrm>
            <a:off x="5258692" y="4368850"/>
            <a:ext cx="589657" cy="147638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38"/>
              </a:lnSpc>
              <a:buNone/>
              <a:defRPr/>
            </a:pPr>
            <a:r>
              <a:rPr lang="en-US" sz="850" b="1" spc="66">
                <a:solidFill>
                  <a:srgbClr val="67F4E2"/>
                </a:solidFill>
                <a:latin typeface="Inter"/>
                <a:ea typeface="Inter"/>
                <a:cs typeface="Inter"/>
              </a:rPr>
              <a:t>BUSINESS</a:t>
            </a:r>
            <a:endParaRPr lang="en-US" sz="850"/>
          </a:p>
        </p:txBody>
      </p:sp>
      <p:pic>
        <p:nvPicPr>
          <p:cNvPr id="477022940" name="Image 7" descr="preencoded.png"/>
          <p:cNvPicPr>
            <a:picLocks noChangeAspect="1"/>
          </p:cNvPicPr>
          <p:nvPr/>
        </p:nvPicPr>
        <p:blipFill rotWithShape="1">
          <a:blip r:embed="rId10"/>
          <a:stretch/>
        </p:blipFill>
        <p:spPr bwMode="auto">
          <a:xfrm>
            <a:off x="6162675" y="4069854"/>
            <a:ext cx="5495925" cy="736253"/>
          </a:xfrm>
          <a:prstGeom prst="rect">
            <a:avLst/>
          </a:prstGeom>
        </p:spPr>
      </p:pic>
      <p:sp>
        <p:nvSpPr>
          <p:cNvPr id="1986270140" name="Text 16"/>
          <p:cNvSpPr txBox="1"/>
          <p:nvPr/>
        </p:nvSpPr>
        <p:spPr bwMode="auto">
          <a:xfrm>
            <a:off x="6343650" y="4241304"/>
            <a:ext cx="2486769" cy="204788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688"/>
              </a:lnSpc>
              <a:buNone/>
              <a:defRPr/>
            </a:pPr>
            <a:r>
              <a:rPr lang="en-US" sz="1150" b="1">
                <a:solidFill>
                  <a:srgbClr val="EAEEF2"/>
                </a:solidFill>
                <a:latin typeface="Space Grotesk"/>
                <a:ea typeface="Space Grotesk"/>
                <a:cs typeface="Space Grotesk"/>
              </a:rPr>
              <a:t>order_value</a:t>
            </a:r>
            <a:endParaRPr lang="en-US" sz="1150"/>
          </a:p>
        </p:txBody>
      </p:sp>
      <p:sp>
        <p:nvSpPr>
          <p:cNvPr id="141099905" name="Text 17"/>
          <p:cNvSpPr txBox="1"/>
          <p:nvPr/>
        </p:nvSpPr>
        <p:spPr bwMode="auto">
          <a:xfrm>
            <a:off x="6343650" y="4484191"/>
            <a:ext cx="2486769" cy="159990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60"/>
              </a:lnSpc>
              <a:spcBef>
                <a:spcPts val="300"/>
              </a:spcBef>
              <a:buNone/>
              <a:defRPr/>
            </a:pPr>
            <a:r>
              <a:rPr lang="en-US" sz="900">
                <a:solidFill>
                  <a:srgbClr val="EAEEF2">
                    <a:alpha val="75000"/>
                  </a:srgbClr>
                </a:solidFill>
                <a:latin typeface="Inter"/>
                <a:ea typeface="Inter"/>
                <a:cs typeface="Inter"/>
              </a:rPr>
              <a:t>Amount metric. Tracks revenue proxy, no unit.</a:t>
            </a:r>
            <a:endParaRPr lang="en-US" sz="900"/>
          </a:p>
        </p:txBody>
      </p:sp>
      <p:sp>
        <p:nvSpPr>
          <p:cNvPr id="1411995807" name="Text 18"/>
          <p:cNvSpPr txBox="1"/>
          <p:nvPr/>
        </p:nvSpPr>
        <p:spPr bwMode="auto">
          <a:xfrm>
            <a:off x="11174611" y="4368850"/>
            <a:ext cx="303014" cy="147638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38"/>
              </a:lnSpc>
              <a:buNone/>
              <a:defRPr/>
            </a:pPr>
            <a:r>
              <a:rPr lang="en-US" sz="850" b="1" spc="66">
                <a:solidFill>
                  <a:srgbClr val="67F4E2"/>
                </a:solidFill>
                <a:latin typeface="Inter"/>
                <a:ea typeface="Inter"/>
                <a:cs typeface="Inter"/>
              </a:rPr>
              <a:t>None</a:t>
            </a:r>
            <a:endParaRPr lang="en-US" sz="85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439168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84799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1449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73043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25700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04647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6987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3838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36429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3811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68342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57898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67721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37730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22831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54995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99573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41148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118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67735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51822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097289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70229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6270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0999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19958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13">
    <p:bg>
      <p:bgPr shadeToTitle="0">
        <a:solidFill>
          <a:srgbClr val="18162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45825198" name="Text 0"/>
          <p:cNvSpPr txBox="1"/>
          <p:nvPr/>
        </p:nvSpPr>
        <p:spPr bwMode="auto">
          <a:xfrm>
            <a:off x="533399" y="457200"/>
            <a:ext cx="6602931" cy="426007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>
              <a:buNone/>
              <a:defRPr/>
            </a:pPr>
            <a:r>
              <a:rPr lang="en-US" sz="3450" b="1" spc="-69">
                <a:solidFill>
                  <a:srgbClr val="EAEEF2"/>
                </a:solidFill>
                <a:latin typeface="Space Grotesk"/>
                <a:ea typeface="Space Grotesk"/>
                <a:cs typeface="Space Grotesk"/>
              </a:rPr>
              <a:t>Alerting — </a:t>
            </a:r>
            <a:r>
              <a:rPr lang="de-DE" sz="3450" b="1" spc="-68">
                <a:solidFill>
                  <a:srgbClr val="67F4E2"/>
                </a:solidFill>
                <a:latin typeface="Inter"/>
                <a:ea typeface="Inter"/>
                <a:cs typeface="Inter"/>
              </a:rPr>
              <a:t>6</a:t>
            </a:r>
            <a:r>
              <a:rPr lang="en-US" sz="3450" b="1" spc="-69">
                <a:solidFill>
                  <a:srgbClr val="67F4E2"/>
                </a:solidFill>
                <a:latin typeface="Inter"/>
                <a:ea typeface="Inter"/>
                <a:cs typeface="Inter"/>
              </a:rPr>
              <a:t> Alarms</a:t>
            </a:r>
            <a:r>
              <a:rPr lang="en-US" sz="3450" b="1" spc="-69">
                <a:solidFill>
                  <a:srgbClr val="EAEEF2"/>
                </a:solidFill>
                <a:latin typeface="Space Grotesk"/>
                <a:ea typeface="Space Grotesk"/>
                <a:cs typeface="Space Grotesk"/>
              </a:rPr>
              <a:t> CloudWatch</a:t>
            </a:r>
            <a:endParaRPr lang="en-US" sz="3450"/>
          </a:p>
        </p:txBody>
      </p:sp>
      <p:pic>
        <p:nvPicPr>
          <p:cNvPr id="361754413" name="Image 0" descr="preencoded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533400" y="1599009"/>
            <a:ext cx="5495925" cy="1257151"/>
          </a:xfrm>
          <a:prstGeom prst="rect">
            <a:avLst/>
          </a:prstGeom>
        </p:spPr>
      </p:pic>
      <p:sp>
        <p:nvSpPr>
          <p:cNvPr id="1040412438" name="Text 2"/>
          <p:cNvSpPr txBox="1"/>
          <p:nvPr/>
        </p:nvSpPr>
        <p:spPr bwMode="auto">
          <a:xfrm>
            <a:off x="542925" y="1608534"/>
            <a:ext cx="5476875" cy="19050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025"/>
              </a:lnSpc>
              <a:buNone/>
              <a:defRPr/>
            </a:pPr>
            <a:endParaRPr lang="en-US" sz="1350"/>
          </a:p>
        </p:txBody>
      </p:sp>
      <p:sp>
        <p:nvSpPr>
          <p:cNvPr id="649528534" name="Text 3"/>
          <p:cNvSpPr txBox="1"/>
          <p:nvPr/>
        </p:nvSpPr>
        <p:spPr bwMode="auto">
          <a:xfrm>
            <a:off x="714375" y="1760933"/>
            <a:ext cx="538142" cy="141390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080"/>
              </a:lnSpc>
              <a:buNone/>
              <a:defRPr/>
            </a:pPr>
            <a:r>
              <a:rPr lang="en-US" sz="900" b="1" spc="18">
                <a:solidFill>
                  <a:srgbClr val="EAEEF2"/>
                </a:solidFill>
                <a:latin typeface="Space Grotesk"/>
                <a:ea typeface="Space Grotesk"/>
                <a:cs typeface="Space Grotesk"/>
              </a:rPr>
              <a:t>error-rate</a:t>
            </a:r>
            <a:endParaRPr lang="en-US" sz="900"/>
          </a:p>
        </p:txBody>
      </p:sp>
      <p:sp>
        <p:nvSpPr>
          <p:cNvPr id="1194266509" name="Text 4"/>
          <p:cNvSpPr txBox="1"/>
          <p:nvPr/>
        </p:nvSpPr>
        <p:spPr bwMode="auto">
          <a:xfrm>
            <a:off x="714375" y="1983730"/>
            <a:ext cx="5133975" cy="147638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38"/>
              </a:lnSpc>
              <a:buNone/>
              <a:defRPr/>
            </a:pPr>
            <a:r>
              <a:rPr lang="en-US" sz="850">
                <a:solidFill>
                  <a:srgbClr val="67F4E2"/>
                </a:solidFill>
                <a:latin typeface="JetBrains Mono"/>
                <a:ea typeface="JetBrains Mono"/>
                <a:cs typeface="JetBrains Mono"/>
              </a:rPr>
              <a:t>error_count • Sum &gt;5 • 2 periods of 60s</a:t>
            </a:r>
            <a:endParaRPr lang="en-US" sz="850"/>
          </a:p>
        </p:txBody>
      </p:sp>
      <p:pic>
        <p:nvPicPr>
          <p:cNvPr id="1817035683" name="Image 1" descr="preencoded.png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>
            <a:off x="714375" y="2226618"/>
            <a:ext cx="657671" cy="238125"/>
          </a:xfrm>
          <a:prstGeom prst="rect">
            <a:avLst/>
          </a:prstGeom>
        </p:spPr>
      </p:pic>
      <p:sp>
        <p:nvSpPr>
          <p:cNvPr id="1397256461" name="Text 5"/>
          <p:cNvSpPr txBox="1"/>
          <p:nvPr/>
        </p:nvSpPr>
        <p:spPr bwMode="auto">
          <a:xfrm>
            <a:off x="800100" y="2283768"/>
            <a:ext cx="486221" cy="133350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25"/>
              </a:lnSpc>
              <a:buNone/>
              <a:defRPr/>
            </a:pPr>
            <a:r>
              <a:rPr lang="en-US" sz="750">
                <a:solidFill>
                  <a:srgbClr val="EAEEF2"/>
                </a:solidFill>
                <a:highlight>
                  <a:srgbClr val="6BF7DE"/>
                </a:highlight>
                <a:latin typeface="Inter"/>
                <a:ea typeface="Inter"/>
                <a:cs typeface="Inter"/>
              </a:rPr>
              <a:t>RED Errors</a:t>
            </a:r>
            <a:endParaRPr lang="en-US" sz="750"/>
          </a:p>
        </p:txBody>
      </p:sp>
      <p:pic>
        <p:nvPicPr>
          <p:cNvPr id="1520732368" name="Image 2" descr="preencoded.png"/>
          <p:cNvPicPr>
            <a:picLocks noChangeAspect="1"/>
          </p:cNvPicPr>
          <p:nvPr/>
        </p:nvPicPr>
        <p:blipFill rotWithShape="1">
          <a:blip r:embed="rId5"/>
          <a:stretch/>
        </p:blipFill>
        <p:spPr bwMode="auto">
          <a:xfrm>
            <a:off x="1448246" y="2226618"/>
            <a:ext cx="576560" cy="238125"/>
          </a:xfrm>
          <a:prstGeom prst="rect">
            <a:avLst/>
          </a:prstGeom>
        </p:spPr>
      </p:pic>
      <p:sp>
        <p:nvSpPr>
          <p:cNvPr id="500532001" name="Text 6"/>
          <p:cNvSpPr txBox="1"/>
          <p:nvPr/>
        </p:nvSpPr>
        <p:spPr bwMode="auto">
          <a:xfrm>
            <a:off x="1533971" y="2283768"/>
            <a:ext cx="405110" cy="133350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25"/>
              </a:lnSpc>
              <a:buNone/>
              <a:defRPr/>
            </a:pPr>
            <a:r>
              <a:rPr lang="en-US" sz="750">
                <a:solidFill>
                  <a:srgbClr val="EAEDF2">
                    <a:alpha val="80000"/>
                  </a:srgbClr>
                </a:solidFill>
                <a:highlight>
                  <a:srgbClr val="E6F2F2"/>
                </a:highlight>
                <a:latin typeface="Inter"/>
                <a:ea typeface="Inter"/>
                <a:cs typeface="Inter"/>
              </a:rPr>
              <a:t>Stat Sum</a:t>
            </a:r>
            <a:endParaRPr lang="en-US" sz="750"/>
          </a:p>
        </p:txBody>
      </p:sp>
      <p:pic>
        <p:nvPicPr>
          <p:cNvPr id="514711915" name="Image 3" descr="preencoded.png"/>
          <p:cNvPicPr>
            <a:picLocks noChangeAspect="1"/>
          </p:cNvPicPr>
          <p:nvPr/>
        </p:nvPicPr>
        <p:blipFill rotWithShape="1">
          <a:blip r:embed="rId6"/>
          <a:stretch/>
        </p:blipFill>
        <p:spPr bwMode="auto">
          <a:xfrm>
            <a:off x="2101007" y="2226618"/>
            <a:ext cx="1569541" cy="238125"/>
          </a:xfrm>
          <a:prstGeom prst="rect">
            <a:avLst/>
          </a:prstGeom>
        </p:spPr>
      </p:pic>
      <p:sp>
        <p:nvSpPr>
          <p:cNvPr id="1425410041" name="Text 7"/>
          <p:cNvSpPr txBox="1"/>
          <p:nvPr/>
        </p:nvSpPr>
        <p:spPr bwMode="auto">
          <a:xfrm>
            <a:off x="2186732" y="2283768"/>
            <a:ext cx="1398091" cy="133350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25"/>
              </a:lnSpc>
              <a:buNone/>
              <a:defRPr/>
            </a:pPr>
            <a:r>
              <a:rPr lang="en-US" sz="750">
                <a:solidFill>
                  <a:srgbClr val="EAEDF2">
                    <a:alpha val="80000"/>
                  </a:srgbClr>
                </a:solidFill>
                <a:highlight>
                  <a:srgbClr val="E6F2F2"/>
                </a:highlight>
                <a:latin typeface="Inter"/>
                <a:ea typeface="Inter"/>
                <a:cs typeface="Inter"/>
              </a:rPr>
              <a:t>Treat missing as not-breaching</a:t>
            </a:r>
            <a:endParaRPr lang="en-US" sz="750"/>
          </a:p>
        </p:txBody>
      </p:sp>
      <p:pic>
        <p:nvPicPr>
          <p:cNvPr id="722927030" name="Image 4" descr="preencoded.png"/>
          <p:cNvPicPr>
            <a:picLocks noChangeAspect="1"/>
          </p:cNvPicPr>
          <p:nvPr/>
        </p:nvPicPr>
        <p:blipFill rotWithShape="1">
          <a:blip r:embed="rId7"/>
          <a:stretch/>
        </p:blipFill>
        <p:spPr bwMode="auto">
          <a:xfrm>
            <a:off x="6162675" y="1599009"/>
            <a:ext cx="5495925" cy="1257151"/>
          </a:xfrm>
          <a:prstGeom prst="rect">
            <a:avLst/>
          </a:prstGeom>
        </p:spPr>
      </p:pic>
      <p:sp>
        <p:nvSpPr>
          <p:cNvPr id="1466490633" name="Text 9"/>
          <p:cNvSpPr txBox="1"/>
          <p:nvPr/>
        </p:nvSpPr>
        <p:spPr bwMode="auto">
          <a:xfrm>
            <a:off x="6172200" y="1608534"/>
            <a:ext cx="5476875" cy="19050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025"/>
              </a:lnSpc>
              <a:buNone/>
              <a:defRPr/>
            </a:pPr>
            <a:endParaRPr lang="en-US" sz="1350"/>
          </a:p>
        </p:txBody>
      </p:sp>
      <p:sp>
        <p:nvSpPr>
          <p:cNvPr id="2002263251" name="Text 10"/>
          <p:cNvSpPr txBox="1"/>
          <p:nvPr/>
        </p:nvSpPr>
        <p:spPr bwMode="auto">
          <a:xfrm>
            <a:off x="6343650" y="1760933"/>
            <a:ext cx="410619" cy="141750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080"/>
              </a:lnSpc>
              <a:buNone/>
              <a:defRPr/>
            </a:pPr>
            <a:r>
              <a:rPr lang="en-US" sz="900" b="1" spc="18">
                <a:solidFill>
                  <a:srgbClr val="EAEEF2"/>
                </a:solidFill>
                <a:latin typeface="Space Grotesk"/>
                <a:ea typeface="Space Grotesk"/>
                <a:cs typeface="Space Grotesk"/>
              </a:rPr>
              <a:t>latency</a:t>
            </a:r>
            <a:endParaRPr lang="en-US" sz="900"/>
          </a:p>
        </p:txBody>
      </p:sp>
      <p:sp>
        <p:nvSpPr>
          <p:cNvPr id="81171020" name="Text 11"/>
          <p:cNvSpPr txBox="1"/>
          <p:nvPr/>
        </p:nvSpPr>
        <p:spPr bwMode="auto">
          <a:xfrm>
            <a:off x="6343650" y="1983730"/>
            <a:ext cx="5133975" cy="147638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38"/>
              </a:lnSpc>
              <a:buNone/>
              <a:defRPr/>
            </a:pPr>
            <a:r>
              <a:rPr lang="en-US" sz="850">
                <a:solidFill>
                  <a:srgbClr val="67F4E2"/>
                </a:solidFill>
                <a:latin typeface="JetBrains Mono"/>
                <a:ea typeface="JetBrains Mono"/>
                <a:cs typeface="JetBrains Mono"/>
              </a:rPr>
              <a:t>api_latency • Average &gt;500ms • 2 periods</a:t>
            </a:r>
            <a:endParaRPr lang="en-US" sz="850"/>
          </a:p>
        </p:txBody>
      </p:sp>
      <p:pic>
        <p:nvPicPr>
          <p:cNvPr id="151770486" name="Image 5" descr="preencoded.png"/>
          <p:cNvPicPr>
            <a:picLocks noChangeAspect="1"/>
          </p:cNvPicPr>
          <p:nvPr/>
        </p:nvPicPr>
        <p:blipFill rotWithShape="1">
          <a:blip r:embed="rId8"/>
          <a:stretch/>
        </p:blipFill>
        <p:spPr bwMode="auto">
          <a:xfrm>
            <a:off x="6343650" y="2226618"/>
            <a:ext cx="767655" cy="238125"/>
          </a:xfrm>
          <a:prstGeom prst="rect">
            <a:avLst/>
          </a:prstGeom>
        </p:spPr>
      </p:pic>
      <p:sp>
        <p:nvSpPr>
          <p:cNvPr id="2091585077" name="Text 12"/>
          <p:cNvSpPr txBox="1"/>
          <p:nvPr/>
        </p:nvSpPr>
        <p:spPr bwMode="auto">
          <a:xfrm>
            <a:off x="6429375" y="2283768"/>
            <a:ext cx="596205" cy="133350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25"/>
              </a:lnSpc>
              <a:buNone/>
              <a:defRPr/>
            </a:pPr>
            <a:r>
              <a:rPr lang="en-US" sz="750">
                <a:solidFill>
                  <a:srgbClr val="EAEEF2"/>
                </a:solidFill>
                <a:highlight>
                  <a:srgbClr val="6BF7DE"/>
                </a:highlight>
                <a:latin typeface="Inter"/>
                <a:ea typeface="Inter"/>
                <a:cs typeface="Inter"/>
              </a:rPr>
              <a:t>RED Duration</a:t>
            </a:r>
            <a:endParaRPr lang="en-US" sz="750"/>
          </a:p>
        </p:txBody>
      </p:sp>
      <p:pic>
        <p:nvPicPr>
          <p:cNvPr id="1919678969" name="Image 6" descr="preencoded.png"/>
          <p:cNvPicPr>
            <a:picLocks noChangeAspect="1"/>
          </p:cNvPicPr>
          <p:nvPr/>
        </p:nvPicPr>
        <p:blipFill rotWithShape="1">
          <a:blip r:embed="rId9"/>
          <a:stretch/>
        </p:blipFill>
        <p:spPr bwMode="auto">
          <a:xfrm>
            <a:off x="7187505" y="2226618"/>
            <a:ext cx="340816" cy="238125"/>
          </a:xfrm>
          <a:prstGeom prst="rect">
            <a:avLst/>
          </a:prstGeom>
        </p:spPr>
      </p:pic>
      <p:sp>
        <p:nvSpPr>
          <p:cNvPr id="1987009862" name="Text 13"/>
          <p:cNvSpPr txBox="1"/>
          <p:nvPr/>
        </p:nvSpPr>
        <p:spPr bwMode="auto">
          <a:xfrm>
            <a:off x="7273230" y="2283768"/>
            <a:ext cx="169366" cy="133350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25"/>
              </a:lnSpc>
              <a:buNone/>
              <a:defRPr/>
            </a:pPr>
            <a:r>
              <a:rPr lang="en-US" sz="750">
                <a:solidFill>
                  <a:srgbClr val="EAEDF2">
                    <a:alpha val="80000"/>
                  </a:srgbClr>
                </a:solidFill>
                <a:highlight>
                  <a:srgbClr val="E6F2F2"/>
                </a:highlight>
                <a:latin typeface="Inter"/>
                <a:ea typeface="Inter"/>
                <a:cs typeface="Inter"/>
              </a:rPr>
              <a:t>Avg</a:t>
            </a:r>
            <a:endParaRPr lang="en-US" sz="750"/>
          </a:p>
        </p:txBody>
      </p:sp>
      <p:pic>
        <p:nvPicPr>
          <p:cNvPr id="1981103467" name="Image 7" descr="preencoded.png"/>
          <p:cNvPicPr>
            <a:picLocks noChangeAspect="1"/>
          </p:cNvPicPr>
          <p:nvPr/>
        </p:nvPicPr>
        <p:blipFill rotWithShape="1">
          <a:blip r:embed="rId10"/>
          <a:stretch/>
        </p:blipFill>
        <p:spPr bwMode="auto">
          <a:xfrm>
            <a:off x="7604522" y="2226618"/>
            <a:ext cx="693837" cy="238125"/>
          </a:xfrm>
          <a:prstGeom prst="rect">
            <a:avLst/>
          </a:prstGeom>
        </p:spPr>
      </p:pic>
      <p:sp>
        <p:nvSpPr>
          <p:cNvPr id="1589094451" name="Text 14"/>
          <p:cNvSpPr txBox="1"/>
          <p:nvPr/>
        </p:nvSpPr>
        <p:spPr bwMode="auto">
          <a:xfrm>
            <a:off x="7690247" y="2283768"/>
            <a:ext cx="522387" cy="133350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25"/>
              </a:lnSpc>
              <a:buNone/>
              <a:defRPr/>
            </a:pPr>
            <a:r>
              <a:rPr lang="en-US" sz="750">
                <a:solidFill>
                  <a:srgbClr val="EAEDF2">
                    <a:alpha val="80000"/>
                  </a:srgbClr>
                </a:solidFill>
                <a:highlight>
                  <a:srgbClr val="E6F2F2"/>
                </a:highlight>
                <a:latin typeface="Inter"/>
                <a:ea typeface="Inter"/>
                <a:cs typeface="Inter"/>
              </a:rPr>
              <a:t>SLO 500ms</a:t>
            </a:r>
            <a:endParaRPr lang="en-US" sz="750"/>
          </a:p>
        </p:txBody>
      </p:sp>
      <p:pic>
        <p:nvPicPr>
          <p:cNvPr id="65055049" name="Image 8" descr="preencoded.png"/>
          <p:cNvPicPr>
            <a:picLocks noChangeAspect="1"/>
          </p:cNvPicPr>
          <p:nvPr/>
        </p:nvPicPr>
        <p:blipFill rotWithShape="1">
          <a:blip r:embed="rId11"/>
          <a:stretch/>
        </p:blipFill>
        <p:spPr bwMode="auto">
          <a:xfrm>
            <a:off x="533400" y="2989511"/>
            <a:ext cx="5495925" cy="1410444"/>
          </a:xfrm>
          <a:prstGeom prst="rect">
            <a:avLst/>
          </a:prstGeom>
        </p:spPr>
      </p:pic>
      <p:sp>
        <p:nvSpPr>
          <p:cNvPr id="1749201060" name="Text 16"/>
          <p:cNvSpPr txBox="1"/>
          <p:nvPr/>
        </p:nvSpPr>
        <p:spPr bwMode="auto">
          <a:xfrm>
            <a:off x="542925" y="2999036"/>
            <a:ext cx="5476875" cy="19050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025"/>
              </a:lnSpc>
              <a:buNone/>
              <a:defRPr/>
            </a:pPr>
            <a:endParaRPr lang="en-US" sz="1350"/>
          </a:p>
        </p:txBody>
      </p:sp>
      <p:sp>
        <p:nvSpPr>
          <p:cNvPr id="2053522613" name="Text 17"/>
          <p:cNvSpPr txBox="1"/>
          <p:nvPr/>
        </p:nvSpPr>
        <p:spPr bwMode="auto">
          <a:xfrm>
            <a:off x="714375" y="3151434"/>
            <a:ext cx="459124" cy="139230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080"/>
              </a:lnSpc>
              <a:buNone/>
              <a:defRPr/>
            </a:pPr>
            <a:r>
              <a:rPr lang="de-DE" sz="900" b="1" spc="18">
                <a:solidFill>
                  <a:srgbClr val="EAEEF2"/>
                </a:solidFill>
                <a:latin typeface="Space Grotesk"/>
                <a:ea typeface="Space Grotesk"/>
                <a:cs typeface="Space Grotesk"/>
              </a:rPr>
              <a:t>memory</a:t>
            </a:r>
            <a:endParaRPr lang="en-US" sz="900"/>
          </a:p>
        </p:txBody>
      </p:sp>
      <p:sp>
        <p:nvSpPr>
          <p:cNvPr id="65159843" name="Text 18"/>
          <p:cNvSpPr txBox="1"/>
          <p:nvPr/>
        </p:nvSpPr>
        <p:spPr bwMode="auto">
          <a:xfrm>
            <a:off x="714375" y="3374231"/>
            <a:ext cx="5133975" cy="147638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38"/>
              </a:lnSpc>
              <a:buNone/>
              <a:defRPr/>
            </a:pPr>
            <a:r>
              <a:rPr lang="en-US" sz="850">
                <a:solidFill>
                  <a:srgbClr val="67F4E2"/>
                </a:solidFill>
                <a:latin typeface="JetBrains Mono"/>
                <a:ea typeface="JetBrains Mono"/>
                <a:cs typeface="JetBrains Mono"/>
              </a:rPr>
              <a:t>request_count • Sum &lt;1 • 300s period • missing data BREACHING</a:t>
            </a:r>
            <a:endParaRPr lang="en-US" sz="850"/>
          </a:p>
        </p:txBody>
      </p:sp>
      <p:pic>
        <p:nvPicPr>
          <p:cNvPr id="625828764" name="Image 9" descr="preencoded.png"/>
          <p:cNvPicPr>
            <a:picLocks noChangeAspect="1"/>
          </p:cNvPicPr>
          <p:nvPr/>
        </p:nvPicPr>
        <p:blipFill rotWithShape="1">
          <a:blip r:embed="rId12"/>
          <a:stretch/>
        </p:blipFill>
        <p:spPr bwMode="auto">
          <a:xfrm>
            <a:off x="714375" y="3617119"/>
            <a:ext cx="780901" cy="238125"/>
          </a:xfrm>
          <a:prstGeom prst="rect">
            <a:avLst/>
          </a:prstGeom>
        </p:spPr>
      </p:pic>
      <p:sp>
        <p:nvSpPr>
          <p:cNvPr id="1647497232" name="Text 19"/>
          <p:cNvSpPr txBox="1"/>
          <p:nvPr/>
        </p:nvSpPr>
        <p:spPr bwMode="auto">
          <a:xfrm>
            <a:off x="800100" y="3674269"/>
            <a:ext cx="609451" cy="133350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25"/>
              </a:lnSpc>
              <a:buNone/>
              <a:defRPr/>
            </a:pPr>
            <a:r>
              <a:rPr lang="en-US" sz="750">
                <a:solidFill>
                  <a:srgbClr val="EAEEF2"/>
                </a:solidFill>
                <a:highlight>
                  <a:srgbClr val="6BF7DE"/>
                </a:highlight>
                <a:latin typeface="Inter"/>
                <a:ea typeface="Inter"/>
                <a:cs typeface="Inter"/>
              </a:rPr>
              <a:t>Health-check</a:t>
            </a:r>
            <a:endParaRPr lang="en-US" sz="750"/>
          </a:p>
        </p:txBody>
      </p:sp>
      <p:pic>
        <p:nvPicPr>
          <p:cNvPr id="955157546" name="Image 10" descr="preencoded.png"/>
          <p:cNvPicPr>
            <a:picLocks noChangeAspect="1"/>
          </p:cNvPicPr>
          <p:nvPr/>
        </p:nvPicPr>
        <p:blipFill rotWithShape="1">
          <a:blip r:embed="rId13"/>
          <a:stretch/>
        </p:blipFill>
        <p:spPr bwMode="auto">
          <a:xfrm>
            <a:off x="1571476" y="3617119"/>
            <a:ext cx="855166" cy="238125"/>
          </a:xfrm>
          <a:prstGeom prst="rect">
            <a:avLst/>
          </a:prstGeom>
        </p:spPr>
      </p:pic>
      <p:sp>
        <p:nvSpPr>
          <p:cNvPr id="917561258" name="Text 20"/>
          <p:cNvSpPr txBox="1"/>
          <p:nvPr/>
        </p:nvSpPr>
        <p:spPr bwMode="auto">
          <a:xfrm>
            <a:off x="1657201" y="3674269"/>
            <a:ext cx="683716" cy="133350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25"/>
              </a:lnSpc>
              <a:buNone/>
              <a:defRPr/>
            </a:pPr>
            <a:r>
              <a:rPr lang="en-US" sz="750">
                <a:solidFill>
                  <a:srgbClr val="EAEDF2">
                    <a:alpha val="80000"/>
                  </a:srgbClr>
                </a:solidFill>
                <a:highlight>
                  <a:srgbClr val="E6F2F2"/>
                </a:highlight>
                <a:latin typeface="Inter"/>
                <a:ea typeface="Inter"/>
                <a:cs typeface="Inter"/>
              </a:rPr>
              <a:t>1 req /5min min</a:t>
            </a:r>
            <a:endParaRPr lang="en-US" sz="750"/>
          </a:p>
        </p:txBody>
      </p:sp>
      <p:pic>
        <p:nvPicPr>
          <p:cNvPr id="1463433352" name="Image 11" descr="preencoded.png"/>
          <p:cNvPicPr>
            <a:picLocks noChangeAspect="1"/>
          </p:cNvPicPr>
          <p:nvPr/>
        </p:nvPicPr>
        <p:blipFill rotWithShape="1">
          <a:blip r:embed="rId14"/>
          <a:stretch/>
        </p:blipFill>
        <p:spPr bwMode="auto">
          <a:xfrm>
            <a:off x="2502843" y="3617119"/>
            <a:ext cx="1000423" cy="238125"/>
          </a:xfrm>
          <a:prstGeom prst="rect">
            <a:avLst/>
          </a:prstGeom>
        </p:spPr>
      </p:pic>
      <p:sp>
        <p:nvSpPr>
          <p:cNvPr id="596875129" name="Text 21"/>
          <p:cNvSpPr txBox="1"/>
          <p:nvPr/>
        </p:nvSpPr>
        <p:spPr bwMode="auto">
          <a:xfrm>
            <a:off x="2588568" y="3674269"/>
            <a:ext cx="828973" cy="133350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25"/>
              </a:lnSpc>
              <a:buNone/>
              <a:defRPr/>
            </a:pPr>
            <a:r>
              <a:rPr lang="en-US" sz="750">
                <a:solidFill>
                  <a:srgbClr val="EAEDF2">
                    <a:alpha val="80000"/>
                  </a:srgbClr>
                </a:solidFill>
                <a:highlight>
                  <a:srgbClr val="E6F2F2"/>
                </a:highlight>
                <a:latin typeface="Inter"/>
                <a:ea typeface="Inter"/>
                <a:cs typeface="Inter"/>
              </a:rPr>
              <a:t>Missing → ALARM</a:t>
            </a:r>
            <a:endParaRPr lang="en-US" sz="750"/>
          </a:p>
        </p:txBody>
      </p:sp>
      <p:pic>
        <p:nvPicPr>
          <p:cNvPr id="1142490640" name="Image 12" descr="preencoded.png"/>
          <p:cNvPicPr>
            <a:picLocks noChangeAspect="1"/>
          </p:cNvPicPr>
          <p:nvPr/>
        </p:nvPicPr>
        <p:blipFill rotWithShape="1">
          <a:blip r:embed="rId15"/>
          <a:stretch/>
        </p:blipFill>
        <p:spPr bwMode="auto">
          <a:xfrm>
            <a:off x="6162675" y="2989511"/>
            <a:ext cx="5495925" cy="1410444"/>
          </a:xfrm>
          <a:prstGeom prst="rect">
            <a:avLst/>
          </a:prstGeom>
        </p:spPr>
      </p:pic>
      <p:sp>
        <p:nvSpPr>
          <p:cNvPr id="628479833" name="Text 23"/>
          <p:cNvSpPr txBox="1"/>
          <p:nvPr/>
        </p:nvSpPr>
        <p:spPr bwMode="auto">
          <a:xfrm>
            <a:off x="6172200" y="2999036"/>
            <a:ext cx="5476875" cy="19050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025"/>
              </a:lnSpc>
              <a:buNone/>
              <a:defRPr/>
            </a:pPr>
            <a:endParaRPr lang="en-US" sz="1350"/>
          </a:p>
        </p:txBody>
      </p:sp>
      <p:sp>
        <p:nvSpPr>
          <p:cNvPr id="413923493" name="Text 24"/>
          <p:cNvSpPr txBox="1"/>
          <p:nvPr/>
        </p:nvSpPr>
        <p:spPr bwMode="auto">
          <a:xfrm>
            <a:off x="6343650" y="3151434"/>
            <a:ext cx="238567" cy="143910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080"/>
              </a:lnSpc>
              <a:buNone/>
              <a:defRPr/>
            </a:pPr>
            <a:r>
              <a:rPr lang="de-DE" sz="900" b="1" spc="18">
                <a:solidFill>
                  <a:srgbClr val="EAEEF2"/>
                </a:solidFill>
                <a:latin typeface="Space Grotesk"/>
                <a:ea typeface="Space Grotesk"/>
                <a:cs typeface="Space Grotesk"/>
              </a:rPr>
              <a:t>disk</a:t>
            </a:r>
            <a:endParaRPr lang="en-US" sz="900"/>
          </a:p>
        </p:txBody>
      </p:sp>
      <p:sp>
        <p:nvSpPr>
          <p:cNvPr id="745095010" name="Text 25"/>
          <p:cNvSpPr txBox="1"/>
          <p:nvPr/>
        </p:nvSpPr>
        <p:spPr bwMode="auto">
          <a:xfrm>
            <a:off x="6343650" y="3374230"/>
            <a:ext cx="3774297" cy="149077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38"/>
              </a:lnSpc>
              <a:buNone/>
              <a:defRPr/>
            </a:pPr>
            <a:r>
              <a:rPr lang="de-DE" sz="850">
                <a:solidFill>
                  <a:srgbClr val="67F4E2"/>
                </a:solidFill>
                <a:latin typeface="JetBrains Mono"/>
                <a:ea typeface="JetBrains Mono"/>
                <a:cs typeface="JetBrains Mono"/>
              </a:rPr>
              <a:t>DISK</a:t>
            </a:r>
            <a:r>
              <a:rPr lang="en-US" sz="850">
                <a:solidFill>
                  <a:srgbClr val="67F4E2"/>
                </a:solidFill>
                <a:latin typeface="JetBrains Mono"/>
                <a:ea typeface="JetBrains Mono"/>
                <a:cs typeface="JetBrains Mono"/>
              </a:rPr>
              <a:t>Utilization • Average &gt;80% • 2 periods 300s • Dim: InstanceId=i-01b042…</a:t>
            </a:r>
            <a:endParaRPr lang="en-US" sz="850"/>
          </a:p>
        </p:txBody>
      </p:sp>
      <p:pic>
        <p:nvPicPr>
          <p:cNvPr id="638261627" name="Image 13" descr="preencoded.png"/>
          <p:cNvPicPr>
            <a:picLocks noChangeAspect="1"/>
          </p:cNvPicPr>
          <p:nvPr/>
        </p:nvPicPr>
        <p:blipFill rotWithShape="1">
          <a:blip r:embed="rId16"/>
          <a:stretch/>
        </p:blipFill>
        <p:spPr bwMode="auto">
          <a:xfrm>
            <a:off x="6343650" y="3617119"/>
            <a:ext cx="846534" cy="238125"/>
          </a:xfrm>
          <a:prstGeom prst="rect">
            <a:avLst/>
          </a:prstGeom>
        </p:spPr>
      </p:pic>
      <p:sp>
        <p:nvSpPr>
          <p:cNvPr id="963069155" name="Text 26"/>
          <p:cNvSpPr txBox="1"/>
          <p:nvPr/>
        </p:nvSpPr>
        <p:spPr bwMode="auto">
          <a:xfrm>
            <a:off x="6429375" y="3674269"/>
            <a:ext cx="675084" cy="133350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25"/>
              </a:lnSpc>
              <a:buNone/>
              <a:defRPr/>
            </a:pPr>
            <a:r>
              <a:rPr lang="en-US" sz="750">
                <a:solidFill>
                  <a:srgbClr val="EAEEF2"/>
                </a:solidFill>
                <a:highlight>
                  <a:srgbClr val="6BF7DE"/>
                </a:highlight>
                <a:latin typeface="Inter"/>
                <a:ea typeface="Inter"/>
                <a:cs typeface="Inter"/>
              </a:rPr>
              <a:t>USE Saturation</a:t>
            </a:r>
            <a:endParaRPr lang="en-US" sz="750"/>
          </a:p>
        </p:txBody>
      </p:sp>
      <p:pic>
        <p:nvPicPr>
          <p:cNvPr id="1538295841" name="Image 14" descr="preencoded.png"/>
          <p:cNvPicPr>
            <a:picLocks noChangeAspect="1"/>
          </p:cNvPicPr>
          <p:nvPr/>
        </p:nvPicPr>
        <p:blipFill rotWithShape="1">
          <a:blip r:embed="rId17"/>
          <a:stretch/>
        </p:blipFill>
        <p:spPr bwMode="auto">
          <a:xfrm>
            <a:off x="7266384" y="3617119"/>
            <a:ext cx="606028" cy="238125"/>
          </a:xfrm>
          <a:prstGeom prst="rect">
            <a:avLst/>
          </a:prstGeom>
        </p:spPr>
      </p:pic>
      <p:sp>
        <p:nvSpPr>
          <p:cNvPr id="54239043" name="Text 27"/>
          <p:cNvSpPr txBox="1"/>
          <p:nvPr/>
        </p:nvSpPr>
        <p:spPr bwMode="auto">
          <a:xfrm>
            <a:off x="7352109" y="3674269"/>
            <a:ext cx="434578" cy="133350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25"/>
              </a:lnSpc>
              <a:buNone/>
              <a:defRPr/>
            </a:pPr>
            <a:r>
              <a:rPr lang="en-US" sz="750">
                <a:solidFill>
                  <a:srgbClr val="EAEDF2">
                    <a:alpha val="80000"/>
                  </a:srgbClr>
                </a:solidFill>
                <a:highlight>
                  <a:srgbClr val="E6F2F2"/>
                </a:highlight>
                <a:latin typeface="Inter"/>
                <a:ea typeface="Inter"/>
                <a:cs typeface="Inter"/>
              </a:rPr>
              <a:t>AWS/EC2</a:t>
            </a:r>
            <a:endParaRPr lang="en-US" sz="750"/>
          </a:p>
        </p:txBody>
      </p:sp>
      <p:pic>
        <p:nvPicPr>
          <p:cNvPr id="938457394" name="Image 15" descr="preencoded.png"/>
          <p:cNvPicPr>
            <a:picLocks noChangeAspect="1"/>
          </p:cNvPicPr>
          <p:nvPr/>
        </p:nvPicPr>
        <p:blipFill rotWithShape="1">
          <a:blip r:embed="rId18"/>
          <a:stretch/>
        </p:blipFill>
        <p:spPr bwMode="auto">
          <a:xfrm>
            <a:off x="7948613" y="3617119"/>
            <a:ext cx="580132" cy="238125"/>
          </a:xfrm>
          <a:prstGeom prst="rect">
            <a:avLst/>
          </a:prstGeom>
        </p:spPr>
      </p:pic>
      <p:sp>
        <p:nvSpPr>
          <p:cNvPr id="1761729143" name="Text 28"/>
          <p:cNvSpPr txBox="1"/>
          <p:nvPr/>
        </p:nvSpPr>
        <p:spPr bwMode="auto">
          <a:xfrm>
            <a:off x="8034338" y="3674269"/>
            <a:ext cx="408682" cy="133350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25"/>
              </a:lnSpc>
              <a:buNone/>
              <a:defRPr/>
            </a:pPr>
            <a:r>
              <a:rPr lang="en-US" sz="750">
                <a:solidFill>
                  <a:srgbClr val="EAEDF2">
                    <a:alpha val="80000"/>
                  </a:srgbClr>
                </a:solidFill>
                <a:highlight>
                  <a:srgbClr val="E6F2F2"/>
                </a:highlight>
                <a:latin typeface="Inter"/>
                <a:ea typeface="Inter"/>
                <a:cs typeface="Inter"/>
              </a:rPr>
              <a:t>Avg 80%</a:t>
            </a:r>
            <a:endParaRPr lang="en-US" sz="750"/>
          </a:p>
        </p:txBody>
      </p:sp>
      <p:pic>
        <p:nvPicPr>
          <p:cNvPr id="834739752" name="Image 16" descr="preencoded.png"/>
          <p:cNvPicPr>
            <a:picLocks noChangeAspect="1"/>
          </p:cNvPicPr>
          <p:nvPr/>
        </p:nvPicPr>
        <p:blipFill rotWithShape="1">
          <a:blip r:embed="rId19"/>
          <a:stretch/>
        </p:blipFill>
        <p:spPr bwMode="auto">
          <a:xfrm>
            <a:off x="533400" y="5993160"/>
            <a:ext cx="11125200" cy="407640"/>
          </a:xfrm>
          <a:prstGeom prst="rect">
            <a:avLst/>
          </a:prstGeom>
        </p:spPr>
      </p:pic>
      <p:sp>
        <p:nvSpPr>
          <p:cNvPr id="1492409162" name="Shape 30"/>
          <p:cNvSpPr/>
          <p:nvPr/>
        </p:nvSpPr>
        <p:spPr bwMode="auto">
          <a:xfrm>
            <a:off x="676275" y="6162675"/>
            <a:ext cx="76200" cy="76200"/>
          </a:xfrm>
          <a:prstGeom prst="roundRect">
            <a:avLst>
              <a:gd name="adj" fmla="val 50000"/>
            </a:avLst>
          </a:prstGeom>
          <a:solidFill>
            <a:srgbClr val="38BDF8"/>
          </a:solidFill>
          <a:ln/>
        </p:spPr>
      </p:sp>
      <p:sp>
        <p:nvSpPr>
          <p:cNvPr id="73635071" name="Text 31"/>
          <p:cNvSpPr txBox="1"/>
          <p:nvPr/>
        </p:nvSpPr>
        <p:spPr bwMode="auto">
          <a:xfrm>
            <a:off x="904875" y="6116985"/>
            <a:ext cx="9758958" cy="159990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>
              <a:buNone/>
              <a:defRPr/>
            </a:pPr>
            <a:r>
              <a:rPr lang="en-US" sz="900" b="1">
                <a:solidFill>
                  <a:srgbClr val="38BDF8"/>
                </a:solidFill>
                <a:latin typeface="Inter"/>
                <a:ea typeface="Inter"/>
                <a:cs typeface="Inter"/>
              </a:rPr>
              <a:t>SNS → proj2-alerts + Email notification</a:t>
            </a:r>
            <a:r>
              <a:rPr lang="en-US" sz="900">
                <a:solidFill>
                  <a:srgbClr val="EAEFF2">
                    <a:alpha val="85000"/>
                  </a:srgbClr>
                </a:solidFill>
                <a:latin typeface="Inter"/>
                <a:ea typeface="Inter"/>
                <a:cs typeface="Inter"/>
              </a:rPr>
              <a:t> • IAM proj2-ec2-role needs cloudwatch:PutMetricData only; ListMetrics from Admin • Thresholds tuned for low-traffic demo, not prod scale</a:t>
            </a:r>
            <a:endParaRPr lang="en-US" sz="900"/>
          </a:p>
        </p:txBody>
      </p:sp>
      <p:pic>
        <p:nvPicPr>
          <p:cNvPr id="546838245" name="Image 8" descr="preencoded.png"/>
          <p:cNvPicPr>
            <a:picLocks noChangeAspect="1"/>
          </p:cNvPicPr>
          <p:nvPr/>
        </p:nvPicPr>
        <p:blipFill rotWithShape="1">
          <a:blip r:embed="rId11"/>
          <a:stretch/>
        </p:blipFill>
        <p:spPr bwMode="auto">
          <a:xfrm>
            <a:off x="495894" y="4529143"/>
            <a:ext cx="5495924" cy="1410444"/>
          </a:xfrm>
          <a:prstGeom prst="rect">
            <a:avLst/>
          </a:prstGeom>
        </p:spPr>
      </p:pic>
      <p:sp>
        <p:nvSpPr>
          <p:cNvPr id="11622021" name="Text 16"/>
          <p:cNvSpPr txBox="1"/>
          <p:nvPr/>
        </p:nvSpPr>
        <p:spPr bwMode="auto">
          <a:xfrm>
            <a:off x="505419" y="4538668"/>
            <a:ext cx="5476874" cy="19049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024"/>
              </a:lnSpc>
              <a:buNone/>
              <a:defRPr/>
            </a:pPr>
            <a:endParaRPr lang="en-US" sz="1350"/>
          </a:p>
        </p:txBody>
      </p:sp>
      <p:sp>
        <p:nvSpPr>
          <p:cNvPr id="876165524" name="Text 17"/>
          <p:cNvSpPr txBox="1"/>
          <p:nvPr/>
        </p:nvSpPr>
        <p:spPr bwMode="auto">
          <a:xfrm>
            <a:off x="676869" y="4691067"/>
            <a:ext cx="972882" cy="144630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079"/>
              </a:lnSpc>
              <a:buNone/>
              <a:defRPr/>
            </a:pPr>
            <a:r>
              <a:rPr lang="de-DE" sz="900" b="1" spc="18">
                <a:solidFill>
                  <a:srgbClr val="EAEEF2"/>
                </a:solidFill>
                <a:latin typeface="Space Grotesk"/>
                <a:ea typeface="Space Grotesk"/>
                <a:cs typeface="Space Grotesk"/>
              </a:rPr>
              <a:t>memory anomaly</a:t>
            </a:r>
            <a:endParaRPr lang="en-US" sz="900"/>
          </a:p>
        </p:txBody>
      </p:sp>
      <p:sp>
        <p:nvSpPr>
          <p:cNvPr id="1702799203" name="Text 18"/>
          <p:cNvSpPr txBox="1"/>
          <p:nvPr/>
        </p:nvSpPr>
        <p:spPr bwMode="auto">
          <a:xfrm>
            <a:off x="676869" y="4913863"/>
            <a:ext cx="5133974" cy="147637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37"/>
              </a:lnSpc>
              <a:buNone/>
              <a:defRPr/>
            </a:pPr>
            <a:r>
              <a:rPr lang="en-US" sz="850">
                <a:solidFill>
                  <a:srgbClr val="67F4E2"/>
                </a:solidFill>
                <a:latin typeface="JetBrains Mono"/>
                <a:ea typeface="JetBrains Mono"/>
                <a:cs typeface="JetBrains Mono"/>
              </a:rPr>
              <a:t>request_count • Sum &lt;1 • 300s period • missing data BREACHING</a:t>
            </a:r>
            <a:endParaRPr lang="en-US" sz="850"/>
          </a:p>
        </p:txBody>
      </p:sp>
      <p:pic>
        <p:nvPicPr>
          <p:cNvPr id="258902609" name="Image 9" descr="preencoded.png"/>
          <p:cNvPicPr>
            <a:picLocks noChangeAspect="1"/>
          </p:cNvPicPr>
          <p:nvPr/>
        </p:nvPicPr>
        <p:blipFill rotWithShape="1">
          <a:blip r:embed="rId12"/>
          <a:stretch/>
        </p:blipFill>
        <p:spPr bwMode="auto">
          <a:xfrm>
            <a:off x="676869" y="5156751"/>
            <a:ext cx="780900" cy="238124"/>
          </a:xfrm>
          <a:prstGeom prst="rect">
            <a:avLst/>
          </a:prstGeom>
        </p:spPr>
      </p:pic>
      <p:sp>
        <p:nvSpPr>
          <p:cNvPr id="1589504250" name="Text 19"/>
          <p:cNvSpPr txBox="1"/>
          <p:nvPr/>
        </p:nvSpPr>
        <p:spPr bwMode="auto">
          <a:xfrm>
            <a:off x="762594" y="5213901"/>
            <a:ext cx="609450" cy="133349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24"/>
              </a:lnSpc>
              <a:buNone/>
              <a:defRPr/>
            </a:pPr>
            <a:r>
              <a:rPr lang="en-US" sz="750">
                <a:solidFill>
                  <a:srgbClr val="EAEEF2"/>
                </a:solidFill>
                <a:highlight>
                  <a:srgbClr val="6BF7DE"/>
                </a:highlight>
                <a:latin typeface="Inter"/>
                <a:ea typeface="Inter"/>
                <a:cs typeface="Inter"/>
              </a:rPr>
              <a:t>Health-check</a:t>
            </a:r>
            <a:endParaRPr lang="en-US" sz="750"/>
          </a:p>
        </p:txBody>
      </p:sp>
      <p:pic>
        <p:nvPicPr>
          <p:cNvPr id="1622623502" name="Image 10" descr="preencoded.png"/>
          <p:cNvPicPr>
            <a:picLocks noChangeAspect="1"/>
          </p:cNvPicPr>
          <p:nvPr/>
        </p:nvPicPr>
        <p:blipFill rotWithShape="1">
          <a:blip r:embed="rId13"/>
          <a:stretch/>
        </p:blipFill>
        <p:spPr bwMode="auto">
          <a:xfrm>
            <a:off x="1533970" y="5156751"/>
            <a:ext cx="855165" cy="238124"/>
          </a:xfrm>
          <a:prstGeom prst="rect">
            <a:avLst/>
          </a:prstGeom>
        </p:spPr>
      </p:pic>
      <p:sp>
        <p:nvSpPr>
          <p:cNvPr id="1894657873" name="Text 20"/>
          <p:cNvSpPr txBox="1"/>
          <p:nvPr/>
        </p:nvSpPr>
        <p:spPr bwMode="auto">
          <a:xfrm>
            <a:off x="1619695" y="5213901"/>
            <a:ext cx="683715" cy="133349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24"/>
              </a:lnSpc>
              <a:buNone/>
              <a:defRPr/>
            </a:pPr>
            <a:r>
              <a:rPr lang="en-US" sz="750">
                <a:solidFill>
                  <a:srgbClr val="EAEDF2">
                    <a:alpha val="80000"/>
                  </a:srgbClr>
                </a:solidFill>
                <a:highlight>
                  <a:srgbClr val="E6F2F2"/>
                </a:highlight>
                <a:latin typeface="Inter"/>
                <a:ea typeface="Inter"/>
                <a:cs typeface="Inter"/>
              </a:rPr>
              <a:t>1 req /5min min</a:t>
            </a:r>
            <a:endParaRPr lang="en-US" sz="750"/>
          </a:p>
        </p:txBody>
      </p:sp>
      <p:pic>
        <p:nvPicPr>
          <p:cNvPr id="1978310896" name="Image 11" descr="preencoded.png"/>
          <p:cNvPicPr>
            <a:picLocks noChangeAspect="1"/>
          </p:cNvPicPr>
          <p:nvPr/>
        </p:nvPicPr>
        <p:blipFill rotWithShape="1">
          <a:blip r:embed="rId14"/>
          <a:stretch/>
        </p:blipFill>
        <p:spPr bwMode="auto">
          <a:xfrm>
            <a:off x="2465337" y="5156751"/>
            <a:ext cx="1000422" cy="238124"/>
          </a:xfrm>
          <a:prstGeom prst="rect">
            <a:avLst/>
          </a:prstGeom>
        </p:spPr>
      </p:pic>
      <p:sp>
        <p:nvSpPr>
          <p:cNvPr id="2045769097" name="Text 21"/>
          <p:cNvSpPr txBox="1"/>
          <p:nvPr/>
        </p:nvSpPr>
        <p:spPr bwMode="auto">
          <a:xfrm>
            <a:off x="2551062" y="5213901"/>
            <a:ext cx="828972" cy="133349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24"/>
              </a:lnSpc>
              <a:buNone/>
              <a:defRPr/>
            </a:pPr>
            <a:r>
              <a:rPr lang="en-US" sz="750">
                <a:solidFill>
                  <a:srgbClr val="EAEDF2">
                    <a:alpha val="80000"/>
                  </a:srgbClr>
                </a:solidFill>
                <a:highlight>
                  <a:srgbClr val="E6F2F2"/>
                </a:highlight>
                <a:latin typeface="Inter"/>
                <a:ea typeface="Inter"/>
                <a:cs typeface="Inter"/>
              </a:rPr>
              <a:t>Missing → ALARM</a:t>
            </a:r>
            <a:endParaRPr lang="en-US" sz="750"/>
          </a:p>
        </p:txBody>
      </p:sp>
      <p:pic>
        <p:nvPicPr>
          <p:cNvPr id="1953428459" name="Image 8" descr="preencoded.png"/>
          <p:cNvPicPr>
            <a:picLocks noChangeAspect="1"/>
          </p:cNvPicPr>
          <p:nvPr/>
        </p:nvPicPr>
        <p:blipFill rotWithShape="1">
          <a:blip r:embed="rId11"/>
          <a:stretch/>
        </p:blipFill>
        <p:spPr bwMode="auto">
          <a:xfrm>
            <a:off x="6162674" y="4529143"/>
            <a:ext cx="5495924" cy="1410444"/>
          </a:xfrm>
          <a:prstGeom prst="rect">
            <a:avLst/>
          </a:prstGeom>
        </p:spPr>
      </p:pic>
      <p:sp>
        <p:nvSpPr>
          <p:cNvPr id="1239033773" name="Text 16"/>
          <p:cNvSpPr txBox="1"/>
          <p:nvPr/>
        </p:nvSpPr>
        <p:spPr bwMode="auto">
          <a:xfrm>
            <a:off x="6172200" y="4538668"/>
            <a:ext cx="5476874" cy="19049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024"/>
              </a:lnSpc>
              <a:buNone/>
              <a:defRPr/>
            </a:pPr>
            <a:endParaRPr lang="en-US" sz="1350"/>
          </a:p>
        </p:txBody>
      </p:sp>
      <p:sp>
        <p:nvSpPr>
          <p:cNvPr id="178917849" name="Text 17"/>
          <p:cNvSpPr txBox="1"/>
          <p:nvPr/>
        </p:nvSpPr>
        <p:spPr bwMode="auto">
          <a:xfrm>
            <a:off x="6343650" y="4691067"/>
            <a:ext cx="611865" cy="146430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079"/>
              </a:lnSpc>
              <a:buNone/>
              <a:defRPr/>
            </a:pPr>
            <a:r>
              <a:rPr lang="de-DE" sz="900" b="1" spc="18">
                <a:solidFill>
                  <a:srgbClr val="EAEEF2"/>
                </a:solidFill>
                <a:latin typeface="Space Grotesk"/>
                <a:ea typeface="Space Grotesk"/>
                <a:cs typeface="Space Grotesk"/>
              </a:rPr>
              <a:t>Composite</a:t>
            </a:r>
            <a:endParaRPr lang="en-US" sz="900"/>
          </a:p>
        </p:txBody>
      </p:sp>
      <p:sp>
        <p:nvSpPr>
          <p:cNvPr id="1816509743" name="Text 18"/>
          <p:cNvSpPr txBox="1"/>
          <p:nvPr/>
        </p:nvSpPr>
        <p:spPr bwMode="auto">
          <a:xfrm>
            <a:off x="6343650" y="4913863"/>
            <a:ext cx="975675" cy="154837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37"/>
              </a:lnSpc>
              <a:buNone/>
              <a:defRPr/>
            </a:pPr>
            <a:r>
              <a:rPr lang="de-DE" sz="850">
                <a:solidFill>
                  <a:srgbClr val="67F4E2"/>
                </a:solidFill>
                <a:latin typeface="JetBrains Mono"/>
                <a:ea typeface="JetBrains Mono"/>
                <a:cs typeface="JetBrains Mono"/>
              </a:rPr>
              <a:t>anomaly + error rate</a:t>
            </a:r>
            <a:endParaRPr lang="en-US" sz="850"/>
          </a:p>
        </p:txBody>
      </p:sp>
      <p:pic>
        <p:nvPicPr>
          <p:cNvPr id="2116047351" name="Image 9" descr="preencoded.png"/>
          <p:cNvPicPr>
            <a:picLocks noChangeAspect="1"/>
          </p:cNvPicPr>
          <p:nvPr/>
        </p:nvPicPr>
        <p:blipFill rotWithShape="1">
          <a:blip r:embed="rId12"/>
          <a:stretch/>
        </p:blipFill>
        <p:spPr bwMode="auto">
          <a:xfrm>
            <a:off x="6343650" y="5156751"/>
            <a:ext cx="780900" cy="238124"/>
          </a:xfrm>
          <a:prstGeom prst="rect">
            <a:avLst/>
          </a:prstGeom>
        </p:spPr>
      </p:pic>
      <p:sp>
        <p:nvSpPr>
          <p:cNvPr id="1547949446" name="Text 19"/>
          <p:cNvSpPr txBox="1"/>
          <p:nvPr/>
        </p:nvSpPr>
        <p:spPr bwMode="auto">
          <a:xfrm>
            <a:off x="6429375" y="5213901"/>
            <a:ext cx="609450" cy="133349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24"/>
              </a:lnSpc>
              <a:buNone/>
              <a:defRPr/>
            </a:pPr>
            <a:r>
              <a:rPr lang="en-US" sz="750">
                <a:solidFill>
                  <a:srgbClr val="EAEEF2"/>
                </a:solidFill>
                <a:highlight>
                  <a:srgbClr val="6BF7DE"/>
                </a:highlight>
                <a:latin typeface="Inter"/>
                <a:ea typeface="Inter"/>
                <a:cs typeface="Inter"/>
              </a:rPr>
              <a:t>Health-check</a:t>
            </a:r>
            <a:endParaRPr lang="en-US" sz="750"/>
          </a:p>
        </p:txBody>
      </p:sp>
      <p:pic>
        <p:nvPicPr>
          <p:cNvPr id="1790551738" name="Image 10" descr="preencoded.png"/>
          <p:cNvPicPr>
            <a:picLocks noChangeAspect="1"/>
          </p:cNvPicPr>
          <p:nvPr/>
        </p:nvPicPr>
        <p:blipFill rotWithShape="1">
          <a:blip r:embed="rId13"/>
          <a:stretch/>
        </p:blipFill>
        <p:spPr bwMode="auto">
          <a:xfrm>
            <a:off x="7200750" y="5156751"/>
            <a:ext cx="855165" cy="238124"/>
          </a:xfrm>
          <a:prstGeom prst="rect">
            <a:avLst/>
          </a:prstGeom>
        </p:spPr>
      </p:pic>
      <p:sp>
        <p:nvSpPr>
          <p:cNvPr id="1926220060" name="Text 20"/>
          <p:cNvSpPr txBox="1"/>
          <p:nvPr/>
        </p:nvSpPr>
        <p:spPr bwMode="auto">
          <a:xfrm>
            <a:off x="7286475" y="5213901"/>
            <a:ext cx="683715" cy="133349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24"/>
              </a:lnSpc>
              <a:buNone/>
              <a:defRPr/>
            </a:pPr>
            <a:r>
              <a:rPr lang="en-US" sz="750">
                <a:solidFill>
                  <a:srgbClr val="EAEDF2">
                    <a:alpha val="80000"/>
                  </a:srgbClr>
                </a:solidFill>
                <a:highlight>
                  <a:srgbClr val="E6F2F2"/>
                </a:highlight>
                <a:latin typeface="Inter"/>
                <a:ea typeface="Inter"/>
                <a:cs typeface="Inter"/>
              </a:rPr>
              <a:t>1 req /5min min</a:t>
            </a:r>
            <a:endParaRPr lang="en-US" sz="750"/>
          </a:p>
        </p:txBody>
      </p:sp>
      <p:pic>
        <p:nvPicPr>
          <p:cNvPr id="820684858" name="Image 11" descr="preencoded.png"/>
          <p:cNvPicPr>
            <a:picLocks noChangeAspect="1"/>
          </p:cNvPicPr>
          <p:nvPr/>
        </p:nvPicPr>
        <p:blipFill rotWithShape="1">
          <a:blip r:embed="rId14"/>
          <a:stretch/>
        </p:blipFill>
        <p:spPr bwMode="auto">
          <a:xfrm>
            <a:off x="8132117" y="5156751"/>
            <a:ext cx="1000422" cy="238124"/>
          </a:xfrm>
          <a:prstGeom prst="rect">
            <a:avLst/>
          </a:prstGeom>
        </p:spPr>
      </p:pic>
      <p:sp>
        <p:nvSpPr>
          <p:cNvPr id="458286246" name="Text 21"/>
          <p:cNvSpPr txBox="1"/>
          <p:nvPr/>
        </p:nvSpPr>
        <p:spPr bwMode="auto">
          <a:xfrm>
            <a:off x="8217842" y="5213901"/>
            <a:ext cx="828972" cy="133349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24"/>
              </a:lnSpc>
              <a:buNone/>
              <a:defRPr/>
            </a:pPr>
            <a:r>
              <a:rPr lang="en-US" sz="750">
                <a:solidFill>
                  <a:srgbClr val="EAEDF2">
                    <a:alpha val="80000"/>
                  </a:srgbClr>
                </a:solidFill>
                <a:highlight>
                  <a:srgbClr val="E6F2F2"/>
                </a:highlight>
                <a:latin typeface="Inter"/>
                <a:ea typeface="Inter"/>
                <a:cs typeface="Inter"/>
              </a:rPr>
              <a:t>Missing → ALARM</a:t>
            </a:r>
            <a:endParaRPr lang="en-US" sz="75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5">
    <p:bg>
      <p:bgPr shadeToTitle="0">
        <a:solidFill>
          <a:srgbClr val="18162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82114511" name="Text 0"/>
          <p:cNvSpPr txBox="1"/>
          <p:nvPr/>
        </p:nvSpPr>
        <p:spPr bwMode="auto">
          <a:xfrm>
            <a:off x="533399" y="457200"/>
            <a:ext cx="3907618" cy="416482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450"/>
              </a:lnSpc>
              <a:buNone/>
              <a:defRPr/>
            </a:pPr>
            <a:r>
              <a:rPr lang="en-US" sz="3450" b="1" spc="-69">
                <a:solidFill>
                  <a:srgbClr val="EAEEF2"/>
                </a:solidFill>
                <a:latin typeface="Space Grotesk"/>
                <a:ea typeface="Space Grotesk"/>
                <a:cs typeface="Space Grotesk"/>
              </a:rPr>
              <a:t>Structured Logging </a:t>
            </a:r>
            <a:endParaRPr lang="en-US" sz="3450"/>
          </a:p>
        </p:txBody>
      </p:sp>
      <p:sp>
        <p:nvSpPr>
          <p:cNvPr id="1558648001" name="Text 3"/>
          <p:cNvSpPr txBox="1"/>
          <p:nvPr/>
        </p:nvSpPr>
        <p:spPr bwMode="auto">
          <a:xfrm>
            <a:off x="533399" y="4416622"/>
            <a:ext cx="756" cy="173595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65"/>
              </a:lnSpc>
              <a:buNone/>
              <a:defRPr/>
            </a:pPr>
            <a:endParaRPr lang="en-US" sz="1000"/>
          </a:p>
        </p:txBody>
      </p:sp>
      <p:sp>
        <p:nvSpPr>
          <p:cNvPr id="784387038" name="Text 8"/>
          <p:cNvSpPr txBox="1"/>
          <p:nvPr/>
        </p:nvSpPr>
        <p:spPr bwMode="auto">
          <a:xfrm>
            <a:off x="3490019" y="1325661"/>
            <a:ext cx="5211961" cy="147638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38"/>
              </a:lnSpc>
              <a:buNone/>
              <a:defRPr/>
            </a:pPr>
            <a:r>
              <a:rPr lang="en-US" sz="850" b="1" spc="99">
                <a:solidFill>
                  <a:srgbClr val="67F4E2"/>
                </a:solidFill>
                <a:latin typeface="Inter"/>
                <a:ea typeface="Inter"/>
                <a:cs typeface="Inter"/>
              </a:rPr>
              <a:t>OUTPUT — app.log / journalctl -u myapp</a:t>
            </a:r>
            <a:endParaRPr lang="en-US" sz="850"/>
          </a:p>
        </p:txBody>
      </p:sp>
      <p:pic>
        <p:nvPicPr>
          <p:cNvPr id="1700652519" name="Image 1" descr="preencoded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2775203" y="1847849"/>
            <a:ext cx="5211961" cy="3152775"/>
          </a:xfrm>
          <a:prstGeom prst="rect">
            <a:avLst/>
          </a:prstGeom>
        </p:spPr>
      </p:pic>
      <p:sp>
        <p:nvSpPr>
          <p:cNvPr id="677585808" name="Text 9"/>
          <p:cNvSpPr txBox="1"/>
          <p:nvPr/>
        </p:nvSpPr>
        <p:spPr bwMode="auto">
          <a:xfrm>
            <a:off x="2956178" y="2019299"/>
            <a:ext cx="4850011" cy="2819400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38"/>
              </a:lnSpc>
              <a:buNone/>
              <a:defRPr/>
            </a:pPr>
            <a:r>
              <a:rPr lang="en-US" sz="1400">
                <a:solidFill>
                  <a:srgbClr val="EAEEF2"/>
                </a:solidFill>
                <a:latin typeface="Calibri"/>
                <a:ea typeface="Calibri"/>
                <a:cs typeface="Calibri"/>
              </a:rPr>
              <a:t> {</a:t>
            </a:r>
            <a:endParaRPr sz="1400">
              <a:latin typeface="Calibri"/>
              <a:cs typeface="Calibri"/>
            </a:endParaRPr>
          </a:p>
          <a:p>
            <a:pPr marL="0" indent="0" algn="l">
              <a:lnSpc>
                <a:spcPts val="1238"/>
              </a:lnSpc>
              <a:buNone/>
              <a:defRPr/>
            </a:pPr>
            <a:r>
              <a:rPr lang="en-US" sz="1400">
                <a:solidFill>
                  <a:srgbClr val="EAEEF2"/>
                </a:solidFill>
                <a:latin typeface="Calibri"/>
                <a:ea typeface="Calibri"/>
                <a:cs typeface="Calibri"/>
              </a:rPr>
              <a:t> "event": "order_created",</a:t>
            </a:r>
            <a:endParaRPr sz="1400">
              <a:latin typeface="Calibri"/>
              <a:cs typeface="Calibri"/>
            </a:endParaRPr>
          </a:p>
          <a:p>
            <a:pPr marL="0" indent="0" algn="l">
              <a:lnSpc>
                <a:spcPts val="1238"/>
              </a:lnSpc>
              <a:buNone/>
              <a:defRPr/>
            </a:pPr>
            <a:r>
              <a:rPr lang="en-US" sz="1400">
                <a:solidFill>
                  <a:srgbClr val="EAEEF2"/>
                </a:solidFill>
                <a:latin typeface="Calibri"/>
                <a:ea typeface="Calibri"/>
                <a:cs typeface="Calibri"/>
              </a:rPr>
              <a:t> "order_id": "09bcdd18-fd61-48b5-94a8...",</a:t>
            </a:r>
            <a:endParaRPr sz="1400">
              <a:latin typeface="Calibri"/>
              <a:cs typeface="Calibri"/>
            </a:endParaRPr>
          </a:p>
          <a:p>
            <a:pPr marL="0" indent="0" algn="l">
              <a:lnSpc>
                <a:spcPts val="1238"/>
              </a:lnSpc>
              <a:buNone/>
              <a:defRPr/>
            </a:pPr>
            <a:r>
              <a:rPr lang="en-US" sz="1400">
                <a:solidFill>
                  <a:srgbClr val="EAEEF2"/>
                </a:solidFill>
                <a:latin typeface="Calibri"/>
                <a:ea typeface="Calibri"/>
                <a:cs typeface="Calibri"/>
              </a:rPr>
              <a:t> "amount": 150,</a:t>
            </a:r>
            <a:endParaRPr sz="1400">
              <a:latin typeface="Calibri"/>
              <a:cs typeface="Calibri"/>
            </a:endParaRPr>
          </a:p>
          <a:p>
            <a:pPr marL="0" indent="0" algn="l">
              <a:lnSpc>
                <a:spcPts val="1238"/>
              </a:lnSpc>
              <a:buNone/>
              <a:defRPr/>
            </a:pPr>
            <a:r>
              <a:rPr lang="en-US" sz="1400">
                <a:solidFill>
                  <a:srgbClr val="EAEEF2"/>
                </a:solidFill>
                <a:latin typeface="Calibri"/>
                <a:ea typeface="Calibri"/>
                <a:cs typeface="Calibri"/>
              </a:rPr>
              <a:t> "correlation_id": "51e9ef29-4528-4582-a712...",</a:t>
            </a:r>
            <a:endParaRPr sz="1400">
              <a:latin typeface="Calibri"/>
              <a:cs typeface="Calibri"/>
            </a:endParaRPr>
          </a:p>
          <a:p>
            <a:pPr marL="0" indent="0" algn="l">
              <a:lnSpc>
                <a:spcPts val="1238"/>
              </a:lnSpc>
              <a:buNone/>
              <a:defRPr/>
            </a:pPr>
            <a:r>
              <a:rPr lang="en-US" sz="1400">
                <a:solidFill>
                  <a:srgbClr val="EAEEF2"/>
                </a:solidFill>
                <a:latin typeface="Calibri"/>
                <a:ea typeface="Calibri"/>
                <a:cs typeface="Calibri"/>
              </a:rPr>
              <a:t> "timestamp": "2026-08-13T12:58:26.558Z"</a:t>
            </a:r>
            <a:endParaRPr sz="1400">
              <a:latin typeface="Calibri"/>
              <a:cs typeface="Calibri"/>
            </a:endParaRPr>
          </a:p>
          <a:p>
            <a:pPr marL="0" indent="0" algn="l">
              <a:lnSpc>
                <a:spcPts val="1238"/>
              </a:lnSpc>
              <a:buNone/>
              <a:defRPr/>
            </a:pPr>
            <a:r>
              <a:rPr lang="en-US" sz="1400">
                <a:solidFill>
                  <a:srgbClr val="EAEEF2"/>
                </a:solidFill>
                <a:latin typeface="Calibri"/>
                <a:ea typeface="Calibri"/>
                <a:cs typeface="Calibri"/>
              </a:rPr>
              <a:t> }</a:t>
            </a:r>
            <a:endParaRPr sz="1400">
              <a:latin typeface="Calibri"/>
              <a:cs typeface="Calibri"/>
            </a:endParaRPr>
          </a:p>
          <a:p>
            <a:pPr marL="0" indent="0" algn="l">
              <a:lnSpc>
                <a:spcPts val="1238"/>
              </a:lnSpc>
              <a:buNone/>
              <a:defRPr/>
            </a:pPr>
            <a:r>
              <a:rPr lang="en-US" sz="1400">
                <a:solidFill>
                  <a:srgbClr val="EAEEF2"/>
                </a:solidFill>
                <a:latin typeface="Calibri"/>
                <a:ea typeface="Calibri"/>
                <a:cs typeface="Calibri"/>
              </a:rPr>
              <a:t> {</a:t>
            </a:r>
            <a:endParaRPr sz="1400">
              <a:latin typeface="Calibri"/>
              <a:cs typeface="Calibri"/>
            </a:endParaRPr>
          </a:p>
          <a:p>
            <a:pPr marL="0" indent="0" algn="l">
              <a:lnSpc>
                <a:spcPts val="1238"/>
              </a:lnSpc>
              <a:buNone/>
              <a:defRPr/>
            </a:pPr>
            <a:r>
              <a:rPr lang="en-US" sz="1400">
                <a:solidFill>
                  <a:srgbClr val="EAEEF2"/>
                </a:solidFill>
                <a:latin typeface="Calibri"/>
                <a:ea typeface="Calibri"/>
                <a:cs typeface="Calibri"/>
              </a:rPr>
              <a:t> "event": "request_completed",</a:t>
            </a:r>
            <a:endParaRPr sz="1400">
              <a:latin typeface="Calibri"/>
              <a:cs typeface="Calibri"/>
            </a:endParaRPr>
          </a:p>
          <a:p>
            <a:pPr marL="0" indent="0" algn="l">
              <a:lnSpc>
                <a:spcPts val="1238"/>
              </a:lnSpc>
              <a:buNone/>
              <a:defRPr/>
            </a:pPr>
            <a:r>
              <a:rPr lang="en-US" sz="1400">
                <a:solidFill>
                  <a:srgbClr val="EAEEF2"/>
                </a:solidFill>
                <a:latin typeface="Calibri"/>
                <a:ea typeface="Calibri"/>
                <a:cs typeface="Calibri"/>
              </a:rPr>
              <a:t> "correlation_id": "51e9ef29...",</a:t>
            </a:r>
            <a:endParaRPr sz="1400">
              <a:latin typeface="Calibri"/>
              <a:cs typeface="Calibri"/>
            </a:endParaRPr>
          </a:p>
          <a:p>
            <a:pPr marL="0" indent="0" algn="l">
              <a:lnSpc>
                <a:spcPts val="1238"/>
              </a:lnSpc>
              <a:buNone/>
              <a:defRPr/>
            </a:pPr>
            <a:r>
              <a:rPr lang="en-US" sz="1400">
                <a:solidFill>
                  <a:srgbClr val="EAEEF2"/>
                </a:solidFill>
                <a:latin typeface="Calibri"/>
                <a:ea typeface="Calibri"/>
                <a:cs typeface="Calibri"/>
              </a:rPr>
              <a:t> "method": "POST",</a:t>
            </a:r>
            <a:endParaRPr sz="1400">
              <a:latin typeface="Calibri"/>
              <a:cs typeface="Calibri"/>
            </a:endParaRPr>
          </a:p>
          <a:p>
            <a:pPr marL="0" indent="0" algn="l">
              <a:lnSpc>
                <a:spcPts val="1238"/>
              </a:lnSpc>
              <a:buNone/>
              <a:defRPr/>
            </a:pPr>
            <a:r>
              <a:rPr lang="en-US" sz="1400">
                <a:solidFill>
                  <a:srgbClr val="EAEEF2"/>
                </a:solidFill>
                <a:latin typeface="Calibri"/>
                <a:ea typeface="Calibri"/>
                <a:cs typeface="Calibri"/>
              </a:rPr>
              <a:t> "path": "/orders",</a:t>
            </a:r>
            <a:endParaRPr sz="1400">
              <a:latin typeface="Calibri"/>
              <a:cs typeface="Calibri"/>
            </a:endParaRPr>
          </a:p>
          <a:p>
            <a:pPr marL="0" indent="0" algn="l">
              <a:lnSpc>
                <a:spcPts val="1238"/>
              </a:lnSpc>
              <a:buNone/>
              <a:defRPr/>
            </a:pPr>
            <a:r>
              <a:rPr lang="en-US" sz="1400">
                <a:solidFill>
                  <a:srgbClr val="EAEEF2"/>
                </a:solidFill>
                <a:latin typeface="Calibri"/>
                <a:ea typeface="Calibri"/>
                <a:cs typeface="Calibri"/>
              </a:rPr>
              <a:t> "status_code": 201,</a:t>
            </a:r>
            <a:endParaRPr sz="1400">
              <a:latin typeface="Calibri"/>
              <a:cs typeface="Calibri"/>
            </a:endParaRPr>
          </a:p>
          <a:p>
            <a:pPr marL="0" indent="0" algn="l">
              <a:lnSpc>
                <a:spcPts val="1238"/>
              </a:lnSpc>
              <a:buNone/>
              <a:defRPr/>
            </a:pPr>
            <a:r>
              <a:rPr lang="en-US" sz="1400">
                <a:solidFill>
                  <a:srgbClr val="EAEEF2"/>
                </a:solidFill>
                <a:latin typeface="Calibri"/>
                <a:ea typeface="Calibri"/>
                <a:cs typeface="Calibri"/>
              </a:rPr>
              <a:t> "latency_ms": 41,</a:t>
            </a:r>
            <a:endParaRPr sz="1400">
              <a:latin typeface="Calibri"/>
              <a:cs typeface="Calibri"/>
            </a:endParaRPr>
          </a:p>
          <a:p>
            <a:pPr marL="0" indent="0" algn="l">
              <a:lnSpc>
                <a:spcPts val="1238"/>
              </a:lnSpc>
              <a:buNone/>
              <a:defRPr/>
            </a:pPr>
            <a:r>
              <a:rPr lang="en-US" sz="1400">
                <a:solidFill>
                  <a:srgbClr val="EAEEF2"/>
                </a:solidFill>
                <a:latin typeface="Calibri"/>
                <a:ea typeface="Calibri"/>
                <a:cs typeface="Calibri"/>
              </a:rPr>
              <a:t> "level": "INFO",</a:t>
            </a:r>
            <a:endParaRPr sz="1400">
              <a:latin typeface="Calibri"/>
              <a:cs typeface="Calibri"/>
            </a:endParaRPr>
          </a:p>
          <a:p>
            <a:pPr marL="0" indent="0" algn="l">
              <a:lnSpc>
                <a:spcPts val="1238"/>
              </a:lnSpc>
              <a:buNone/>
              <a:defRPr/>
            </a:pPr>
            <a:r>
              <a:rPr lang="en-US" sz="1400">
                <a:solidFill>
                  <a:srgbClr val="EAEEF2"/>
                </a:solidFill>
                <a:latin typeface="Calibri"/>
                <a:ea typeface="Calibri"/>
                <a:cs typeface="Calibri"/>
              </a:rPr>
              <a:t> "timestamp": "2026-08-13T12:58:26.599Z"</a:t>
            </a:r>
            <a:endParaRPr sz="1400">
              <a:latin typeface="Calibri"/>
              <a:cs typeface="Calibri"/>
            </a:endParaRPr>
          </a:p>
          <a:p>
            <a:pPr marL="0" indent="0" algn="l">
              <a:lnSpc>
                <a:spcPts val="1238"/>
              </a:lnSpc>
              <a:buNone/>
              <a:defRPr/>
            </a:pPr>
            <a:r>
              <a:rPr lang="en-US" sz="1400">
                <a:solidFill>
                  <a:srgbClr val="EAEEF2"/>
                </a:solidFill>
                <a:latin typeface="Calibri"/>
                <a:ea typeface="Calibri"/>
                <a:cs typeface="Calibri"/>
              </a:rPr>
              <a:t> } </a:t>
            </a:r>
            <a:endParaRPr sz="1400">
              <a:latin typeface="Calibri"/>
              <a:cs typeface="Calibr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43870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06525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75858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4">
    <p:bg>
      <p:bgPr shadeToTitle="0">
        <a:solidFill>
          <a:srgbClr val="18162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44259589" name="Text 0"/>
          <p:cNvSpPr txBox="1"/>
          <p:nvPr/>
        </p:nvSpPr>
        <p:spPr bwMode="auto">
          <a:xfrm>
            <a:off x="533399" y="457200"/>
            <a:ext cx="6618767" cy="422242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450"/>
              </a:lnSpc>
              <a:buNone/>
              <a:defRPr/>
            </a:pPr>
            <a:r>
              <a:rPr lang="en-US" sz="3450" b="1" spc="-69">
                <a:solidFill>
                  <a:srgbClr val="EAEEF2"/>
                </a:solidFill>
                <a:latin typeface="Space Grotesk"/>
                <a:ea typeface="Space Grotesk"/>
                <a:cs typeface="Space Grotesk"/>
              </a:rPr>
              <a:t>Instrumentation — </a:t>
            </a:r>
            <a:r>
              <a:rPr lang="de-DE" sz="3450" b="1" spc="-68">
                <a:solidFill>
                  <a:srgbClr val="EAEEF2"/>
                </a:solidFill>
                <a:latin typeface="Space Grotesk"/>
                <a:ea typeface="Space Grotesk"/>
                <a:cs typeface="Space Grotesk"/>
              </a:rPr>
              <a:t>Key Decitions</a:t>
            </a:r>
            <a:endParaRPr lang="en-US" sz="3450"/>
          </a:p>
        </p:txBody>
      </p:sp>
      <p:pic>
        <p:nvPicPr>
          <p:cNvPr id="951293022" name="Image 0" descr="preencoded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533400" y="1082873"/>
            <a:ext cx="5476875" cy="2496592"/>
          </a:xfrm>
          <a:prstGeom prst="rect">
            <a:avLst/>
          </a:prstGeom>
        </p:spPr>
      </p:pic>
      <p:sp>
        <p:nvSpPr>
          <p:cNvPr id="111297844" name="Text 1"/>
          <p:cNvSpPr txBox="1"/>
          <p:nvPr/>
        </p:nvSpPr>
        <p:spPr bwMode="auto">
          <a:xfrm>
            <a:off x="752475" y="1282898"/>
            <a:ext cx="5038725" cy="125611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990"/>
              </a:lnSpc>
              <a:buNone/>
              <a:defRPr/>
            </a:pPr>
            <a:r>
              <a:rPr lang="en-US" sz="850" b="1" spc="99">
                <a:solidFill>
                  <a:srgbClr val="67F4E2"/>
                </a:solidFill>
                <a:latin typeface="Space Grotesk"/>
                <a:ea typeface="Space Grotesk"/>
                <a:cs typeface="Space Grotesk"/>
              </a:rPr>
              <a:t>STRUCTURED LOGGING</a:t>
            </a:r>
            <a:endParaRPr lang="en-US" sz="850"/>
          </a:p>
        </p:txBody>
      </p:sp>
      <p:sp>
        <p:nvSpPr>
          <p:cNvPr id="1234485164" name="Text 2"/>
          <p:cNvSpPr txBox="1"/>
          <p:nvPr/>
        </p:nvSpPr>
        <p:spPr bwMode="auto">
          <a:xfrm>
            <a:off x="752475" y="1503758"/>
            <a:ext cx="5038725" cy="209550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650"/>
              </a:lnSpc>
              <a:buNone/>
              <a:defRPr/>
            </a:pPr>
            <a:r>
              <a:rPr lang="en-US" sz="1500" b="1" spc="-22">
                <a:solidFill>
                  <a:srgbClr val="EAEEF2"/>
                </a:solidFill>
                <a:latin typeface="Space Grotesk"/>
                <a:ea typeface="Space Grotesk"/>
                <a:cs typeface="Space Grotesk"/>
              </a:rPr>
              <a:t>structlog JSONRenderer + TimeStamper ISO</a:t>
            </a:r>
            <a:endParaRPr lang="en-US" sz="1500"/>
          </a:p>
        </p:txBody>
      </p:sp>
      <p:pic>
        <p:nvPicPr>
          <p:cNvPr id="252508751" name="Image 1" descr="preencoded.png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>
            <a:off x="752475" y="1808559"/>
            <a:ext cx="5038725" cy="362843"/>
          </a:xfrm>
          <a:prstGeom prst="rect">
            <a:avLst/>
          </a:prstGeom>
        </p:spPr>
      </p:pic>
      <p:sp>
        <p:nvSpPr>
          <p:cNvPr id="2142934935" name="Text 3"/>
          <p:cNvSpPr txBox="1"/>
          <p:nvPr/>
        </p:nvSpPr>
        <p:spPr bwMode="auto">
          <a:xfrm>
            <a:off x="876299" y="1922859"/>
            <a:ext cx="4791075" cy="143768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08"/>
              </a:lnSpc>
              <a:buNone/>
              <a:defRPr/>
            </a:pPr>
            <a:r>
              <a:rPr lang="en-US" sz="850">
                <a:solidFill>
                  <a:srgbClr val="EAEEF2"/>
                </a:solidFill>
                <a:latin typeface="Inter"/>
                <a:ea typeface="Inter"/>
                <a:cs typeface="Inter"/>
              </a:rPr>
              <a:t>log.info("request_completed", correlation_id, method, path, status_code, latency_ms, level)</a:t>
            </a:r>
            <a:endParaRPr lang="en-US" sz="850"/>
          </a:p>
        </p:txBody>
      </p:sp>
      <p:sp>
        <p:nvSpPr>
          <p:cNvPr id="1653497091" name="Text 4"/>
          <p:cNvSpPr txBox="1"/>
          <p:nvPr/>
        </p:nvSpPr>
        <p:spPr bwMode="auto">
          <a:xfrm>
            <a:off x="752475" y="2276177"/>
            <a:ext cx="5038725" cy="382191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>
              <a:buNone/>
              <a:defRPr/>
            </a:pPr>
            <a:r>
              <a:rPr lang="en-US" sz="1000" b="1">
                <a:solidFill>
                  <a:srgbClr val="EAEEF2"/>
                </a:solidFill>
                <a:latin typeface="Inter"/>
                <a:ea typeface="Inter"/>
                <a:cs typeface="Inter"/>
              </a:rPr>
              <a:t>Decision:</a:t>
            </a:r>
            <a:r>
              <a:rPr lang="en-US" sz="1000">
                <a:solidFill>
                  <a:srgbClr val="EAEDF2">
                    <a:alpha val="80000"/>
                  </a:srgbClr>
                </a:solidFill>
                <a:latin typeface="Inter"/>
                <a:ea typeface="Inter"/>
                <a:cs typeface="Inter"/>
              </a:rPr>
              <a:t> CloudWatch Logs Insights auto-parses JSON → 20+ fields </a:t>
            </a:r>
            <a:endParaRPr lang="en-US" sz="1000"/>
          </a:p>
        </p:txBody>
      </p:sp>
      <p:pic>
        <p:nvPicPr>
          <p:cNvPr id="1722882232" name="Image 2" descr="preencoded.png"/>
          <p:cNvPicPr>
            <a:picLocks noChangeAspect="1"/>
          </p:cNvPicPr>
          <p:nvPr/>
        </p:nvPicPr>
        <p:blipFill rotWithShape="1">
          <a:blip r:embed="rId5"/>
          <a:stretch/>
        </p:blipFill>
        <p:spPr bwMode="auto">
          <a:xfrm>
            <a:off x="6181725" y="1082873"/>
            <a:ext cx="5476875" cy="2496592"/>
          </a:xfrm>
          <a:prstGeom prst="rect">
            <a:avLst/>
          </a:prstGeom>
        </p:spPr>
      </p:pic>
      <p:sp>
        <p:nvSpPr>
          <p:cNvPr id="1322786675" name="Text 5"/>
          <p:cNvSpPr txBox="1"/>
          <p:nvPr/>
        </p:nvSpPr>
        <p:spPr bwMode="auto">
          <a:xfrm>
            <a:off x="6400800" y="1282898"/>
            <a:ext cx="5038725" cy="125611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990"/>
              </a:lnSpc>
              <a:buNone/>
              <a:defRPr/>
            </a:pPr>
            <a:r>
              <a:rPr lang="en-US" sz="850" b="1" spc="99">
                <a:solidFill>
                  <a:srgbClr val="67F4E2"/>
                </a:solidFill>
                <a:latin typeface="Space Grotesk"/>
                <a:ea typeface="Space Grotesk"/>
                <a:cs typeface="Space Grotesk"/>
              </a:rPr>
              <a:t>CORRELATION</a:t>
            </a:r>
            <a:endParaRPr lang="en-US" sz="850"/>
          </a:p>
        </p:txBody>
      </p:sp>
      <p:sp>
        <p:nvSpPr>
          <p:cNvPr id="2069784037" name="Text 6"/>
          <p:cNvSpPr txBox="1"/>
          <p:nvPr/>
        </p:nvSpPr>
        <p:spPr bwMode="auto">
          <a:xfrm>
            <a:off x="6400800" y="1503758"/>
            <a:ext cx="5038725" cy="209550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650"/>
              </a:lnSpc>
              <a:buNone/>
              <a:defRPr/>
            </a:pPr>
            <a:r>
              <a:rPr lang="en-US" sz="1500" b="1" spc="-22">
                <a:solidFill>
                  <a:srgbClr val="EAEEF2"/>
                </a:solidFill>
                <a:latin typeface="Space Grotesk"/>
                <a:ea typeface="Space Grotesk"/>
                <a:cs typeface="Space Grotesk"/>
              </a:rPr>
              <a:t>before_request → correlation_id</a:t>
            </a:r>
            <a:endParaRPr lang="en-US" sz="1500"/>
          </a:p>
        </p:txBody>
      </p:sp>
      <p:pic>
        <p:nvPicPr>
          <p:cNvPr id="404858032" name="Image 3" descr="preencoded.png"/>
          <p:cNvPicPr>
            <a:picLocks noChangeAspect="1"/>
          </p:cNvPicPr>
          <p:nvPr/>
        </p:nvPicPr>
        <p:blipFill rotWithShape="1">
          <a:blip r:embed="rId6"/>
          <a:stretch/>
        </p:blipFill>
        <p:spPr bwMode="auto">
          <a:xfrm>
            <a:off x="6400800" y="1808559"/>
            <a:ext cx="5038725" cy="516136"/>
          </a:xfrm>
          <a:prstGeom prst="rect">
            <a:avLst/>
          </a:prstGeom>
        </p:spPr>
      </p:pic>
      <p:sp>
        <p:nvSpPr>
          <p:cNvPr id="835523337" name="Text 7"/>
          <p:cNvSpPr txBox="1"/>
          <p:nvPr/>
        </p:nvSpPr>
        <p:spPr bwMode="auto">
          <a:xfrm>
            <a:off x="6524625" y="1922859"/>
            <a:ext cx="4791075" cy="297061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08"/>
              </a:lnSpc>
              <a:buNone/>
              <a:defRPr/>
            </a:pPr>
            <a:r>
              <a:rPr lang="en-US" sz="850">
                <a:solidFill>
                  <a:srgbClr val="EAEEF2"/>
                </a:solidFill>
                <a:latin typeface="Inter"/>
                <a:ea typeface="Inter"/>
                <a:cs typeface="Inter"/>
              </a:rPr>
              <a:t>g.correlation_id = request.headers.get("X-Correlation-ID", uuid4())</a:t>
            </a:r>
            <a:endParaRPr lang="en-US" sz="850"/>
          </a:p>
          <a:p>
            <a:pPr marL="0" indent="0" algn="l">
              <a:lnSpc>
                <a:spcPts val="1208"/>
              </a:lnSpc>
              <a:buNone/>
              <a:defRPr/>
            </a:pPr>
            <a:r>
              <a:rPr lang="en-US" sz="850">
                <a:solidFill>
                  <a:srgbClr val="EAEEF2"/>
                </a:solidFill>
                <a:latin typeface="Inter"/>
                <a:ea typeface="Inter"/>
                <a:cs typeface="Inter"/>
              </a:rPr>
              <a:t>g.start_time = time()</a:t>
            </a:r>
            <a:endParaRPr lang="en-US" sz="850"/>
          </a:p>
        </p:txBody>
      </p:sp>
      <p:sp>
        <p:nvSpPr>
          <p:cNvPr id="559933635" name="Text 8"/>
          <p:cNvSpPr txBox="1"/>
          <p:nvPr/>
        </p:nvSpPr>
        <p:spPr bwMode="auto">
          <a:xfrm>
            <a:off x="6400800" y="2429470"/>
            <a:ext cx="5038725" cy="363140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>
              <a:buNone/>
              <a:defRPr/>
            </a:pPr>
            <a:r>
              <a:rPr lang="en-US" sz="1000">
                <a:solidFill>
                  <a:srgbClr val="EAEDF2">
                    <a:alpha val="80000"/>
                  </a:srgbClr>
                </a:solidFill>
                <a:latin typeface="Inter"/>
                <a:ea typeface="Inter"/>
                <a:cs typeface="Inter"/>
              </a:rPr>
              <a:t> Every log line carries same ID → </a:t>
            </a:r>
            <a:r>
              <a:rPr lang="en-US" sz="1000">
                <a:solidFill>
                  <a:srgbClr val="38BDF8"/>
                </a:solidFill>
                <a:latin typeface="Inter"/>
                <a:ea typeface="Inter"/>
                <a:cs typeface="Inter"/>
              </a:rPr>
              <a:t>filter correlation_id="demo-123"</a:t>
            </a:r>
            <a:r>
              <a:rPr lang="en-US" sz="1000">
                <a:solidFill>
                  <a:srgbClr val="EAEDF2">
                    <a:alpha val="80000"/>
                  </a:srgbClr>
                </a:solidFill>
                <a:latin typeface="Inter"/>
                <a:ea typeface="Inter"/>
                <a:cs typeface="Inter"/>
              </a:rPr>
              <a:t> finds full flow.</a:t>
            </a:r>
            <a:endParaRPr lang="en-US" sz="1000"/>
          </a:p>
        </p:txBody>
      </p:sp>
      <p:pic>
        <p:nvPicPr>
          <p:cNvPr id="92068741" name="Image 4" descr="preencoded.png"/>
          <p:cNvPicPr>
            <a:picLocks noChangeAspect="1"/>
          </p:cNvPicPr>
          <p:nvPr/>
        </p:nvPicPr>
        <p:blipFill rotWithShape="1">
          <a:blip r:embed="rId7"/>
          <a:stretch/>
        </p:blipFill>
        <p:spPr bwMode="auto">
          <a:xfrm>
            <a:off x="533400" y="3750915"/>
            <a:ext cx="5476875" cy="2649885"/>
          </a:xfrm>
          <a:prstGeom prst="rect">
            <a:avLst/>
          </a:prstGeom>
        </p:spPr>
      </p:pic>
      <p:sp>
        <p:nvSpPr>
          <p:cNvPr id="69683310" name="Text 9"/>
          <p:cNvSpPr txBox="1"/>
          <p:nvPr/>
        </p:nvSpPr>
        <p:spPr bwMode="auto">
          <a:xfrm>
            <a:off x="752475" y="3950940"/>
            <a:ext cx="5038725" cy="125611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990"/>
              </a:lnSpc>
              <a:buNone/>
              <a:defRPr/>
            </a:pPr>
            <a:r>
              <a:rPr lang="en-US" sz="850" b="1" spc="99">
                <a:solidFill>
                  <a:srgbClr val="67F4E2"/>
                </a:solidFill>
                <a:latin typeface="Space Grotesk"/>
                <a:ea typeface="Space Grotesk"/>
                <a:cs typeface="Space Grotesk"/>
              </a:rPr>
              <a:t>CUSTOM METRICS</a:t>
            </a:r>
            <a:endParaRPr lang="en-US" sz="850"/>
          </a:p>
        </p:txBody>
      </p:sp>
      <p:sp>
        <p:nvSpPr>
          <p:cNvPr id="715887746" name="Text 10"/>
          <p:cNvSpPr txBox="1"/>
          <p:nvPr/>
        </p:nvSpPr>
        <p:spPr bwMode="auto">
          <a:xfrm>
            <a:off x="752475" y="4171801"/>
            <a:ext cx="5038725" cy="209550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650"/>
              </a:lnSpc>
              <a:buNone/>
              <a:defRPr/>
            </a:pPr>
            <a:r>
              <a:rPr lang="en-US" sz="1500" b="1" spc="-22">
                <a:solidFill>
                  <a:srgbClr val="EAEEF2"/>
                </a:solidFill>
                <a:latin typeface="Space Grotesk"/>
                <a:ea typeface="Space Grotesk"/>
                <a:cs typeface="Space Grotesk"/>
              </a:rPr>
              <a:t>boto3 put_metric_data • Namespace Proj2/MyApp</a:t>
            </a:r>
            <a:endParaRPr lang="en-US" sz="1500"/>
          </a:p>
        </p:txBody>
      </p:sp>
      <p:pic>
        <p:nvPicPr>
          <p:cNvPr id="1018417685" name="Image 5" descr="preencoded.png"/>
          <p:cNvPicPr>
            <a:picLocks noChangeAspect="1"/>
          </p:cNvPicPr>
          <p:nvPr/>
        </p:nvPicPr>
        <p:blipFill rotWithShape="1">
          <a:blip r:embed="rId8"/>
          <a:stretch/>
        </p:blipFill>
        <p:spPr bwMode="auto">
          <a:xfrm>
            <a:off x="752475" y="4476601"/>
            <a:ext cx="5038725" cy="669429"/>
          </a:xfrm>
          <a:prstGeom prst="rect">
            <a:avLst/>
          </a:prstGeom>
        </p:spPr>
      </p:pic>
      <p:sp>
        <p:nvSpPr>
          <p:cNvPr id="1938532900" name="Text 11"/>
          <p:cNvSpPr txBox="1"/>
          <p:nvPr/>
        </p:nvSpPr>
        <p:spPr bwMode="auto">
          <a:xfrm>
            <a:off x="876299" y="4590901"/>
            <a:ext cx="4791075" cy="450354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08"/>
              </a:lnSpc>
              <a:buNone/>
              <a:defRPr/>
            </a:pPr>
            <a:r>
              <a:rPr lang="en-US" sz="850">
                <a:solidFill>
                  <a:srgbClr val="EAEEF2"/>
                </a:solidFill>
                <a:latin typeface="Inter"/>
                <a:ea typeface="Inter"/>
                <a:cs typeface="Inter"/>
              </a:rPr>
              <a:t>cloudwatch.put_metric_data(</a:t>
            </a:r>
            <a:endParaRPr lang="en-US" sz="850"/>
          </a:p>
          <a:p>
            <a:pPr marL="0" indent="0" algn="l">
              <a:lnSpc>
                <a:spcPts val="1208"/>
              </a:lnSpc>
              <a:buNone/>
              <a:defRPr/>
            </a:pPr>
            <a:r>
              <a:rPr lang="en-US" sz="850">
                <a:solidFill>
                  <a:srgbClr val="EAEEF2"/>
                </a:solidFill>
                <a:latin typeface="Inter"/>
                <a:ea typeface="Inter"/>
                <a:cs typeface="Inter"/>
              </a:rPr>
              <a:t> Namespace="Proj2/MyApp",</a:t>
            </a:r>
            <a:endParaRPr lang="en-US" sz="850"/>
          </a:p>
          <a:p>
            <a:pPr marL="0" indent="0" algn="l">
              <a:lnSpc>
                <a:spcPts val="1208"/>
              </a:lnSpc>
              <a:buNone/>
              <a:defRPr/>
            </a:pPr>
            <a:r>
              <a:rPr lang="en-US" sz="850">
                <a:solidFill>
                  <a:srgbClr val="EAEEF2"/>
                </a:solidFill>
                <a:latin typeface="Inter"/>
                <a:ea typeface="Inter"/>
                <a:cs typeface="Inter"/>
              </a:rPr>
              <a:t> MetricData=[{Name: "request_count", Value:1, Timestamp:utcnow()}])</a:t>
            </a:r>
            <a:endParaRPr lang="en-US" sz="850"/>
          </a:p>
        </p:txBody>
      </p:sp>
      <p:sp>
        <p:nvSpPr>
          <p:cNvPr id="1762646398" name="Text 12"/>
          <p:cNvSpPr txBox="1"/>
          <p:nvPr/>
        </p:nvSpPr>
        <p:spPr bwMode="auto">
          <a:xfrm>
            <a:off x="752475" y="5250805"/>
            <a:ext cx="5038725" cy="363140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>
              <a:buNone/>
              <a:defRPr/>
            </a:pPr>
            <a:r>
              <a:rPr lang="en-US" sz="1000">
                <a:solidFill>
                  <a:srgbClr val="EAEDF2">
                    <a:alpha val="80000"/>
                  </a:srgbClr>
                </a:solidFill>
                <a:latin typeface="Inter"/>
                <a:ea typeface="Inter"/>
                <a:cs typeface="Inter"/>
              </a:rPr>
              <a:t>5 signals in after_request + business hook. </a:t>
            </a:r>
            <a:endParaRPr lang="en-US" sz="1000"/>
          </a:p>
        </p:txBody>
      </p:sp>
      <p:pic>
        <p:nvPicPr>
          <p:cNvPr id="1561852062" name="Image 6" descr="preencoded.png"/>
          <p:cNvPicPr>
            <a:picLocks noChangeAspect="1"/>
          </p:cNvPicPr>
          <p:nvPr/>
        </p:nvPicPr>
        <p:blipFill rotWithShape="1">
          <a:blip r:embed="rId9"/>
          <a:stretch/>
        </p:blipFill>
        <p:spPr bwMode="auto">
          <a:xfrm>
            <a:off x="6181725" y="3750915"/>
            <a:ext cx="5476875" cy="2649885"/>
          </a:xfrm>
          <a:prstGeom prst="rect">
            <a:avLst/>
          </a:prstGeom>
        </p:spPr>
      </p:pic>
      <p:sp>
        <p:nvSpPr>
          <p:cNvPr id="8299947" name="Text 13"/>
          <p:cNvSpPr txBox="1"/>
          <p:nvPr/>
        </p:nvSpPr>
        <p:spPr bwMode="auto">
          <a:xfrm>
            <a:off x="6400800" y="3950939"/>
            <a:ext cx="906727" cy="131010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990"/>
              </a:lnSpc>
              <a:buNone/>
              <a:defRPr/>
            </a:pPr>
            <a:r>
              <a:rPr lang="de-DE" sz="850" b="1" spc="99">
                <a:solidFill>
                  <a:srgbClr val="67F4E2"/>
                </a:solidFill>
                <a:latin typeface="Space Grotesk"/>
                <a:ea typeface="Space Grotesk"/>
                <a:cs typeface="Space Grotesk"/>
              </a:rPr>
              <a:t>ERROR LEVEL</a:t>
            </a:r>
            <a:endParaRPr lang="en-US" sz="850"/>
          </a:p>
        </p:txBody>
      </p:sp>
      <p:sp>
        <p:nvSpPr>
          <p:cNvPr id="947004339" name="Text 14"/>
          <p:cNvSpPr txBox="1"/>
          <p:nvPr/>
        </p:nvSpPr>
        <p:spPr bwMode="auto">
          <a:xfrm>
            <a:off x="6400800" y="4171800"/>
            <a:ext cx="1372105" cy="219269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650"/>
              </a:lnSpc>
              <a:buNone/>
              <a:defRPr/>
            </a:pPr>
            <a:r>
              <a:rPr lang="de-DE" sz="1500" b="1" spc="-22">
                <a:solidFill>
                  <a:srgbClr val="EAEEF2"/>
                </a:solidFill>
                <a:latin typeface="Space Grotesk"/>
                <a:ea typeface="Space Grotesk"/>
                <a:cs typeface="Space Grotesk"/>
              </a:rPr>
              <a:t>3 levels of error</a:t>
            </a:r>
            <a:endParaRPr lang="en-US" sz="1500"/>
          </a:p>
        </p:txBody>
      </p:sp>
      <p:sp>
        <p:nvSpPr>
          <p:cNvPr id="457911166" name="Text 15"/>
          <p:cNvSpPr txBox="1"/>
          <p:nvPr/>
        </p:nvSpPr>
        <p:spPr bwMode="auto">
          <a:xfrm>
            <a:off x="6400800" y="4486126"/>
            <a:ext cx="5038725" cy="549473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>
              <a:buNone/>
              <a:defRPr/>
            </a:pPr>
            <a:r>
              <a:rPr lang="de-DE" sz="1000">
                <a:solidFill>
                  <a:srgbClr val="EAEDF2">
                    <a:alpha val="80000"/>
                  </a:srgbClr>
                </a:solidFill>
                <a:latin typeface="Inter"/>
                <a:ea typeface="Inter"/>
                <a:cs typeface="Inter"/>
              </a:rPr>
              <a:t>WARN-ERROR-INFO</a:t>
            </a:r>
            <a:endParaRPr lang="en-US" sz="10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12930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2978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4485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25087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29349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534970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228822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27866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97840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48580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55233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99336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0687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6833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58877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84176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85329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26463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18520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999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70043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79111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12">
    <p:bg>
      <p:bgPr shadeToTitle="0">
        <a:solidFill>
          <a:srgbClr val="18162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621146" name="Text 0"/>
          <p:cNvSpPr txBox="1"/>
          <p:nvPr/>
        </p:nvSpPr>
        <p:spPr bwMode="auto">
          <a:xfrm>
            <a:off x="533400" y="419100"/>
            <a:ext cx="11125200" cy="425648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>
              <a:buNone/>
              <a:defRPr/>
            </a:pPr>
            <a:r>
              <a:rPr lang="en-US" sz="3450" b="1" spc="-69">
                <a:solidFill>
                  <a:srgbClr val="EAEEF2"/>
                </a:solidFill>
                <a:latin typeface="Space Grotesk"/>
                <a:ea typeface="Space Grotesk"/>
                <a:cs typeface="Space Grotesk"/>
              </a:rPr>
              <a:t>RED / USE Analysis </a:t>
            </a:r>
            <a:r>
              <a:rPr lang="en-US" sz="3450" b="1" spc="-69">
                <a:solidFill>
                  <a:srgbClr val="67F4E2"/>
                </a:solidFill>
                <a:latin typeface="Inter"/>
                <a:ea typeface="Inter"/>
                <a:cs typeface="Inter"/>
              </a:rPr>
              <a:t>— how we triaged</a:t>
            </a:r>
            <a:endParaRPr lang="en-US" sz="3450"/>
          </a:p>
        </p:txBody>
      </p:sp>
      <p:pic>
        <p:nvPicPr>
          <p:cNvPr id="312695101" name="Image 0" descr="preencoded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2937768" y="978097"/>
            <a:ext cx="5972175" cy="5460802"/>
          </a:xfrm>
          <a:prstGeom prst="rect">
            <a:avLst/>
          </a:prstGeom>
        </p:spPr>
      </p:pic>
      <p:sp>
        <p:nvSpPr>
          <p:cNvPr id="1470488259" name="Text 1"/>
          <p:cNvSpPr txBox="1"/>
          <p:nvPr/>
        </p:nvSpPr>
        <p:spPr bwMode="auto">
          <a:xfrm>
            <a:off x="7303790" y="1120972"/>
            <a:ext cx="1253728" cy="142875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25"/>
              </a:lnSpc>
              <a:buNone/>
              <a:defRPr/>
            </a:pPr>
            <a:r>
              <a:rPr lang="en-US" sz="750" spc="90">
                <a:solidFill>
                  <a:srgbClr val="EAEEF2">
                    <a:alpha val="75000"/>
                  </a:srgbClr>
                </a:solidFill>
                <a:latin typeface="Inter"/>
                <a:ea typeface="Inter"/>
                <a:cs typeface="Inter"/>
              </a:rPr>
              <a:t>DASHBOARD MAPPING</a:t>
            </a:r>
            <a:endParaRPr lang="en-US" sz="750"/>
          </a:p>
        </p:txBody>
      </p:sp>
      <p:pic>
        <p:nvPicPr>
          <p:cNvPr id="971982053" name="Image 2" descr="preencoded.png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>
            <a:off x="3671192" y="1809599"/>
            <a:ext cx="4886325" cy="1198513"/>
          </a:xfrm>
          <a:prstGeom prst="rect">
            <a:avLst/>
          </a:prstGeom>
        </p:spPr>
      </p:pic>
      <p:sp>
        <p:nvSpPr>
          <p:cNvPr id="574501505" name="Text 2"/>
          <p:cNvSpPr txBox="1"/>
          <p:nvPr/>
        </p:nvSpPr>
        <p:spPr bwMode="auto">
          <a:xfrm>
            <a:off x="3852167" y="1971524"/>
            <a:ext cx="4524375" cy="125611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990"/>
              </a:lnSpc>
              <a:spcAft>
                <a:spcPts val="600"/>
              </a:spcAft>
              <a:buNone/>
              <a:defRPr/>
            </a:pPr>
            <a:r>
              <a:rPr lang="en-US" sz="850" b="1" spc="99">
                <a:solidFill>
                  <a:srgbClr val="67F4E2"/>
                </a:solidFill>
                <a:latin typeface="Space Grotesk"/>
                <a:ea typeface="Space Grotesk"/>
                <a:cs typeface="Space Grotesk"/>
              </a:rPr>
              <a:t>RED — SERVICE VIEW</a:t>
            </a:r>
            <a:endParaRPr lang="en-US" sz="850"/>
          </a:p>
        </p:txBody>
      </p:sp>
      <p:sp>
        <p:nvSpPr>
          <p:cNvPr id="369544874" name="Text 3"/>
          <p:cNvSpPr txBox="1"/>
          <p:nvPr/>
        </p:nvSpPr>
        <p:spPr bwMode="auto">
          <a:xfrm>
            <a:off x="3852167" y="2173335"/>
            <a:ext cx="838200" cy="167134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16"/>
              </a:lnSpc>
              <a:buNone/>
              <a:defRPr/>
            </a:pPr>
            <a:r>
              <a:rPr lang="en-US" sz="1000" b="1">
                <a:solidFill>
                  <a:srgbClr val="EAEEF2"/>
                </a:solidFill>
                <a:latin typeface="Inter"/>
                <a:ea typeface="Inter"/>
                <a:cs typeface="Inter"/>
              </a:rPr>
              <a:t>Rate</a:t>
            </a:r>
            <a:endParaRPr lang="en-US" sz="1000"/>
          </a:p>
        </p:txBody>
      </p:sp>
      <p:sp>
        <p:nvSpPr>
          <p:cNvPr id="635701228" name="Text 4"/>
          <p:cNvSpPr txBox="1"/>
          <p:nvPr/>
        </p:nvSpPr>
        <p:spPr bwMode="auto">
          <a:xfrm>
            <a:off x="4747518" y="2173335"/>
            <a:ext cx="3629025" cy="167134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64"/>
              </a:lnSpc>
              <a:buNone/>
              <a:defRPr/>
            </a:pPr>
            <a:r>
              <a:rPr lang="en-US" sz="850">
                <a:solidFill>
                  <a:srgbClr val="EAEEF3">
                    <a:alpha val="72000"/>
                  </a:srgbClr>
                </a:solidFill>
                <a:latin typeface="JetBrains Mono"/>
                <a:ea typeface="JetBrains Mono"/>
                <a:cs typeface="JetBrains Mono"/>
              </a:rPr>
              <a:t>request_count Sum • Traffic timeSeries</a:t>
            </a:r>
            <a:endParaRPr lang="en-US" sz="850"/>
          </a:p>
        </p:txBody>
      </p:sp>
      <p:sp>
        <p:nvSpPr>
          <p:cNvPr id="689246356" name="Text 5"/>
          <p:cNvSpPr txBox="1"/>
          <p:nvPr/>
        </p:nvSpPr>
        <p:spPr bwMode="auto">
          <a:xfrm>
            <a:off x="3852167" y="2397619"/>
            <a:ext cx="838200" cy="167134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16"/>
              </a:lnSpc>
              <a:buNone/>
              <a:defRPr/>
            </a:pPr>
            <a:r>
              <a:rPr lang="en-US" sz="1000" b="1">
                <a:solidFill>
                  <a:srgbClr val="EAEEF2"/>
                </a:solidFill>
                <a:latin typeface="Inter"/>
                <a:ea typeface="Inter"/>
                <a:cs typeface="Inter"/>
              </a:rPr>
              <a:t>Errors</a:t>
            </a:r>
            <a:endParaRPr lang="en-US" sz="1000"/>
          </a:p>
        </p:txBody>
      </p:sp>
      <p:sp>
        <p:nvSpPr>
          <p:cNvPr id="1315037875" name="Text 6"/>
          <p:cNvSpPr txBox="1"/>
          <p:nvPr/>
        </p:nvSpPr>
        <p:spPr bwMode="auto">
          <a:xfrm>
            <a:off x="4747518" y="2397619"/>
            <a:ext cx="3629025" cy="167134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64"/>
              </a:lnSpc>
              <a:buNone/>
              <a:defRPr/>
            </a:pPr>
            <a:r>
              <a:rPr lang="en-US" sz="850">
                <a:solidFill>
                  <a:srgbClr val="EAEEF3">
                    <a:alpha val="72000"/>
                  </a:srgbClr>
                </a:solidFill>
                <a:latin typeface="JetBrains Mono"/>
                <a:ea typeface="JetBrains Mono"/>
                <a:cs typeface="JetBrains Mono"/>
              </a:rPr>
              <a:t>error_count Sum • red spike</a:t>
            </a:r>
            <a:endParaRPr lang="en-US" sz="850"/>
          </a:p>
        </p:txBody>
      </p:sp>
      <p:sp>
        <p:nvSpPr>
          <p:cNvPr id="2112656944" name="Text 7"/>
          <p:cNvSpPr txBox="1"/>
          <p:nvPr/>
        </p:nvSpPr>
        <p:spPr bwMode="auto">
          <a:xfrm>
            <a:off x="3852167" y="2621903"/>
            <a:ext cx="838200" cy="167134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16"/>
              </a:lnSpc>
              <a:buNone/>
              <a:defRPr/>
            </a:pPr>
            <a:r>
              <a:rPr lang="en-US" sz="1000" b="1">
                <a:solidFill>
                  <a:srgbClr val="EAEEF2"/>
                </a:solidFill>
                <a:latin typeface="Inter"/>
                <a:ea typeface="Inter"/>
                <a:cs typeface="Inter"/>
              </a:rPr>
              <a:t>Duration</a:t>
            </a:r>
            <a:endParaRPr lang="en-US" sz="1000"/>
          </a:p>
        </p:txBody>
      </p:sp>
      <p:sp>
        <p:nvSpPr>
          <p:cNvPr id="2135220451" name="Text 8"/>
          <p:cNvSpPr txBox="1"/>
          <p:nvPr/>
        </p:nvSpPr>
        <p:spPr bwMode="auto">
          <a:xfrm>
            <a:off x="4747518" y="2621903"/>
            <a:ext cx="3629025" cy="167134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64"/>
              </a:lnSpc>
              <a:buNone/>
              <a:defRPr/>
            </a:pPr>
            <a:r>
              <a:rPr lang="en-US" sz="850">
                <a:solidFill>
                  <a:srgbClr val="EAEEF3">
                    <a:alpha val="72000"/>
                  </a:srgbClr>
                </a:solidFill>
                <a:latin typeface="JetBrains Mono"/>
                <a:ea typeface="JetBrains Mono"/>
                <a:cs typeface="JetBrains Mono"/>
              </a:rPr>
              <a:t>api_latency Avg / Max / P95</a:t>
            </a:r>
            <a:endParaRPr lang="en-US" sz="850"/>
          </a:p>
        </p:txBody>
      </p:sp>
      <p:pic>
        <p:nvPicPr>
          <p:cNvPr id="268858643" name="Image 3" descr="preencoded.png"/>
          <p:cNvPicPr>
            <a:picLocks noChangeAspect="1"/>
          </p:cNvPicPr>
          <p:nvPr/>
        </p:nvPicPr>
        <p:blipFill rotWithShape="1">
          <a:blip r:embed="rId5"/>
          <a:stretch/>
        </p:blipFill>
        <p:spPr bwMode="auto">
          <a:xfrm>
            <a:off x="3671192" y="3141462"/>
            <a:ext cx="4886325" cy="1198513"/>
          </a:xfrm>
          <a:prstGeom prst="rect">
            <a:avLst/>
          </a:prstGeom>
        </p:spPr>
      </p:pic>
      <p:sp>
        <p:nvSpPr>
          <p:cNvPr id="1835634612" name="Text 9"/>
          <p:cNvSpPr txBox="1"/>
          <p:nvPr/>
        </p:nvSpPr>
        <p:spPr bwMode="auto">
          <a:xfrm>
            <a:off x="3852167" y="3303387"/>
            <a:ext cx="4524375" cy="125611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990"/>
              </a:lnSpc>
              <a:spcAft>
                <a:spcPts val="600"/>
              </a:spcAft>
              <a:buNone/>
              <a:defRPr/>
            </a:pPr>
            <a:r>
              <a:rPr lang="en-US" sz="850" b="1" spc="99">
                <a:solidFill>
                  <a:srgbClr val="38BDF8"/>
                </a:solidFill>
                <a:latin typeface="Space Grotesk"/>
                <a:ea typeface="Space Grotesk"/>
                <a:cs typeface="Space Grotesk"/>
              </a:rPr>
              <a:t>USE — RESOURCE VIEW</a:t>
            </a:r>
            <a:endParaRPr lang="en-US" sz="850"/>
          </a:p>
        </p:txBody>
      </p:sp>
      <p:sp>
        <p:nvSpPr>
          <p:cNvPr id="1947607598" name="Text 10"/>
          <p:cNvSpPr txBox="1"/>
          <p:nvPr/>
        </p:nvSpPr>
        <p:spPr bwMode="auto">
          <a:xfrm>
            <a:off x="3852167" y="3505198"/>
            <a:ext cx="838200" cy="167134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16"/>
              </a:lnSpc>
              <a:buNone/>
              <a:defRPr/>
            </a:pPr>
            <a:r>
              <a:rPr lang="en-US" sz="1000" b="1">
                <a:solidFill>
                  <a:srgbClr val="EAEEF2"/>
                </a:solidFill>
                <a:latin typeface="Inter"/>
                <a:ea typeface="Inter"/>
                <a:cs typeface="Inter"/>
              </a:rPr>
              <a:t>Utilization</a:t>
            </a:r>
            <a:endParaRPr lang="en-US" sz="1000"/>
          </a:p>
        </p:txBody>
      </p:sp>
      <p:sp>
        <p:nvSpPr>
          <p:cNvPr id="742192842" name="Text 11"/>
          <p:cNvSpPr txBox="1"/>
          <p:nvPr/>
        </p:nvSpPr>
        <p:spPr bwMode="auto">
          <a:xfrm>
            <a:off x="4747518" y="3505198"/>
            <a:ext cx="1764563" cy="171453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64"/>
              </a:lnSpc>
              <a:buNone/>
              <a:defRPr/>
            </a:pPr>
            <a:r>
              <a:rPr lang="en-US" sz="850">
                <a:solidFill>
                  <a:srgbClr val="EAEEF3">
                    <a:alpha val="72000"/>
                  </a:srgbClr>
                </a:solidFill>
                <a:latin typeface="JetBrains Mono"/>
                <a:ea typeface="JetBrains Mono"/>
                <a:cs typeface="JetBrains Mono"/>
              </a:rPr>
              <a:t>CPUUtilization + mem_used% + disk </a:t>
            </a:r>
            <a:endParaRPr lang="en-US" sz="850"/>
          </a:p>
        </p:txBody>
      </p:sp>
      <p:sp>
        <p:nvSpPr>
          <p:cNvPr id="1966939335" name="Text 12"/>
          <p:cNvSpPr txBox="1"/>
          <p:nvPr/>
        </p:nvSpPr>
        <p:spPr bwMode="auto">
          <a:xfrm>
            <a:off x="3852167" y="3729483"/>
            <a:ext cx="838200" cy="167134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16"/>
              </a:lnSpc>
              <a:buNone/>
              <a:defRPr/>
            </a:pPr>
            <a:r>
              <a:rPr lang="en-US" sz="1000" b="1">
                <a:solidFill>
                  <a:srgbClr val="EAEEF2"/>
                </a:solidFill>
                <a:latin typeface="Inter"/>
                <a:ea typeface="Inter"/>
                <a:cs typeface="Inter"/>
              </a:rPr>
              <a:t>Saturation</a:t>
            </a:r>
            <a:endParaRPr lang="en-US" sz="1000"/>
          </a:p>
        </p:txBody>
      </p:sp>
      <p:sp>
        <p:nvSpPr>
          <p:cNvPr id="1866619050" name="Text 13"/>
          <p:cNvSpPr txBox="1"/>
          <p:nvPr/>
        </p:nvSpPr>
        <p:spPr bwMode="auto">
          <a:xfrm>
            <a:off x="4747518" y="3729483"/>
            <a:ext cx="3629025" cy="167134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64"/>
              </a:lnSpc>
              <a:buNone/>
              <a:defRPr/>
            </a:pPr>
            <a:r>
              <a:rPr lang="en-US" sz="850">
                <a:solidFill>
                  <a:srgbClr val="EAEEF3">
                    <a:alpha val="72000"/>
                  </a:srgbClr>
                </a:solidFill>
                <a:latin typeface="JetBrains Mono"/>
                <a:ea typeface="JetBrains Mono"/>
                <a:cs typeface="JetBrains Mono"/>
              </a:rPr>
              <a:t>orders_per_minute • business queue</a:t>
            </a:r>
            <a:endParaRPr lang="en-US" sz="850"/>
          </a:p>
        </p:txBody>
      </p:sp>
      <p:sp>
        <p:nvSpPr>
          <p:cNvPr id="851211810" name="Text 14"/>
          <p:cNvSpPr txBox="1"/>
          <p:nvPr/>
        </p:nvSpPr>
        <p:spPr bwMode="auto">
          <a:xfrm>
            <a:off x="3852167" y="3953766"/>
            <a:ext cx="838200" cy="167134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16"/>
              </a:lnSpc>
              <a:buNone/>
              <a:defRPr/>
            </a:pPr>
            <a:r>
              <a:rPr lang="en-US" sz="1000" b="1">
                <a:solidFill>
                  <a:srgbClr val="EAEEF2"/>
                </a:solidFill>
                <a:latin typeface="Inter"/>
                <a:ea typeface="Inter"/>
                <a:cs typeface="Inter"/>
              </a:rPr>
              <a:t>Errors</a:t>
            </a:r>
            <a:endParaRPr lang="en-US" sz="1000"/>
          </a:p>
        </p:txBody>
      </p:sp>
      <p:sp>
        <p:nvSpPr>
          <p:cNvPr id="1189482535" name="Text 15"/>
          <p:cNvSpPr txBox="1"/>
          <p:nvPr/>
        </p:nvSpPr>
        <p:spPr bwMode="auto">
          <a:xfrm>
            <a:off x="4747518" y="3953766"/>
            <a:ext cx="3629025" cy="167134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64"/>
              </a:lnSpc>
              <a:buNone/>
              <a:defRPr/>
            </a:pPr>
            <a:r>
              <a:rPr lang="en-US" sz="850">
                <a:solidFill>
                  <a:srgbClr val="EAEEF3">
                    <a:alpha val="72000"/>
                  </a:srgbClr>
                </a:solidFill>
                <a:latin typeface="JetBrains Mono"/>
                <a:ea typeface="JetBrains Mono"/>
                <a:cs typeface="JetBrains Mono"/>
              </a:rPr>
              <a:t>same error_count • overlay correlation</a:t>
            </a:r>
            <a:endParaRPr lang="en-US" sz="850"/>
          </a:p>
        </p:txBody>
      </p:sp>
      <p:pic>
        <p:nvPicPr>
          <p:cNvPr id="1223170632" name="Image 4" descr="preencoded.png"/>
          <p:cNvPicPr>
            <a:picLocks noChangeAspect="1"/>
          </p:cNvPicPr>
          <p:nvPr/>
        </p:nvPicPr>
        <p:blipFill rotWithShape="1">
          <a:blip r:embed="rId6"/>
          <a:stretch/>
        </p:blipFill>
        <p:spPr bwMode="auto">
          <a:xfrm>
            <a:off x="3671192" y="4473325"/>
            <a:ext cx="4886325" cy="737146"/>
          </a:xfrm>
          <a:prstGeom prst="rect">
            <a:avLst/>
          </a:prstGeom>
        </p:spPr>
      </p:pic>
      <p:sp>
        <p:nvSpPr>
          <p:cNvPr id="673993549" name="Text 16"/>
          <p:cNvSpPr txBox="1"/>
          <p:nvPr/>
        </p:nvSpPr>
        <p:spPr bwMode="auto">
          <a:xfrm>
            <a:off x="3814067" y="4597150"/>
            <a:ext cx="4600575" cy="489496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>
              <a:buNone/>
              <a:defRPr/>
            </a:pPr>
            <a:r>
              <a:rPr lang="en-US" sz="900">
                <a:solidFill>
                  <a:srgbClr val="EAEEF2">
                    <a:alpha val="82000"/>
                  </a:srgbClr>
                </a:solidFill>
                <a:latin typeface="Inter"/>
                <a:ea typeface="Inter"/>
                <a:cs typeface="Inter"/>
              </a:rPr>
              <a:t> </a:t>
            </a:r>
            <a:r>
              <a:rPr lang="en-US" sz="900" b="1">
                <a:solidFill>
                  <a:srgbClr val="EAEEF2"/>
                </a:solidFill>
                <a:latin typeface="Inter"/>
                <a:ea typeface="Inter"/>
                <a:cs typeface="Inter"/>
              </a:rPr>
              <a:t>Evidence:</a:t>
            </a:r>
            <a:r>
              <a:rPr lang="en-US" sz="900">
                <a:solidFill>
                  <a:srgbClr val="EAEEF2">
                    <a:alpha val="82000"/>
                  </a:srgbClr>
                </a:solidFill>
                <a:latin typeface="Inter"/>
                <a:ea typeface="Inter"/>
                <a:cs typeface="Inter"/>
              </a:rPr>
              <a:t> Injected </a:t>
            </a:r>
            <a:r>
              <a:rPr lang="en-US" sz="900">
                <a:solidFill>
                  <a:srgbClr val="EAEEF2">
                    <a:alpha val="82000"/>
                  </a:srgbClr>
                </a:solidFill>
                <a:latin typeface="monospace"/>
                <a:ea typeface="monospace"/>
                <a:cs typeface="monospace"/>
              </a:rPr>
              <a:t>/fail</a:t>
            </a:r>
            <a:r>
              <a:rPr lang="en-US" sz="900">
                <a:solidFill>
                  <a:srgbClr val="EAEEF2">
                    <a:alpha val="82000"/>
                  </a:srgbClr>
                </a:solidFill>
                <a:latin typeface="Inter"/>
                <a:ea typeface="Inter"/>
                <a:cs typeface="Inter"/>
              </a:rPr>
              <a:t> 20x → Error Rate ↑ 5+ in 60s, Latency flat 30ms, CPU 8% flat → </a:t>
            </a:r>
            <a:r>
              <a:rPr lang="en-US" sz="900" b="1">
                <a:solidFill>
                  <a:srgbClr val="EAEEF2"/>
                </a:solidFill>
                <a:latin typeface="Inter"/>
                <a:ea typeface="Inter"/>
                <a:cs typeface="Inter"/>
              </a:rPr>
              <a:t>app error not infra</a:t>
            </a:r>
            <a:r>
              <a:rPr lang="en-US" sz="900">
                <a:solidFill>
                  <a:srgbClr val="EAEEF2">
                    <a:alpha val="82000"/>
                  </a:srgbClr>
                </a:solidFill>
                <a:latin typeface="Inter"/>
                <a:ea typeface="Inter"/>
                <a:cs typeface="Inter"/>
              </a:rPr>
              <a:t>. Top row = RED single value, Middle = Golden Signals, Bottom = USE, Correlation = all overlayed. </a:t>
            </a:r>
            <a:endParaRPr lang="en-US" sz="9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2695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04882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19820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45015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95448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5701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92463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50378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126569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52204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88586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56346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76075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21928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69393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666190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12118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94825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31706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39935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7">
    <p:bg>
      <p:bgPr shadeToTitle="0">
        <a:solidFill>
          <a:srgbClr val="18162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57609916" name="Text 0"/>
          <p:cNvSpPr txBox="1"/>
          <p:nvPr/>
        </p:nvSpPr>
        <p:spPr bwMode="auto">
          <a:xfrm>
            <a:off x="533400" y="495300"/>
            <a:ext cx="11125200" cy="443805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>
              <a:buNone/>
              <a:defRPr/>
            </a:pPr>
            <a:r>
              <a:rPr lang="en-US" sz="3600" b="1" spc="-72">
                <a:solidFill>
                  <a:srgbClr val="EAEEF2"/>
                </a:solidFill>
                <a:latin typeface="Space Grotesk"/>
                <a:ea typeface="Space Grotesk"/>
                <a:cs typeface="Space Grotesk"/>
              </a:rPr>
              <a:t>Live Demo Plan — </a:t>
            </a:r>
            <a:r>
              <a:rPr lang="en-US" sz="3600" b="1" spc="-72">
                <a:solidFill>
                  <a:srgbClr val="67F4E2"/>
                </a:solidFill>
                <a:latin typeface="Inter"/>
                <a:ea typeface="Inter"/>
                <a:cs typeface="Inter"/>
              </a:rPr>
              <a:t>proj2-dashboard</a:t>
            </a:r>
            <a:endParaRPr lang="en-US" sz="3600"/>
          </a:p>
        </p:txBody>
      </p:sp>
      <p:pic>
        <p:nvPicPr>
          <p:cNvPr id="1390598263" name="Image 0" descr="preencoded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533400" y="2217093"/>
            <a:ext cx="3048000" cy="814983"/>
          </a:xfrm>
          <a:prstGeom prst="rect">
            <a:avLst/>
          </a:prstGeom>
        </p:spPr>
      </p:pic>
      <p:sp>
        <p:nvSpPr>
          <p:cNvPr id="648570426" name="Text 1"/>
          <p:cNvSpPr txBox="1"/>
          <p:nvPr/>
        </p:nvSpPr>
        <p:spPr bwMode="auto">
          <a:xfrm>
            <a:off x="695325" y="2359968"/>
            <a:ext cx="2724150" cy="125611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990"/>
              </a:lnSpc>
              <a:spcAft>
                <a:spcPts val="450"/>
              </a:spcAft>
              <a:buNone/>
              <a:defRPr/>
            </a:pPr>
            <a:r>
              <a:rPr lang="en-US" sz="850" b="1" spc="99">
                <a:solidFill>
                  <a:srgbClr val="67F4E2"/>
                </a:solidFill>
                <a:latin typeface="Space Grotesk"/>
                <a:ea typeface="Space Grotesk"/>
                <a:cs typeface="Space Grotesk"/>
              </a:rPr>
              <a:t>DASHBOARD</a:t>
            </a:r>
            <a:endParaRPr lang="en-US" sz="850"/>
          </a:p>
        </p:txBody>
      </p:sp>
      <p:sp>
        <p:nvSpPr>
          <p:cNvPr id="456140690" name="Text 2"/>
          <p:cNvSpPr txBox="1"/>
          <p:nvPr/>
        </p:nvSpPr>
        <p:spPr bwMode="auto">
          <a:xfrm>
            <a:off x="695325" y="2552254"/>
            <a:ext cx="2724150" cy="336947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>
              <a:buNone/>
              <a:defRPr/>
            </a:pPr>
            <a:r>
              <a:rPr lang="en-US" sz="1000" b="1">
                <a:solidFill>
                  <a:srgbClr val="EAEEF2"/>
                </a:solidFill>
                <a:latin typeface="Inter"/>
                <a:ea typeface="Inter"/>
                <a:cs typeface="Inter"/>
              </a:rPr>
              <a:t>proj2-dashboard</a:t>
            </a:r>
            <a:r>
              <a:rPr lang="en-US" sz="1000">
                <a:solidFill>
                  <a:srgbClr val="EAEDF2">
                    <a:alpha val="80000"/>
                  </a:srgbClr>
                </a:solidFill>
                <a:latin typeface="Inter"/>
                <a:ea typeface="Inter"/>
                <a:cs typeface="Inter"/>
              </a:rPr>
              <a:t> • 12 widgets • Period 60s • Region us-east-1 • Auto-refresh 60s</a:t>
            </a:r>
            <a:endParaRPr lang="en-US" sz="1000"/>
          </a:p>
        </p:txBody>
      </p:sp>
      <p:pic>
        <p:nvPicPr>
          <p:cNvPr id="1853586511" name="Image 1" descr="preencoded.png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>
            <a:off x="533400" y="3165425"/>
            <a:ext cx="3048000" cy="988219"/>
          </a:xfrm>
          <a:prstGeom prst="rect">
            <a:avLst/>
          </a:prstGeom>
        </p:spPr>
      </p:pic>
      <p:sp>
        <p:nvSpPr>
          <p:cNvPr id="1966536712" name="Text 3"/>
          <p:cNvSpPr txBox="1"/>
          <p:nvPr/>
        </p:nvSpPr>
        <p:spPr bwMode="auto">
          <a:xfrm>
            <a:off x="695325" y="3308300"/>
            <a:ext cx="2724150" cy="125611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990"/>
              </a:lnSpc>
              <a:spcAft>
                <a:spcPts val="450"/>
              </a:spcAft>
              <a:buNone/>
              <a:defRPr/>
            </a:pPr>
            <a:r>
              <a:rPr lang="en-US" sz="850" b="1" spc="99">
                <a:solidFill>
                  <a:srgbClr val="67F4E2"/>
                </a:solidFill>
                <a:latin typeface="Space Grotesk"/>
                <a:ea typeface="Space Grotesk"/>
                <a:cs typeface="Space Grotesk"/>
              </a:rPr>
              <a:t>QUICK STATS</a:t>
            </a:r>
            <a:endParaRPr lang="en-US" sz="850"/>
          </a:p>
        </p:txBody>
      </p:sp>
      <p:sp>
        <p:nvSpPr>
          <p:cNvPr id="1081191372" name="Text 4"/>
          <p:cNvSpPr txBox="1"/>
          <p:nvPr/>
        </p:nvSpPr>
        <p:spPr bwMode="auto">
          <a:xfrm>
            <a:off x="695325" y="3500586"/>
            <a:ext cx="2724150" cy="510183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65"/>
              </a:lnSpc>
              <a:buNone/>
              <a:defRPr/>
            </a:pPr>
            <a:r>
              <a:rPr lang="en-US" sz="1000">
                <a:solidFill>
                  <a:srgbClr val="EAEDF2">
                    <a:alpha val="80000"/>
                  </a:srgbClr>
                </a:solidFill>
                <a:latin typeface="Inter"/>
                <a:ea typeface="Inter"/>
                <a:cs typeface="Inter"/>
              </a:rPr>
              <a:t>SingleValue → timeSeries → correlation. All three namespaces: Proj2/MyApp + CWAgent + AWS/EC2</a:t>
            </a:r>
            <a:endParaRPr lang="en-US" sz="1000"/>
          </a:p>
        </p:txBody>
      </p:sp>
      <p:pic>
        <p:nvPicPr>
          <p:cNvPr id="559204969" name="Image 3" descr="preencoded.png"/>
          <p:cNvPicPr>
            <a:picLocks noChangeAspect="1"/>
          </p:cNvPicPr>
          <p:nvPr/>
        </p:nvPicPr>
        <p:blipFill rotWithShape="1">
          <a:blip r:embed="rId5"/>
          <a:stretch/>
        </p:blipFill>
        <p:spPr bwMode="auto">
          <a:xfrm>
            <a:off x="3886200" y="1129605"/>
            <a:ext cx="3810000" cy="2540347"/>
          </a:xfrm>
          <a:prstGeom prst="rect">
            <a:avLst/>
          </a:prstGeom>
        </p:spPr>
      </p:pic>
      <p:sp>
        <p:nvSpPr>
          <p:cNvPr id="1129246059" name="Text 7"/>
          <p:cNvSpPr txBox="1"/>
          <p:nvPr/>
        </p:nvSpPr>
        <p:spPr bwMode="auto">
          <a:xfrm>
            <a:off x="3895725" y="1139130"/>
            <a:ext cx="3790949" cy="19050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025"/>
              </a:lnSpc>
              <a:buNone/>
              <a:defRPr/>
            </a:pPr>
            <a:endParaRPr lang="en-US" sz="1350"/>
          </a:p>
        </p:txBody>
      </p:sp>
      <p:sp>
        <p:nvSpPr>
          <p:cNvPr id="1696275484" name="Text 8"/>
          <p:cNvSpPr txBox="1"/>
          <p:nvPr/>
        </p:nvSpPr>
        <p:spPr bwMode="auto">
          <a:xfrm>
            <a:off x="4067175" y="1320105"/>
            <a:ext cx="3448050" cy="161925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50"/>
              </a:lnSpc>
              <a:spcAft>
                <a:spcPts val="750"/>
              </a:spcAft>
              <a:buNone/>
              <a:defRPr/>
            </a:pPr>
            <a:r>
              <a:rPr lang="en-US" sz="900" b="1" spc="125">
                <a:solidFill>
                  <a:srgbClr val="67F4E2"/>
                </a:solidFill>
                <a:latin typeface="Inter"/>
                <a:ea typeface="Inter"/>
                <a:cs typeface="Inter"/>
              </a:rPr>
              <a:t>01 — TOP ROW</a:t>
            </a:r>
            <a:endParaRPr lang="en-US" sz="900"/>
          </a:p>
        </p:txBody>
      </p:sp>
      <p:sp>
        <p:nvSpPr>
          <p:cNvPr id="1526972033" name="Text 9"/>
          <p:cNvSpPr txBox="1"/>
          <p:nvPr/>
        </p:nvSpPr>
        <p:spPr bwMode="auto">
          <a:xfrm>
            <a:off x="4067175" y="1577280"/>
            <a:ext cx="3448050" cy="164306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94"/>
              </a:lnSpc>
              <a:spcAft>
                <a:spcPts val="600"/>
              </a:spcAft>
              <a:buNone/>
              <a:defRPr/>
            </a:pPr>
            <a:r>
              <a:rPr lang="en-US" sz="1150" b="1" spc="-17">
                <a:solidFill>
                  <a:srgbClr val="EAEEF2"/>
                </a:solidFill>
                <a:latin typeface="Space Grotesk"/>
                <a:ea typeface="Space Grotesk"/>
                <a:cs typeface="Space Grotesk"/>
              </a:rPr>
              <a:t>SingleValue at a glance</a:t>
            </a:r>
            <a:endParaRPr lang="en-US" sz="1150"/>
          </a:p>
        </p:txBody>
      </p:sp>
      <p:sp>
        <p:nvSpPr>
          <p:cNvPr id="1556235889" name="Text 10"/>
          <p:cNvSpPr txBox="1"/>
          <p:nvPr/>
        </p:nvSpPr>
        <p:spPr bwMode="auto">
          <a:xfrm>
            <a:off x="4067175" y="1827312"/>
            <a:ext cx="3448050" cy="163711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65"/>
              </a:lnSpc>
              <a:buNone/>
              <a:defRPr/>
            </a:pPr>
            <a:r>
              <a:rPr lang="en-US" sz="1000">
                <a:solidFill>
                  <a:srgbClr val="EAEEF2">
                    <a:alpha val="70000"/>
                  </a:srgbClr>
                </a:solidFill>
                <a:latin typeface="Inter"/>
                <a:ea typeface="Inter"/>
                <a:cs typeface="Inter"/>
              </a:rPr>
              <a:t>Current rate for decision in 3 seconds</a:t>
            </a:r>
            <a:endParaRPr lang="en-US" sz="1000"/>
          </a:p>
        </p:txBody>
      </p:sp>
      <p:pic>
        <p:nvPicPr>
          <p:cNvPr id="790683732" name="Image 4" descr="preencoded.png"/>
          <p:cNvPicPr>
            <a:picLocks noChangeAspect="1"/>
          </p:cNvPicPr>
          <p:nvPr/>
        </p:nvPicPr>
        <p:blipFill rotWithShape="1">
          <a:blip r:embed="rId6"/>
          <a:stretch/>
        </p:blipFill>
        <p:spPr bwMode="auto">
          <a:xfrm>
            <a:off x="4067175" y="2067223"/>
            <a:ext cx="1039267" cy="238125"/>
          </a:xfrm>
          <a:prstGeom prst="rect">
            <a:avLst/>
          </a:prstGeom>
        </p:spPr>
      </p:pic>
      <p:sp>
        <p:nvSpPr>
          <p:cNvPr id="1702203045" name="Text 11"/>
          <p:cNvSpPr txBox="1"/>
          <p:nvPr/>
        </p:nvSpPr>
        <p:spPr bwMode="auto">
          <a:xfrm>
            <a:off x="4152900" y="2124373"/>
            <a:ext cx="867817" cy="133350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25"/>
              </a:lnSpc>
              <a:buNone/>
              <a:defRPr/>
            </a:pPr>
            <a:r>
              <a:rPr lang="en-US" sz="750">
                <a:solidFill>
                  <a:srgbClr val="EAEFF2">
                    <a:alpha val="85000"/>
                  </a:srgbClr>
                </a:solidFill>
                <a:latin typeface="Inter"/>
                <a:ea typeface="Inter"/>
                <a:cs typeface="Inter"/>
              </a:rPr>
              <a:t>request_count Sum</a:t>
            </a:r>
            <a:endParaRPr lang="en-US" sz="750"/>
          </a:p>
        </p:txBody>
      </p:sp>
      <p:pic>
        <p:nvPicPr>
          <p:cNvPr id="1771771698" name="Image 5" descr="preencoded.png"/>
          <p:cNvPicPr>
            <a:picLocks noChangeAspect="1"/>
          </p:cNvPicPr>
          <p:nvPr/>
        </p:nvPicPr>
        <p:blipFill rotWithShape="1">
          <a:blip r:embed="rId7"/>
          <a:stretch/>
        </p:blipFill>
        <p:spPr bwMode="auto">
          <a:xfrm>
            <a:off x="5163592" y="2067223"/>
            <a:ext cx="917972" cy="238125"/>
          </a:xfrm>
          <a:prstGeom prst="rect">
            <a:avLst/>
          </a:prstGeom>
        </p:spPr>
      </p:pic>
      <p:sp>
        <p:nvSpPr>
          <p:cNvPr id="1634651189" name="Text 12"/>
          <p:cNvSpPr txBox="1"/>
          <p:nvPr/>
        </p:nvSpPr>
        <p:spPr bwMode="auto">
          <a:xfrm>
            <a:off x="5249317" y="2124373"/>
            <a:ext cx="746522" cy="133350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25"/>
              </a:lnSpc>
              <a:buNone/>
              <a:defRPr/>
            </a:pPr>
            <a:r>
              <a:rPr lang="en-US" sz="750">
                <a:solidFill>
                  <a:srgbClr val="EAEFF2">
                    <a:alpha val="85000"/>
                  </a:srgbClr>
                </a:solidFill>
                <a:latin typeface="Inter"/>
                <a:ea typeface="Inter"/>
                <a:cs typeface="Inter"/>
              </a:rPr>
              <a:t>error_count Sum</a:t>
            </a:r>
            <a:endParaRPr lang="en-US" sz="750"/>
          </a:p>
        </p:txBody>
      </p:sp>
      <p:pic>
        <p:nvPicPr>
          <p:cNvPr id="1995109989" name="Image 6" descr="preencoded.png"/>
          <p:cNvPicPr>
            <a:picLocks noChangeAspect="1"/>
          </p:cNvPicPr>
          <p:nvPr/>
        </p:nvPicPr>
        <p:blipFill rotWithShape="1">
          <a:blip r:embed="rId8"/>
          <a:stretch/>
        </p:blipFill>
        <p:spPr bwMode="auto">
          <a:xfrm>
            <a:off x="6138714" y="2067223"/>
            <a:ext cx="873919" cy="238125"/>
          </a:xfrm>
          <a:prstGeom prst="rect">
            <a:avLst/>
          </a:prstGeom>
        </p:spPr>
      </p:pic>
      <p:sp>
        <p:nvSpPr>
          <p:cNvPr id="788729658" name="Text 13"/>
          <p:cNvSpPr txBox="1"/>
          <p:nvPr/>
        </p:nvSpPr>
        <p:spPr bwMode="auto">
          <a:xfrm>
            <a:off x="6224439" y="2124373"/>
            <a:ext cx="702469" cy="133350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25"/>
              </a:lnSpc>
              <a:buNone/>
              <a:defRPr/>
            </a:pPr>
            <a:r>
              <a:rPr lang="en-US" sz="750">
                <a:solidFill>
                  <a:srgbClr val="EAEFF2">
                    <a:alpha val="85000"/>
                  </a:srgbClr>
                </a:solidFill>
                <a:latin typeface="Inter"/>
                <a:ea typeface="Inter"/>
                <a:cs typeface="Inter"/>
              </a:rPr>
              <a:t>api_latency Avg</a:t>
            </a:r>
            <a:endParaRPr lang="en-US" sz="750"/>
          </a:p>
        </p:txBody>
      </p:sp>
      <p:pic>
        <p:nvPicPr>
          <p:cNvPr id="1530304340" name="Image 7" descr="preencoded.png"/>
          <p:cNvPicPr>
            <a:picLocks noChangeAspect="1"/>
          </p:cNvPicPr>
          <p:nvPr/>
        </p:nvPicPr>
        <p:blipFill rotWithShape="1">
          <a:blip r:embed="rId9"/>
          <a:stretch/>
        </p:blipFill>
        <p:spPr bwMode="auto">
          <a:xfrm>
            <a:off x="4067175" y="2362497"/>
            <a:ext cx="887611" cy="238125"/>
          </a:xfrm>
          <a:prstGeom prst="rect">
            <a:avLst/>
          </a:prstGeom>
        </p:spPr>
      </p:pic>
      <p:sp>
        <p:nvSpPr>
          <p:cNvPr id="1383311611" name="Text 14"/>
          <p:cNvSpPr txBox="1"/>
          <p:nvPr/>
        </p:nvSpPr>
        <p:spPr bwMode="auto">
          <a:xfrm>
            <a:off x="4152900" y="2419648"/>
            <a:ext cx="716161" cy="133350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25"/>
              </a:lnSpc>
              <a:buNone/>
              <a:defRPr/>
            </a:pPr>
            <a:r>
              <a:rPr lang="en-US" sz="750">
                <a:solidFill>
                  <a:srgbClr val="EAEFF2">
                    <a:alpha val="85000"/>
                  </a:srgbClr>
                </a:solidFill>
                <a:latin typeface="Inter"/>
                <a:ea typeface="Inter"/>
                <a:cs typeface="Inter"/>
              </a:rPr>
              <a:t>orders/min Sum</a:t>
            </a:r>
            <a:endParaRPr lang="en-US" sz="750"/>
          </a:p>
        </p:txBody>
      </p:sp>
      <p:pic>
        <p:nvPicPr>
          <p:cNvPr id="925506961" name="Image 8" descr="preencoded.png"/>
          <p:cNvPicPr>
            <a:picLocks noChangeAspect="1"/>
          </p:cNvPicPr>
          <p:nvPr/>
        </p:nvPicPr>
        <p:blipFill rotWithShape="1">
          <a:blip r:embed="rId10"/>
          <a:stretch/>
        </p:blipFill>
        <p:spPr bwMode="auto">
          <a:xfrm>
            <a:off x="7848600" y="1129605"/>
            <a:ext cx="3810000" cy="2540347"/>
          </a:xfrm>
          <a:prstGeom prst="rect">
            <a:avLst/>
          </a:prstGeom>
        </p:spPr>
      </p:pic>
      <p:sp>
        <p:nvSpPr>
          <p:cNvPr id="2143844412" name="Text 15"/>
          <p:cNvSpPr txBox="1"/>
          <p:nvPr/>
        </p:nvSpPr>
        <p:spPr bwMode="auto">
          <a:xfrm>
            <a:off x="7858125" y="1139130"/>
            <a:ext cx="3790949" cy="19050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025"/>
              </a:lnSpc>
              <a:buNone/>
              <a:defRPr/>
            </a:pPr>
            <a:endParaRPr lang="en-US" sz="1350"/>
          </a:p>
        </p:txBody>
      </p:sp>
      <p:sp>
        <p:nvSpPr>
          <p:cNvPr id="795766197" name="Text 16"/>
          <p:cNvSpPr txBox="1"/>
          <p:nvPr/>
        </p:nvSpPr>
        <p:spPr bwMode="auto">
          <a:xfrm>
            <a:off x="8029575" y="1320105"/>
            <a:ext cx="3448050" cy="161925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50"/>
              </a:lnSpc>
              <a:spcAft>
                <a:spcPts val="750"/>
              </a:spcAft>
              <a:buNone/>
              <a:defRPr/>
            </a:pPr>
            <a:r>
              <a:rPr lang="en-US" sz="900" b="1" spc="125">
                <a:solidFill>
                  <a:srgbClr val="67F4E2"/>
                </a:solidFill>
                <a:latin typeface="Inter"/>
                <a:ea typeface="Inter"/>
                <a:cs typeface="Inter"/>
              </a:rPr>
              <a:t>02 — MIDDLE</a:t>
            </a:r>
            <a:endParaRPr lang="en-US" sz="900"/>
          </a:p>
        </p:txBody>
      </p:sp>
      <p:sp>
        <p:nvSpPr>
          <p:cNvPr id="719952926" name="Text 17"/>
          <p:cNvSpPr txBox="1"/>
          <p:nvPr/>
        </p:nvSpPr>
        <p:spPr bwMode="auto">
          <a:xfrm>
            <a:off x="8029575" y="1577280"/>
            <a:ext cx="3448050" cy="164306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94"/>
              </a:lnSpc>
              <a:spcAft>
                <a:spcPts val="600"/>
              </a:spcAft>
              <a:buNone/>
              <a:defRPr/>
            </a:pPr>
            <a:r>
              <a:rPr lang="en-US" sz="1150" b="1" spc="-17">
                <a:solidFill>
                  <a:srgbClr val="EAEEF2"/>
                </a:solidFill>
                <a:latin typeface="Space Grotesk"/>
                <a:ea typeface="Space Grotesk"/>
                <a:cs typeface="Space Grotesk"/>
              </a:rPr>
              <a:t>Golden Signals</a:t>
            </a:r>
            <a:endParaRPr lang="en-US" sz="1150"/>
          </a:p>
        </p:txBody>
      </p:sp>
      <p:sp>
        <p:nvSpPr>
          <p:cNvPr id="1723277994" name="Text 18"/>
          <p:cNvSpPr txBox="1"/>
          <p:nvPr/>
        </p:nvSpPr>
        <p:spPr bwMode="auto">
          <a:xfrm>
            <a:off x="8029575" y="1827312"/>
            <a:ext cx="3448050" cy="163711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65"/>
              </a:lnSpc>
              <a:buNone/>
              <a:defRPr/>
            </a:pPr>
            <a:r>
              <a:rPr lang="en-US" sz="1000">
                <a:solidFill>
                  <a:srgbClr val="EAEEF2">
                    <a:alpha val="70000"/>
                  </a:srgbClr>
                </a:solidFill>
                <a:latin typeface="Inter"/>
                <a:ea typeface="Inter"/>
                <a:cs typeface="Inter"/>
              </a:rPr>
              <a:t>RED mapping: traffic, errors, duration, saturation</a:t>
            </a:r>
            <a:endParaRPr lang="en-US" sz="1000"/>
          </a:p>
        </p:txBody>
      </p:sp>
      <p:pic>
        <p:nvPicPr>
          <p:cNvPr id="1660952114" name="Image 9" descr="preencoded.png"/>
          <p:cNvPicPr>
            <a:picLocks noChangeAspect="1"/>
          </p:cNvPicPr>
          <p:nvPr/>
        </p:nvPicPr>
        <p:blipFill rotWithShape="1">
          <a:blip r:embed="rId11"/>
          <a:stretch/>
        </p:blipFill>
        <p:spPr bwMode="auto">
          <a:xfrm>
            <a:off x="8029575" y="2067223"/>
            <a:ext cx="1128117" cy="238125"/>
          </a:xfrm>
          <a:prstGeom prst="rect">
            <a:avLst/>
          </a:prstGeom>
        </p:spPr>
      </p:pic>
      <p:sp>
        <p:nvSpPr>
          <p:cNvPr id="1818341125" name="Text 19"/>
          <p:cNvSpPr txBox="1"/>
          <p:nvPr/>
        </p:nvSpPr>
        <p:spPr bwMode="auto">
          <a:xfrm>
            <a:off x="8115300" y="2124373"/>
            <a:ext cx="956667" cy="133350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25"/>
              </a:lnSpc>
              <a:buNone/>
              <a:defRPr/>
            </a:pPr>
            <a:r>
              <a:rPr lang="en-US" sz="750">
                <a:solidFill>
                  <a:srgbClr val="EAEFF2">
                    <a:alpha val="85000"/>
                  </a:srgbClr>
                </a:solidFill>
                <a:latin typeface="Inter"/>
                <a:ea typeface="Inter"/>
                <a:cs typeface="Inter"/>
              </a:rPr>
              <a:t>Traffic request_count</a:t>
            </a:r>
            <a:endParaRPr lang="en-US" sz="750"/>
          </a:p>
        </p:txBody>
      </p:sp>
      <p:pic>
        <p:nvPicPr>
          <p:cNvPr id="1480440501" name="Image 10" descr="preencoded.png"/>
          <p:cNvPicPr>
            <a:picLocks noChangeAspect="1"/>
          </p:cNvPicPr>
          <p:nvPr/>
        </p:nvPicPr>
        <p:blipFill rotWithShape="1">
          <a:blip r:embed="rId12"/>
          <a:stretch/>
        </p:blipFill>
        <p:spPr bwMode="auto">
          <a:xfrm>
            <a:off x="9214842" y="2067223"/>
            <a:ext cx="989260" cy="238125"/>
          </a:xfrm>
          <a:prstGeom prst="rect">
            <a:avLst/>
          </a:prstGeom>
        </p:spPr>
      </p:pic>
      <p:sp>
        <p:nvSpPr>
          <p:cNvPr id="540680581" name="Text 20"/>
          <p:cNvSpPr txBox="1"/>
          <p:nvPr/>
        </p:nvSpPr>
        <p:spPr bwMode="auto">
          <a:xfrm>
            <a:off x="9300567" y="2124373"/>
            <a:ext cx="817811" cy="133350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25"/>
              </a:lnSpc>
              <a:buNone/>
              <a:defRPr/>
            </a:pPr>
            <a:r>
              <a:rPr lang="en-US" sz="750">
                <a:solidFill>
                  <a:srgbClr val="EAEFF2">
                    <a:alpha val="85000"/>
                  </a:srgbClr>
                </a:solidFill>
                <a:latin typeface="Inter"/>
                <a:ea typeface="Inter"/>
                <a:cs typeface="Inter"/>
              </a:rPr>
              <a:t>Errors error_count</a:t>
            </a:r>
            <a:endParaRPr lang="en-US" sz="750"/>
          </a:p>
        </p:txBody>
      </p:sp>
      <p:pic>
        <p:nvPicPr>
          <p:cNvPr id="137730957" name="Image 11" descr="preencoded.png"/>
          <p:cNvPicPr>
            <a:picLocks noChangeAspect="1"/>
          </p:cNvPicPr>
          <p:nvPr/>
        </p:nvPicPr>
        <p:blipFill rotWithShape="1">
          <a:blip r:embed="rId13"/>
          <a:stretch/>
        </p:blipFill>
        <p:spPr bwMode="auto">
          <a:xfrm>
            <a:off x="10261253" y="2067223"/>
            <a:ext cx="948928" cy="238125"/>
          </a:xfrm>
          <a:prstGeom prst="rect">
            <a:avLst/>
          </a:prstGeom>
        </p:spPr>
      </p:pic>
      <p:sp>
        <p:nvSpPr>
          <p:cNvPr id="637566281" name="Text 21"/>
          <p:cNvSpPr txBox="1"/>
          <p:nvPr/>
        </p:nvSpPr>
        <p:spPr bwMode="auto">
          <a:xfrm>
            <a:off x="10346978" y="2124373"/>
            <a:ext cx="777478" cy="133350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25"/>
              </a:lnSpc>
              <a:buNone/>
              <a:defRPr/>
            </a:pPr>
            <a:r>
              <a:rPr lang="en-US" sz="750">
                <a:solidFill>
                  <a:srgbClr val="EAEFF2">
                    <a:alpha val="85000"/>
                  </a:srgbClr>
                </a:solidFill>
                <a:latin typeface="Inter"/>
                <a:ea typeface="Inter"/>
                <a:cs typeface="Inter"/>
              </a:rPr>
              <a:t>Latency Avg/Max</a:t>
            </a:r>
            <a:endParaRPr lang="en-US" sz="750"/>
          </a:p>
        </p:txBody>
      </p:sp>
      <p:pic>
        <p:nvPicPr>
          <p:cNvPr id="704671311" name="Image 12" descr="preencoded.png"/>
          <p:cNvPicPr>
            <a:picLocks noChangeAspect="1"/>
          </p:cNvPicPr>
          <p:nvPr/>
        </p:nvPicPr>
        <p:blipFill rotWithShape="1">
          <a:blip r:embed="rId14"/>
          <a:stretch/>
        </p:blipFill>
        <p:spPr bwMode="auto">
          <a:xfrm>
            <a:off x="8029575" y="2362497"/>
            <a:ext cx="796528" cy="238125"/>
          </a:xfrm>
          <a:prstGeom prst="rect">
            <a:avLst/>
          </a:prstGeom>
        </p:spPr>
      </p:pic>
      <p:sp>
        <p:nvSpPr>
          <p:cNvPr id="1236320841" name="Text 22"/>
          <p:cNvSpPr txBox="1"/>
          <p:nvPr/>
        </p:nvSpPr>
        <p:spPr bwMode="auto">
          <a:xfrm>
            <a:off x="8115300" y="2419648"/>
            <a:ext cx="625078" cy="133350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25"/>
              </a:lnSpc>
              <a:buNone/>
              <a:defRPr/>
            </a:pPr>
            <a:r>
              <a:rPr lang="en-US" sz="750">
                <a:solidFill>
                  <a:srgbClr val="EAEFF2">
                    <a:alpha val="85000"/>
                  </a:srgbClr>
                </a:solidFill>
                <a:latin typeface="Inter"/>
                <a:ea typeface="Inter"/>
                <a:cs typeface="Inter"/>
              </a:rPr>
              <a:t>CPU + Orders</a:t>
            </a:r>
            <a:endParaRPr lang="en-US" sz="750"/>
          </a:p>
        </p:txBody>
      </p:sp>
      <p:pic>
        <p:nvPicPr>
          <p:cNvPr id="55828787" name="Image 13" descr="preencoded.png"/>
          <p:cNvPicPr>
            <a:picLocks noChangeAspect="1"/>
          </p:cNvPicPr>
          <p:nvPr/>
        </p:nvPicPr>
        <p:blipFill rotWithShape="1">
          <a:blip r:embed="rId15"/>
          <a:stretch/>
        </p:blipFill>
        <p:spPr bwMode="auto">
          <a:xfrm>
            <a:off x="3886200" y="3822353"/>
            <a:ext cx="3810000" cy="2540347"/>
          </a:xfrm>
          <a:prstGeom prst="rect">
            <a:avLst/>
          </a:prstGeom>
        </p:spPr>
      </p:pic>
      <p:sp>
        <p:nvSpPr>
          <p:cNvPr id="175594133" name="Text 23"/>
          <p:cNvSpPr txBox="1"/>
          <p:nvPr/>
        </p:nvSpPr>
        <p:spPr bwMode="auto">
          <a:xfrm>
            <a:off x="3895725" y="3831878"/>
            <a:ext cx="3790949" cy="19050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025"/>
              </a:lnSpc>
              <a:buNone/>
              <a:defRPr/>
            </a:pPr>
            <a:endParaRPr lang="en-US" sz="1350"/>
          </a:p>
        </p:txBody>
      </p:sp>
      <p:sp>
        <p:nvSpPr>
          <p:cNvPr id="867690964" name="Text 24"/>
          <p:cNvSpPr txBox="1"/>
          <p:nvPr/>
        </p:nvSpPr>
        <p:spPr bwMode="auto">
          <a:xfrm>
            <a:off x="4067175" y="4012853"/>
            <a:ext cx="3448050" cy="161925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50"/>
              </a:lnSpc>
              <a:spcAft>
                <a:spcPts val="750"/>
              </a:spcAft>
              <a:buNone/>
              <a:defRPr/>
            </a:pPr>
            <a:r>
              <a:rPr lang="en-US" sz="900" b="1" spc="125">
                <a:solidFill>
                  <a:srgbClr val="67F4E2"/>
                </a:solidFill>
                <a:latin typeface="Inter"/>
                <a:ea typeface="Inter"/>
                <a:cs typeface="Inter"/>
              </a:rPr>
              <a:t>03 — BOTTOM</a:t>
            </a:r>
            <a:endParaRPr lang="en-US" sz="900"/>
          </a:p>
        </p:txBody>
      </p:sp>
      <p:sp>
        <p:nvSpPr>
          <p:cNvPr id="1636123672" name="Text 25"/>
          <p:cNvSpPr txBox="1"/>
          <p:nvPr/>
        </p:nvSpPr>
        <p:spPr bwMode="auto">
          <a:xfrm>
            <a:off x="4067175" y="4270028"/>
            <a:ext cx="3448050" cy="164306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94"/>
              </a:lnSpc>
              <a:spcAft>
                <a:spcPts val="600"/>
              </a:spcAft>
              <a:buNone/>
              <a:defRPr/>
            </a:pPr>
            <a:r>
              <a:rPr lang="en-US" sz="1150" b="1" spc="-17">
                <a:solidFill>
                  <a:srgbClr val="EAEEF2"/>
                </a:solidFill>
                <a:latin typeface="Space Grotesk"/>
                <a:ea typeface="Space Grotesk"/>
                <a:cs typeface="Space Grotesk"/>
              </a:rPr>
              <a:t>EC2 USE Resources</a:t>
            </a:r>
            <a:endParaRPr lang="en-US" sz="1150"/>
          </a:p>
        </p:txBody>
      </p:sp>
      <p:sp>
        <p:nvSpPr>
          <p:cNvPr id="1019456574" name="Text 26"/>
          <p:cNvSpPr txBox="1"/>
          <p:nvPr/>
        </p:nvSpPr>
        <p:spPr bwMode="auto">
          <a:xfrm>
            <a:off x="4067175" y="4520059"/>
            <a:ext cx="3448050" cy="163711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65"/>
              </a:lnSpc>
              <a:buNone/>
              <a:defRPr/>
            </a:pPr>
            <a:r>
              <a:rPr lang="en-US" sz="1000">
                <a:solidFill>
                  <a:srgbClr val="EAEEF2">
                    <a:alpha val="70000"/>
                  </a:srgbClr>
                </a:solidFill>
                <a:latin typeface="Inter"/>
                <a:ea typeface="Inter"/>
                <a:cs typeface="Inter"/>
              </a:rPr>
              <a:t>Utilization + Saturation. Disk uses SEARCH</a:t>
            </a:r>
            <a:endParaRPr lang="en-US" sz="1000"/>
          </a:p>
        </p:txBody>
      </p:sp>
      <p:pic>
        <p:nvPicPr>
          <p:cNvPr id="252573919" name="Image 14" descr="preencoded.png"/>
          <p:cNvPicPr>
            <a:picLocks noChangeAspect="1"/>
          </p:cNvPicPr>
          <p:nvPr/>
        </p:nvPicPr>
        <p:blipFill rotWithShape="1">
          <a:blip r:embed="rId16"/>
          <a:stretch/>
        </p:blipFill>
        <p:spPr bwMode="auto">
          <a:xfrm>
            <a:off x="4067175" y="4759970"/>
            <a:ext cx="817811" cy="238125"/>
          </a:xfrm>
          <a:prstGeom prst="rect">
            <a:avLst/>
          </a:prstGeom>
        </p:spPr>
      </p:pic>
      <p:sp>
        <p:nvSpPr>
          <p:cNvPr id="107503232" name="Text 27"/>
          <p:cNvSpPr txBox="1"/>
          <p:nvPr/>
        </p:nvSpPr>
        <p:spPr bwMode="auto">
          <a:xfrm>
            <a:off x="4152900" y="4817120"/>
            <a:ext cx="646361" cy="133350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25"/>
              </a:lnSpc>
              <a:buNone/>
              <a:defRPr/>
            </a:pPr>
            <a:r>
              <a:rPr lang="en-US" sz="750">
                <a:solidFill>
                  <a:srgbClr val="EAEFF2">
                    <a:alpha val="85000"/>
                  </a:srgbClr>
                </a:solidFill>
                <a:latin typeface="Inter"/>
                <a:ea typeface="Inter"/>
                <a:cs typeface="Inter"/>
              </a:rPr>
              <a:t>CPUUtilization</a:t>
            </a:r>
            <a:endParaRPr lang="en-US" sz="750"/>
          </a:p>
        </p:txBody>
      </p:sp>
      <p:pic>
        <p:nvPicPr>
          <p:cNvPr id="1301512041" name="Image 15" descr="preencoded.png"/>
          <p:cNvPicPr>
            <a:picLocks noChangeAspect="1"/>
          </p:cNvPicPr>
          <p:nvPr/>
        </p:nvPicPr>
        <p:blipFill rotWithShape="1">
          <a:blip r:embed="rId17"/>
          <a:stretch/>
        </p:blipFill>
        <p:spPr bwMode="auto">
          <a:xfrm>
            <a:off x="4942135" y="4759970"/>
            <a:ext cx="1049982" cy="238125"/>
          </a:xfrm>
          <a:prstGeom prst="rect">
            <a:avLst/>
          </a:prstGeom>
        </p:spPr>
      </p:pic>
      <p:sp>
        <p:nvSpPr>
          <p:cNvPr id="917201493" name="Text 28"/>
          <p:cNvSpPr txBox="1"/>
          <p:nvPr/>
        </p:nvSpPr>
        <p:spPr bwMode="auto">
          <a:xfrm>
            <a:off x="5027861" y="4817120"/>
            <a:ext cx="878532" cy="133350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25"/>
              </a:lnSpc>
              <a:buNone/>
              <a:defRPr/>
            </a:pPr>
            <a:r>
              <a:rPr lang="en-US" sz="750">
                <a:solidFill>
                  <a:srgbClr val="EAEFF2">
                    <a:alpha val="85000"/>
                  </a:srgbClr>
                </a:solidFill>
                <a:latin typeface="Inter"/>
                <a:ea typeface="Inter"/>
                <a:cs typeface="Inter"/>
              </a:rPr>
              <a:t>mem_used_percent</a:t>
            </a:r>
            <a:endParaRPr lang="en-US" sz="750"/>
          </a:p>
        </p:txBody>
      </p:sp>
      <p:pic>
        <p:nvPicPr>
          <p:cNvPr id="1713930604" name="Image 16" descr="preencoded.png"/>
          <p:cNvPicPr>
            <a:picLocks noChangeAspect="1"/>
          </p:cNvPicPr>
          <p:nvPr/>
        </p:nvPicPr>
        <p:blipFill rotWithShape="1">
          <a:blip r:embed="rId18"/>
          <a:stretch/>
        </p:blipFill>
        <p:spPr bwMode="auto">
          <a:xfrm>
            <a:off x="6049268" y="4759970"/>
            <a:ext cx="857548" cy="238125"/>
          </a:xfrm>
          <a:prstGeom prst="rect">
            <a:avLst/>
          </a:prstGeom>
        </p:spPr>
      </p:pic>
      <p:sp>
        <p:nvSpPr>
          <p:cNvPr id="1453463441" name="Text 29"/>
          <p:cNvSpPr txBox="1"/>
          <p:nvPr/>
        </p:nvSpPr>
        <p:spPr bwMode="auto">
          <a:xfrm>
            <a:off x="6134993" y="4817120"/>
            <a:ext cx="686098" cy="133350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25"/>
              </a:lnSpc>
              <a:buNone/>
              <a:defRPr/>
            </a:pPr>
            <a:r>
              <a:rPr lang="en-US" sz="750">
                <a:solidFill>
                  <a:srgbClr val="EAEFF2">
                    <a:alpha val="85000"/>
                  </a:srgbClr>
                </a:solidFill>
                <a:latin typeface="Inter"/>
                <a:ea typeface="Inter"/>
                <a:cs typeface="Inter"/>
              </a:rPr>
              <a:t>Network In/Out</a:t>
            </a:r>
            <a:endParaRPr lang="en-US" sz="750"/>
          </a:p>
        </p:txBody>
      </p:sp>
      <p:pic>
        <p:nvPicPr>
          <p:cNvPr id="57112402" name="Image 17" descr="preencoded.png"/>
          <p:cNvPicPr>
            <a:picLocks noChangeAspect="1"/>
          </p:cNvPicPr>
          <p:nvPr/>
        </p:nvPicPr>
        <p:blipFill rotWithShape="1">
          <a:blip r:embed="rId19"/>
          <a:stretch/>
        </p:blipFill>
        <p:spPr bwMode="auto">
          <a:xfrm>
            <a:off x="4067175" y="5055245"/>
            <a:ext cx="1176040" cy="238125"/>
          </a:xfrm>
          <a:prstGeom prst="rect">
            <a:avLst/>
          </a:prstGeom>
        </p:spPr>
      </p:pic>
      <p:sp>
        <p:nvSpPr>
          <p:cNvPr id="1366294901" name="Text 30"/>
          <p:cNvSpPr txBox="1"/>
          <p:nvPr/>
        </p:nvSpPr>
        <p:spPr bwMode="auto">
          <a:xfrm>
            <a:off x="4152900" y="5112395"/>
            <a:ext cx="1004590" cy="133350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25"/>
              </a:lnSpc>
              <a:buNone/>
              <a:defRPr/>
            </a:pPr>
            <a:r>
              <a:rPr lang="en-US" sz="750">
                <a:solidFill>
                  <a:srgbClr val="EAEFF2">
                    <a:alpha val="85000"/>
                  </a:srgbClr>
                </a:solidFill>
                <a:latin typeface="Inter"/>
                <a:ea typeface="Inter"/>
                <a:cs typeface="Inter"/>
              </a:rPr>
              <a:t>SEARCH disk% → [[ ]]</a:t>
            </a:r>
            <a:endParaRPr lang="en-US" sz="750"/>
          </a:p>
        </p:txBody>
      </p:sp>
      <p:pic>
        <p:nvPicPr>
          <p:cNvPr id="1246296385" name="Image 18" descr="preencoded.png"/>
          <p:cNvPicPr>
            <a:picLocks noChangeAspect="1"/>
          </p:cNvPicPr>
          <p:nvPr/>
        </p:nvPicPr>
        <p:blipFill rotWithShape="1">
          <a:blip r:embed="rId20"/>
          <a:stretch/>
        </p:blipFill>
        <p:spPr bwMode="auto">
          <a:xfrm>
            <a:off x="7848600" y="3822353"/>
            <a:ext cx="3810000" cy="2540347"/>
          </a:xfrm>
          <a:prstGeom prst="rect">
            <a:avLst/>
          </a:prstGeom>
        </p:spPr>
      </p:pic>
      <p:sp>
        <p:nvSpPr>
          <p:cNvPr id="1469898975" name="Text 31"/>
          <p:cNvSpPr txBox="1"/>
          <p:nvPr/>
        </p:nvSpPr>
        <p:spPr bwMode="auto">
          <a:xfrm>
            <a:off x="7858125" y="3831878"/>
            <a:ext cx="3790949" cy="19050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025"/>
              </a:lnSpc>
              <a:buNone/>
              <a:defRPr/>
            </a:pPr>
            <a:endParaRPr lang="en-US" sz="1350"/>
          </a:p>
        </p:txBody>
      </p:sp>
      <p:sp>
        <p:nvSpPr>
          <p:cNvPr id="1031767205" name="Text 32"/>
          <p:cNvSpPr txBox="1"/>
          <p:nvPr/>
        </p:nvSpPr>
        <p:spPr bwMode="auto">
          <a:xfrm>
            <a:off x="8029575" y="4012853"/>
            <a:ext cx="3448050" cy="161925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50"/>
              </a:lnSpc>
              <a:spcAft>
                <a:spcPts val="750"/>
              </a:spcAft>
              <a:buNone/>
              <a:defRPr/>
            </a:pPr>
            <a:r>
              <a:rPr lang="en-US" sz="900" b="1" spc="125">
                <a:solidFill>
                  <a:srgbClr val="67F4E2"/>
                </a:solidFill>
                <a:latin typeface="Inter"/>
                <a:ea typeface="Inter"/>
                <a:cs typeface="Inter"/>
              </a:rPr>
              <a:t>04 — CORRELATION</a:t>
            </a:r>
            <a:endParaRPr lang="en-US" sz="900"/>
          </a:p>
        </p:txBody>
      </p:sp>
      <p:sp>
        <p:nvSpPr>
          <p:cNvPr id="1693099272" name="Text 33"/>
          <p:cNvSpPr txBox="1"/>
          <p:nvPr/>
        </p:nvSpPr>
        <p:spPr bwMode="auto">
          <a:xfrm>
            <a:off x="8029575" y="4270028"/>
            <a:ext cx="3448050" cy="164306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94"/>
              </a:lnSpc>
              <a:spcAft>
                <a:spcPts val="600"/>
              </a:spcAft>
              <a:buNone/>
              <a:defRPr/>
            </a:pPr>
            <a:r>
              <a:rPr lang="en-US" sz="1150" b="1" spc="-17">
                <a:solidFill>
                  <a:srgbClr val="EAEEF2"/>
                </a:solidFill>
                <a:latin typeface="Space Grotesk"/>
                <a:ea typeface="Space Grotesk"/>
                <a:cs typeface="Space Grotesk"/>
              </a:rPr>
              <a:t>Latency vs Traffic vs Errors vs CPU</a:t>
            </a:r>
            <a:endParaRPr lang="en-US" sz="1150"/>
          </a:p>
        </p:txBody>
      </p:sp>
      <p:sp>
        <p:nvSpPr>
          <p:cNvPr id="259205536" name="Text 34"/>
          <p:cNvSpPr txBox="1"/>
          <p:nvPr/>
        </p:nvSpPr>
        <p:spPr bwMode="auto">
          <a:xfrm>
            <a:off x="8029575" y="4520059"/>
            <a:ext cx="3448050" cy="336947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65"/>
              </a:lnSpc>
              <a:buNone/>
              <a:defRPr/>
            </a:pPr>
            <a:r>
              <a:rPr lang="en-US" sz="1000">
                <a:solidFill>
                  <a:srgbClr val="EAEEF2">
                    <a:alpha val="70000"/>
                  </a:srgbClr>
                </a:solidFill>
                <a:latin typeface="Inter"/>
                <a:ea typeface="Inter"/>
                <a:cs typeface="Inter"/>
              </a:rPr>
              <a:t>Overlay all in one graph. When /fail injected: Error spikes, Latency flat, CPU flat → app error not infra</a:t>
            </a:r>
            <a:endParaRPr lang="en-US" sz="1000"/>
          </a:p>
        </p:txBody>
      </p:sp>
      <p:pic>
        <p:nvPicPr>
          <p:cNvPr id="35687348" name="Image 19" descr="preencoded.png"/>
          <p:cNvPicPr>
            <a:picLocks noChangeAspect="1"/>
          </p:cNvPicPr>
          <p:nvPr/>
        </p:nvPicPr>
        <p:blipFill rotWithShape="1">
          <a:blip r:embed="rId21"/>
          <a:stretch/>
        </p:blipFill>
        <p:spPr bwMode="auto">
          <a:xfrm>
            <a:off x="8029575" y="4933206"/>
            <a:ext cx="677763" cy="238125"/>
          </a:xfrm>
          <a:prstGeom prst="rect">
            <a:avLst/>
          </a:prstGeom>
        </p:spPr>
      </p:pic>
      <p:sp>
        <p:nvSpPr>
          <p:cNvPr id="1896967291" name="Text 35"/>
          <p:cNvSpPr txBox="1"/>
          <p:nvPr/>
        </p:nvSpPr>
        <p:spPr bwMode="auto">
          <a:xfrm>
            <a:off x="8115300" y="4990356"/>
            <a:ext cx="506313" cy="133350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25"/>
              </a:lnSpc>
              <a:buNone/>
              <a:defRPr/>
            </a:pPr>
            <a:r>
              <a:rPr lang="en-US" sz="750">
                <a:solidFill>
                  <a:srgbClr val="EAEFF2">
                    <a:alpha val="85000"/>
                  </a:srgbClr>
                </a:solidFill>
                <a:latin typeface="Inter"/>
                <a:ea typeface="Inter"/>
                <a:cs typeface="Inter"/>
              </a:rPr>
              <a:t>api_latency</a:t>
            </a:r>
            <a:endParaRPr lang="en-US" sz="750"/>
          </a:p>
        </p:txBody>
      </p:sp>
      <p:pic>
        <p:nvPicPr>
          <p:cNvPr id="626358222" name="Image 20" descr="preencoded.png"/>
          <p:cNvPicPr>
            <a:picLocks noChangeAspect="1"/>
          </p:cNvPicPr>
          <p:nvPr/>
        </p:nvPicPr>
        <p:blipFill rotWithShape="1">
          <a:blip r:embed="rId22"/>
          <a:stretch/>
        </p:blipFill>
        <p:spPr bwMode="auto">
          <a:xfrm>
            <a:off x="8764488" y="4933206"/>
            <a:ext cx="811709" cy="238125"/>
          </a:xfrm>
          <a:prstGeom prst="rect">
            <a:avLst/>
          </a:prstGeom>
        </p:spPr>
      </p:pic>
      <p:sp>
        <p:nvSpPr>
          <p:cNvPr id="386428427" name="Text 36"/>
          <p:cNvSpPr txBox="1"/>
          <p:nvPr/>
        </p:nvSpPr>
        <p:spPr bwMode="auto">
          <a:xfrm>
            <a:off x="8850213" y="4990356"/>
            <a:ext cx="640259" cy="133350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25"/>
              </a:lnSpc>
              <a:buNone/>
              <a:defRPr/>
            </a:pPr>
            <a:r>
              <a:rPr lang="en-US" sz="750">
                <a:solidFill>
                  <a:srgbClr val="EAEFF2">
                    <a:alpha val="85000"/>
                  </a:srgbClr>
                </a:solidFill>
                <a:latin typeface="Inter"/>
                <a:ea typeface="Inter"/>
                <a:cs typeface="Inter"/>
              </a:rPr>
              <a:t>request_count</a:t>
            </a:r>
            <a:endParaRPr lang="en-US" sz="750"/>
          </a:p>
        </p:txBody>
      </p:sp>
      <p:pic>
        <p:nvPicPr>
          <p:cNvPr id="1172735460" name="Image 21" descr="preencoded.png"/>
          <p:cNvPicPr>
            <a:picLocks noChangeAspect="1"/>
          </p:cNvPicPr>
          <p:nvPr/>
        </p:nvPicPr>
        <p:blipFill rotWithShape="1">
          <a:blip r:embed="rId23"/>
          <a:stretch/>
        </p:blipFill>
        <p:spPr bwMode="auto">
          <a:xfrm>
            <a:off x="9633347" y="4933206"/>
            <a:ext cx="690414" cy="238125"/>
          </a:xfrm>
          <a:prstGeom prst="rect">
            <a:avLst/>
          </a:prstGeom>
        </p:spPr>
      </p:pic>
      <p:sp>
        <p:nvSpPr>
          <p:cNvPr id="1325843956" name="Text 37"/>
          <p:cNvSpPr txBox="1"/>
          <p:nvPr/>
        </p:nvSpPr>
        <p:spPr bwMode="auto">
          <a:xfrm>
            <a:off x="9719072" y="4990356"/>
            <a:ext cx="518964" cy="133350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25"/>
              </a:lnSpc>
              <a:buNone/>
              <a:defRPr/>
            </a:pPr>
            <a:r>
              <a:rPr lang="en-US" sz="750">
                <a:solidFill>
                  <a:srgbClr val="EAEFF2">
                    <a:alpha val="85000"/>
                  </a:srgbClr>
                </a:solidFill>
                <a:latin typeface="Inter"/>
                <a:ea typeface="Inter"/>
                <a:cs typeface="Inter"/>
              </a:rPr>
              <a:t>error_count</a:t>
            </a:r>
            <a:endParaRPr lang="en-US" sz="750"/>
          </a:p>
        </p:txBody>
      </p:sp>
      <p:pic>
        <p:nvPicPr>
          <p:cNvPr id="1034277073" name="Image 22" descr="preencoded.png"/>
          <p:cNvPicPr>
            <a:picLocks noChangeAspect="1"/>
          </p:cNvPicPr>
          <p:nvPr/>
        </p:nvPicPr>
        <p:blipFill rotWithShape="1">
          <a:blip r:embed="rId24"/>
          <a:stretch/>
        </p:blipFill>
        <p:spPr bwMode="auto">
          <a:xfrm>
            <a:off x="10380911" y="4933206"/>
            <a:ext cx="493068" cy="238125"/>
          </a:xfrm>
          <a:prstGeom prst="rect">
            <a:avLst/>
          </a:prstGeom>
        </p:spPr>
      </p:pic>
      <p:sp>
        <p:nvSpPr>
          <p:cNvPr id="1448388133" name="Text 38"/>
          <p:cNvSpPr txBox="1"/>
          <p:nvPr/>
        </p:nvSpPr>
        <p:spPr bwMode="auto">
          <a:xfrm>
            <a:off x="10466636" y="4990356"/>
            <a:ext cx="321618" cy="133350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25"/>
              </a:lnSpc>
              <a:buNone/>
              <a:defRPr/>
            </a:pPr>
            <a:r>
              <a:rPr lang="en-US" sz="750">
                <a:solidFill>
                  <a:srgbClr val="EAEFF2">
                    <a:alpha val="85000"/>
                  </a:srgbClr>
                </a:solidFill>
                <a:latin typeface="Inter"/>
                <a:ea typeface="Inter"/>
                <a:cs typeface="Inter"/>
              </a:rPr>
              <a:t>CPU %</a:t>
            </a:r>
            <a:endParaRPr lang="en-US" sz="75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15">
    <p:bg>
      <p:bgPr shadeToTitle="0">
        <a:solidFill>
          <a:srgbClr val="18162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51446875" name="Text 0"/>
          <p:cNvSpPr txBox="1"/>
          <p:nvPr/>
        </p:nvSpPr>
        <p:spPr bwMode="auto">
          <a:xfrm>
            <a:off x="533400" y="495300"/>
            <a:ext cx="6275784" cy="425648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>
              <a:buNone/>
              <a:defRPr/>
            </a:pPr>
            <a:r>
              <a:rPr lang="en-US" sz="3450" b="1" spc="-69">
                <a:solidFill>
                  <a:srgbClr val="EAEEF2"/>
                </a:solidFill>
                <a:latin typeface="Space Grotesk"/>
                <a:ea typeface="Space Grotesk"/>
                <a:cs typeface="Space Grotesk"/>
              </a:rPr>
              <a:t>Learnings — </a:t>
            </a:r>
            <a:r>
              <a:rPr lang="en-US" sz="3450" b="1" spc="-69">
                <a:solidFill>
                  <a:srgbClr val="67F4E2"/>
                </a:solidFill>
                <a:latin typeface="Inter"/>
                <a:ea typeface="Inter"/>
                <a:cs typeface="Inter"/>
              </a:rPr>
              <a:t>What I Learned</a:t>
            </a:r>
            <a:endParaRPr lang="en-US" sz="3450"/>
          </a:p>
        </p:txBody>
      </p:sp>
      <p:pic>
        <p:nvPicPr>
          <p:cNvPr id="767385955" name="Image 0" descr="preencoded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533400" y="1483668"/>
            <a:ext cx="6275784" cy="785515"/>
          </a:xfrm>
          <a:prstGeom prst="rect">
            <a:avLst/>
          </a:prstGeom>
        </p:spPr>
      </p:pic>
      <p:pic>
        <p:nvPicPr>
          <p:cNvPr id="1641921998" name="Image 1" descr="preencoded.png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>
            <a:off x="676275" y="1607493"/>
            <a:ext cx="266700" cy="266700"/>
          </a:xfrm>
          <a:prstGeom prst="rect">
            <a:avLst/>
          </a:prstGeom>
        </p:spPr>
      </p:pic>
      <p:sp>
        <p:nvSpPr>
          <p:cNvPr id="1286062993" name="Text 1"/>
          <p:cNvSpPr txBox="1"/>
          <p:nvPr/>
        </p:nvSpPr>
        <p:spPr bwMode="auto">
          <a:xfrm>
            <a:off x="746373" y="1664643"/>
            <a:ext cx="187077" cy="200025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50"/>
              </a:lnSpc>
              <a:buNone/>
              <a:defRPr/>
            </a:pPr>
            <a:r>
              <a:rPr lang="en-US" sz="900" b="1">
                <a:solidFill>
                  <a:srgbClr val="67F4E2"/>
                </a:solidFill>
                <a:latin typeface="Inter"/>
                <a:ea typeface="Inter"/>
                <a:cs typeface="Inter"/>
              </a:rPr>
              <a:t>01</a:t>
            </a:r>
            <a:endParaRPr lang="en-US" sz="900"/>
          </a:p>
        </p:txBody>
      </p:sp>
      <p:sp>
        <p:nvSpPr>
          <p:cNvPr id="190044859" name="Text 2"/>
          <p:cNvSpPr txBox="1"/>
          <p:nvPr/>
        </p:nvSpPr>
        <p:spPr bwMode="auto">
          <a:xfrm>
            <a:off x="1095375" y="1607493"/>
            <a:ext cx="5570934" cy="160734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66"/>
              </a:lnSpc>
              <a:spcAft>
                <a:spcPts val="300"/>
              </a:spcAft>
              <a:buNone/>
              <a:defRPr/>
            </a:pPr>
            <a:r>
              <a:rPr lang="en-US" sz="1000" b="1" spc="-10">
                <a:solidFill>
                  <a:srgbClr val="EAEEF2"/>
                </a:solidFill>
                <a:latin typeface="Space Grotesk"/>
                <a:ea typeface="Space Grotesk"/>
                <a:cs typeface="Space Grotesk"/>
              </a:rPr>
              <a:t>Separation of concerns: access.log vs app.log</a:t>
            </a:r>
            <a:endParaRPr lang="en-US" sz="1000"/>
          </a:p>
        </p:txBody>
      </p:sp>
      <p:sp>
        <p:nvSpPr>
          <p:cNvPr id="1416058898" name="Text 3"/>
          <p:cNvSpPr txBox="1"/>
          <p:nvPr/>
        </p:nvSpPr>
        <p:spPr bwMode="auto">
          <a:xfrm>
            <a:off x="1095375" y="1806327"/>
            <a:ext cx="5570934" cy="339030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>
              <a:buNone/>
              <a:defRPr/>
            </a:pPr>
            <a:r>
              <a:rPr lang="en-US" sz="900">
                <a:solidFill>
                  <a:srgbClr val="EAEEF3">
                    <a:alpha val="72000"/>
                  </a:srgbClr>
                </a:solidFill>
                <a:latin typeface="Inter"/>
                <a:ea typeface="Inter"/>
                <a:cs typeface="Inter"/>
              </a:rPr>
              <a:t>Pointing both </a:t>
            </a:r>
            <a:r>
              <a:rPr lang="en-US" sz="900" b="1">
                <a:solidFill>
                  <a:srgbClr val="EAEEF2"/>
                </a:solidFill>
                <a:latin typeface="Inter"/>
                <a:ea typeface="Inter"/>
                <a:cs typeface="Inter"/>
              </a:rPr>
              <a:t>--access-logfile</a:t>
            </a:r>
            <a:r>
              <a:rPr lang="en-US" sz="900">
                <a:solidFill>
                  <a:srgbClr val="EAEEF3">
                    <a:alpha val="72000"/>
                  </a:srgbClr>
                </a:solidFill>
                <a:latin typeface="Inter"/>
                <a:ea typeface="Inter"/>
                <a:cs typeface="Inter"/>
              </a:rPr>
              <a:t> and </a:t>
            </a:r>
            <a:r>
              <a:rPr lang="en-US" sz="900" b="1">
                <a:solidFill>
                  <a:srgbClr val="EAEEF2"/>
                </a:solidFill>
                <a:latin typeface="Inter"/>
                <a:ea typeface="Inter"/>
                <a:cs typeface="Inter"/>
              </a:rPr>
              <a:t>--error-logfile</a:t>
            </a:r>
            <a:r>
              <a:rPr lang="en-US" sz="900">
                <a:solidFill>
                  <a:srgbClr val="EAEEF3">
                    <a:alpha val="72000"/>
                  </a:srgbClr>
                </a:solidFill>
                <a:latin typeface="Inter"/>
                <a:ea typeface="Inter"/>
                <a:cs typeface="Inter"/>
              </a:rPr>
              <a:t> to same </a:t>
            </a:r>
            <a:r>
              <a:rPr lang="en-US" sz="900" b="1">
                <a:solidFill>
                  <a:srgbClr val="EAEEF2"/>
                </a:solidFill>
                <a:latin typeface="Inter"/>
                <a:ea typeface="Inter"/>
                <a:cs typeface="Inter"/>
              </a:rPr>
              <a:t>app.log</a:t>
            </a:r>
            <a:r>
              <a:rPr lang="en-US" sz="900">
                <a:solidFill>
                  <a:srgbClr val="EAEEF3">
                    <a:alpha val="72000"/>
                  </a:srgbClr>
                </a:solidFill>
                <a:latin typeface="Inter"/>
                <a:ea typeface="Inter"/>
                <a:cs typeface="Inter"/>
              </a:rPr>
              <a:t> mixes Apache format </a:t>
            </a:r>
            <a:r>
              <a:rPr lang="en-US" sz="900">
                <a:solidFill>
                  <a:srgbClr val="EAEEF3">
                    <a:alpha val="72000"/>
                  </a:srgbClr>
                </a:solidFill>
                <a:latin typeface="monospace"/>
                <a:ea typeface="monospace"/>
                <a:cs typeface="monospace"/>
              </a:rPr>
              <a:t>91.0.58.40 - - [13/Aug...]</a:t>
            </a:r>
            <a:r>
              <a:rPr lang="en-US" sz="900">
                <a:solidFill>
                  <a:srgbClr val="EAEEF3">
                    <a:alpha val="72000"/>
                  </a:srgbClr>
                </a:solidFill>
                <a:latin typeface="Inter"/>
                <a:ea typeface="Inter"/>
                <a:cs typeface="Inter"/>
              </a:rPr>
              <a:t> with JSON. Parser breaks → Discovered fields 11, no level.</a:t>
            </a:r>
            <a:endParaRPr lang="en-US" sz="900"/>
          </a:p>
        </p:txBody>
      </p:sp>
      <p:pic>
        <p:nvPicPr>
          <p:cNvPr id="65403245" name="Image 6" descr="preencoded.png"/>
          <p:cNvPicPr>
            <a:picLocks noChangeAspect="1"/>
          </p:cNvPicPr>
          <p:nvPr/>
        </p:nvPicPr>
        <p:blipFill rotWithShape="1">
          <a:blip r:embed="rId5"/>
          <a:stretch/>
        </p:blipFill>
        <p:spPr bwMode="auto">
          <a:xfrm>
            <a:off x="533399" y="3260580"/>
            <a:ext cx="6275784" cy="766465"/>
          </a:xfrm>
          <a:prstGeom prst="rect">
            <a:avLst/>
          </a:prstGeom>
        </p:spPr>
      </p:pic>
      <p:pic>
        <p:nvPicPr>
          <p:cNvPr id="896267642" name="Image 7" descr="preencoded.png"/>
          <p:cNvPicPr>
            <a:picLocks noChangeAspect="1"/>
          </p:cNvPicPr>
          <p:nvPr/>
        </p:nvPicPr>
        <p:blipFill rotWithShape="1">
          <a:blip r:embed="rId6"/>
          <a:stretch/>
        </p:blipFill>
        <p:spPr bwMode="auto">
          <a:xfrm>
            <a:off x="676274" y="3384406"/>
            <a:ext cx="266700" cy="266700"/>
          </a:xfrm>
          <a:prstGeom prst="rect">
            <a:avLst/>
          </a:prstGeom>
        </p:spPr>
      </p:pic>
      <p:sp>
        <p:nvSpPr>
          <p:cNvPr id="220042725" name="Text 10"/>
          <p:cNvSpPr txBox="1"/>
          <p:nvPr/>
        </p:nvSpPr>
        <p:spPr bwMode="auto">
          <a:xfrm>
            <a:off x="732382" y="3441556"/>
            <a:ext cx="127853" cy="200745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50"/>
              </a:lnSpc>
              <a:buNone/>
              <a:defRPr/>
            </a:pPr>
            <a:r>
              <a:rPr lang="en-US" sz="900" b="1">
                <a:solidFill>
                  <a:srgbClr val="67F4E2"/>
                </a:solidFill>
                <a:latin typeface="Inter"/>
                <a:ea typeface="Inter"/>
                <a:cs typeface="Inter"/>
              </a:rPr>
              <a:t>0</a:t>
            </a:r>
            <a:r>
              <a:rPr lang="de-DE" sz="900" b="1">
                <a:solidFill>
                  <a:srgbClr val="67F4E2"/>
                </a:solidFill>
                <a:latin typeface="Inter"/>
                <a:ea typeface="Inter"/>
                <a:cs typeface="Inter"/>
              </a:rPr>
              <a:t>2</a:t>
            </a:r>
            <a:endParaRPr lang="en-US" sz="900"/>
          </a:p>
        </p:txBody>
      </p:sp>
      <p:sp>
        <p:nvSpPr>
          <p:cNvPr id="310257843" name="Text 11"/>
          <p:cNvSpPr txBox="1"/>
          <p:nvPr/>
        </p:nvSpPr>
        <p:spPr bwMode="auto">
          <a:xfrm>
            <a:off x="1095374" y="3384406"/>
            <a:ext cx="5570934" cy="160734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66"/>
              </a:lnSpc>
              <a:spcAft>
                <a:spcPts val="300"/>
              </a:spcAft>
              <a:buNone/>
              <a:defRPr/>
            </a:pPr>
            <a:r>
              <a:rPr lang="en-US" sz="1000" b="1" spc="-10">
                <a:solidFill>
                  <a:srgbClr val="EAEEF2"/>
                </a:solidFill>
                <a:latin typeface="Space Grotesk"/>
                <a:ea typeface="Space Grotesk"/>
                <a:cs typeface="Space Grotesk"/>
              </a:rPr>
              <a:t>IAM least privilege bite</a:t>
            </a:r>
            <a:endParaRPr lang="en-US" sz="1000"/>
          </a:p>
        </p:txBody>
      </p:sp>
      <p:sp>
        <p:nvSpPr>
          <p:cNvPr id="1792687075" name="Text 12"/>
          <p:cNvSpPr txBox="1"/>
          <p:nvPr/>
        </p:nvSpPr>
        <p:spPr bwMode="auto">
          <a:xfrm>
            <a:off x="1095374" y="3583240"/>
            <a:ext cx="5570934" cy="319980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>
              <a:buNone/>
              <a:defRPr/>
            </a:pPr>
            <a:r>
              <a:rPr lang="en-US" sz="900" b="1">
                <a:solidFill>
                  <a:srgbClr val="EAEEF2"/>
                </a:solidFill>
                <a:latin typeface="Inter"/>
                <a:ea typeface="Inter"/>
                <a:cs typeface="Inter"/>
              </a:rPr>
              <a:t>proj2-ec2-role PutMetricData works</a:t>
            </a:r>
            <a:r>
              <a:rPr lang="en-US" sz="900">
                <a:solidFill>
                  <a:srgbClr val="EAEEF3">
                    <a:alpha val="72000"/>
                  </a:srgbClr>
                </a:solidFill>
                <a:latin typeface="Inter"/>
                <a:ea typeface="Inter"/>
                <a:cs typeface="Inter"/>
              </a:rPr>
              <a:t> but ListMetrics fails. Validate from Admin console, not EC2. Learned to test both planes.</a:t>
            </a:r>
            <a:endParaRPr lang="en-US" sz="900"/>
          </a:p>
        </p:txBody>
      </p:sp>
      <p:pic>
        <p:nvPicPr>
          <p:cNvPr id="759827195" name="Image 8" descr="preencoded.png"/>
          <p:cNvPicPr>
            <a:picLocks noChangeAspect="1"/>
          </p:cNvPicPr>
          <p:nvPr/>
        </p:nvPicPr>
        <p:blipFill rotWithShape="1">
          <a:blip r:embed="rId7"/>
          <a:stretch/>
        </p:blipFill>
        <p:spPr bwMode="auto">
          <a:xfrm>
            <a:off x="533400" y="5204817"/>
            <a:ext cx="6275784" cy="766465"/>
          </a:xfrm>
          <a:prstGeom prst="rect">
            <a:avLst/>
          </a:prstGeom>
        </p:spPr>
      </p:pic>
      <p:pic>
        <p:nvPicPr>
          <p:cNvPr id="95930989" name="Image 9" descr="preencoded.png"/>
          <p:cNvPicPr>
            <a:picLocks noChangeAspect="1"/>
          </p:cNvPicPr>
          <p:nvPr/>
        </p:nvPicPr>
        <p:blipFill rotWithShape="1">
          <a:blip r:embed="rId8"/>
          <a:stretch/>
        </p:blipFill>
        <p:spPr bwMode="auto">
          <a:xfrm>
            <a:off x="676275" y="5328642"/>
            <a:ext cx="266700" cy="266700"/>
          </a:xfrm>
          <a:prstGeom prst="rect">
            <a:avLst/>
          </a:prstGeom>
        </p:spPr>
      </p:pic>
      <p:sp>
        <p:nvSpPr>
          <p:cNvPr id="1628991008" name="Text 13"/>
          <p:cNvSpPr txBox="1"/>
          <p:nvPr/>
        </p:nvSpPr>
        <p:spPr bwMode="auto">
          <a:xfrm>
            <a:off x="735508" y="5385791"/>
            <a:ext cx="127853" cy="200745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50"/>
              </a:lnSpc>
              <a:buNone/>
              <a:defRPr/>
            </a:pPr>
            <a:r>
              <a:rPr lang="en-US" sz="900" b="1">
                <a:solidFill>
                  <a:srgbClr val="38BDF8"/>
                </a:solidFill>
                <a:latin typeface="Inter"/>
                <a:ea typeface="Inter"/>
                <a:cs typeface="Inter"/>
              </a:rPr>
              <a:t>0</a:t>
            </a:r>
            <a:r>
              <a:rPr lang="de-DE" sz="900" b="1">
                <a:solidFill>
                  <a:srgbClr val="38BDF8"/>
                </a:solidFill>
                <a:latin typeface="Inter"/>
                <a:ea typeface="Inter"/>
                <a:cs typeface="Inter"/>
              </a:rPr>
              <a:t>3</a:t>
            </a:r>
            <a:endParaRPr lang="en-US" sz="900"/>
          </a:p>
        </p:txBody>
      </p:sp>
      <p:sp>
        <p:nvSpPr>
          <p:cNvPr id="1726739959" name="Text 14"/>
          <p:cNvSpPr txBox="1"/>
          <p:nvPr/>
        </p:nvSpPr>
        <p:spPr bwMode="auto">
          <a:xfrm>
            <a:off x="1095375" y="5328642"/>
            <a:ext cx="5570934" cy="160734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66"/>
              </a:lnSpc>
              <a:spcAft>
                <a:spcPts val="300"/>
              </a:spcAft>
              <a:buNone/>
              <a:defRPr/>
            </a:pPr>
            <a:r>
              <a:rPr lang="en-US" sz="1000" b="1" spc="-10">
                <a:solidFill>
                  <a:srgbClr val="EAEEF2"/>
                </a:solidFill>
                <a:latin typeface="Space Grotesk"/>
                <a:ea typeface="Space Grotesk"/>
                <a:cs typeface="Space Grotesk"/>
              </a:rPr>
              <a:t>Correlation ID is game changer</a:t>
            </a:r>
            <a:endParaRPr lang="en-US" sz="1000"/>
          </a:p>
        </p:txBody>
      </p:sp>
      <p:sp>
        <p:nvSpPr>
          <p:cNvPr id="1085237909" name="Text 15"/>
          <p:cNvSpPr txBox="1"/>
          <p:nvPr/>
        </p:nvSpPr>
        <p:spPr bwMode="auto">
          <a:xfrm>
            <a:off x="1095375" y="5527477"/>
            <a:ext cx="5570934" cy="319980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>
              <a:buNone/>
              <a:defRPr/>
            </a:pPr>
            <a:r>
              <a:rPr lang="en-US" sz="900">
                <a:solidFill>
                  <a:srgbClr val="EAEEF3">
                    <a:alpha val="72000"/>
                  </a:srgbClr>
                </a:solidFill>
                <a:latin typeface="Inter"/>
                <a:ea typeface="Inter"/>
                <a:cs typeface="Inter"/>
              </a:rPr>
              <a:t>One header </a:t>
            </a:r>
            <a:r>
              <a:rPr lang="en-US" sz="900" b="1">
                <a:solidFill>
                  <a:srgbClr val="EAEEF2"/>
                </a:solidFill>
                <a:latin typeface="Inter"/>
                <a:ea typeface="Inter"/>
                <a:cs typeface="Inter"/>
              </a:rPr>
              <a:t>X-Correlation-ID</a:t>
            </a:r>
            <a:r>
              <a:rPr lang="en-US" sz="900">
                <a:solidFill>
                  <a:srgbClr val="EAEEF3">
                    <a:alpha val="72000"/>
                  </a:srgbClr>
                </a:solidFill>
                <a:latin typeface="Inter"/>
                <a:ea typeface="Inter"/>
                <a:cs typeface="Inter"/>
              </a:rPr>
              <a:t> = </a:t>
            </a:r>
            <a:r>
              <a:rPr lang="en-US" sz="900" b="1">
                <a:solidFill>
                  <a:srgbClr val="EAEEF2"/>
                </a:solidFill>
                <a:latin typeface="Inter"/>
                <a:ea typeface="Inter"/>
                <a:cs typeface="Inter"/>
              </a:rPr>
              <a:t>51e9ef29-4528…</a:t>
            </a:r>
            <a:r>
              <a:rPr lang="en-US" sz="900">
                <a:solidFill>
                  <a:srgbClr val="EAEEF3">
                    <a:alpha val="72000"/>
                  </a:srgbClr>
                </a:solidFill>
                <a:latin typeface="Inter"/>
                <a:ea typeface="Inter"/>
                <a:cs typeface="Inter"/>
              </a:rPr>
              <a:t> ties order_created + request_completed. Without X-Ray, full trace in Logs Insights via </a:t>
            </a:r>
            <a:r>
              <a:rPr lang="en-US" sz="900" b="1">
                <a:solidFill>
                  <a:srgbClr val="EAEEF2"/>
                </a:solidFill>
                <a:latin typeface="Inter"/>
                <a:ea typeface="Inter"/>
                <a:cs typeface="Inter"/>
              </a:rPr>
              <a:t>filter correlation_id="demo-123"</a:t>
            </a:r>
            <a:r>
              <a:rPr lang="en-US" sz="900">
                <a:solidFill>
                  <a:srgbClr val="EAEEF3">
                    <a:alpha val="72000"/>
                  </a:srgbClr>
                </a:solidFill>
                <a:latin typeface="Inter"/>
                <a:ea typeface="Inter"/>
                <a:cs typeface="Inter"/>
              </a:rPr>
              <a:t>.</a:t>
            </a:r>
            <a:endParaRPr lang="en-US" sz="900"/>
          </a:p>
        </p:txBody>
      </p:sp>
      <p:pic>
        <p:nvPicPr>
          <p:cNvPr id="1144901885" name="Image 10" descr="preencoded.png"/>
          <p:cNvPicPr>
            <a:picLocks noChangeAspect="1"/>
          </p:cNvPicPr>
          <p:nvPr/>
        </p:nvPicPr>
        <p:blipFill rotWithShape="1">
          <a:blip r:embed="rId9"/>
          <a:stretch/>
        </p:blipFill>
        <p:spPr bwMode="auto">
          <a:xfrm>
            <a:off x="7113984" y="495300"/>
            <a:ext cx="4544616" cy="5867399"/>
          </a:xfrm>
          <a:prstGeom prst="rect">
            <a:avLst/>
          </a:prstGeom>
        </p:spPr>
      </p:pic>
      <p:pic>
        <p:nvPicPr>
          <p:cNvPr id="743493388" name="Image 11" descr="preencoded.png"/>
          <p:cNvPicPr>
            <a:picLocks noChangeAspect="1"/>
          </p:cNvPicPr>
          <p:nvPr/>
        </p:nvPicPr>
        <p:blipFill rotWithShape="1">
          <a:blip r:embed="rId10"/>
          <a:stretch/>
        </p:blipFill>
        <p:spPr bwMode="auto">
          <a:xfrm>
            <a:off x="7123509" y="504825"/>
            <a:ext cx="4525566" cy="584835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16">
    <p:bg>
      <p:bgPr shadeToTitle="0">
        <a:solidFill>
          <a:srgbClr val="18162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01545282" name="Text 0"/>
          <p:cNvSpPr txBox="1"/>
          <p:nvPr/>
        </p:nvSpPr>
        <p:spPr bwMode="auto">
          <a:xfrm>
            <a:off x="533400" y="457200"/>
            <a:ext cx="11125200" cy="425648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>
              <a:buNone/>
              <a:defRPr/>
            </a:pPr>
            <a:r>
              <a:rPr lang="en-US" sz="3450" b="1" spc="-69">
                <a:solidFill>
                  <a:srgbClr val="EAEEF2"/>
                </a:solidFill>
                <a:latin typeface="Space Grotesk"/>
                <a:ea typeface="Space Grotesk"/>
                <a:cs typeface="Space Grotesk"/>
              </a:rPr>
              <a:t>What Would I Do </a:t>
            </a:r>
            <a:r>
              <a:rPr lang="en-US" sz="3450" b="1" spc="-69">
                <a:solidFill>
                  <a:srgbClr val="67F4E2"/>
                </a:solidFill>
                <a:latin typeface="Inter"/>
                <a:ea typeface="Inter"/>
                <a:cs typeface="Inter"/>
              </a:rPr>
              <a:t>Differently?</a:t>
            </a:r>
            <a:endParaRPr lang="en-US" sz="3450"/>
          </a:p>
        </p:txBody>
      </p:sp>
      <p:pic>
        <p:nvPicPr>
          <p:cNvPr id="247137435" name="Image 0" descr="preencoded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533400" y="1073348"/>
            <a:ext cx="5486400" cy="2587526"/>
          </a:xfrm>
          <a:prstGeom prst="rect">
            <a:avLst/>
          </a:prstGeom>
        </p:spPr>
      </p:pic>
      <p:sp>
        <p:nvSpPr>
          <p:cNvPr id="546801990" name="Text 1"/>
          <p:cNvSpPr txBox="1"/>
          <p:nvPr/>
        </p:nvSpPr>
        <p:spPr bwMode="auto">
          <a:xfrm>
            <a:off x="752475" y="1273373"/>
            <a:ext cx="5048250" cy="125611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990"/>
              </a:lnSpc>
              <a:buNone/>
              <a:defRPr/>
            </a:pPr>
            <a:r>
              <a:rPr lang="en-US" sz="850" b="1" spc="99">
                <a:solidFill>
                  <a:srgbClr val="67F4E2"/>
                </a:solidFill>
                <a:latin typeface="Space Grotesk"/>
                <a:ea typeface="Space Grotesk"/>
                <a:cs typeface="Space Grotesk"/>
              </a:rPr>
              <a:t>01 — INSTRUMENTATION</a:t>
            </a:r>
            <a:endParaRPr lang="en-US" sz="850"/>
          </a:p>
        </p:txBody>
      </p:sp>
      <p:sp>
        <p:nvSpPr>
          <p:cNvPr id="970953378" name="Text 2"/>
          <p:cNvSpPr txBox="1"/>
          <p:nvPr/>
        </p:nvSpPr>
        <p:spPr bwMode="auto">
          <a:xfrm>
            <a:off x="752475" y="1494234"/>
            <a:ext cx="5048250" cy="197048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552"/>
              </a:lnSpc>
              <a:buNone/>
              <a:defRPr/>
            </a:pPr>
            <a:r>
              <a:rPr lang="en-US" sz="1350" b="1" spc="-20">
                <a:solidFill>
                  <a:srgbClr val="EAEEF2"/>
                </a:solidFill>
                <a:latin typeface="Space Grotesk"/>
                <a:ea typeface="Space Grotesk"/>
                <a:cs typeface="Space Grotesk"/>
              </a:rPr>
              <a:t>Use OpenTelemetry SDK, not manual boto3 put_metric_data</a:t>
            </a:r>
            <a:endParaRPr lang="en-US" sz="1350"/>
          </a:p>
        </p:txBody>
      </p:sp>
      <p:sp>
        <p:nvSpPr>
          <p:cNvPr id="868492357" name="Text 3"/>
          <p:cNvSpPr txBox="1"/>
          <p:nvPr/>
        </p:nvSpPr>
        <p:spPr bwMode="auto">
          <a:xfrm>
            <a:off x="752475" y="1796058"/>
            <a:ext cx="5048250" cy="349448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14"/>
              </a:lnSpc>
              <a:buNone/>
              <a:defRPr/>
            </a:pPr>
            <a:r>
              <a:rPr lang="en-US" sz="1000">
                <a:solidFill>
                  <a:srgbClr val="EAEEF2">
                    <a:alpha val="76000"/>
                  </a:srgbClr>
                </a:solidFill>
                <a:latin typeface="Inter"/>
                <a:ea typeface="Inter"/>
                <a:cs typeface="Inter"/>
              </a:rPr>
              <a:t>Dimensions out of the box, context propagation, no try/except hand-rolled. OTEL → CloudWatch exporter keeps native but adds trace id.</a:t>
            </a:r>
            <a:endParaRPr lang="en-US" sz="1000"/>
          </a:p>
        </p:txBody>
      </p:sp>
      <p:pic>
        <p:nvPicPr>
          <p:cNvPr id="2052153875" name="Image 2" descr="preencoded.png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>
            <a:off x="6172200" y="1073348"/>
            <a:ext cx="5486400" cy="2587526"/>
          </a:xfrm>
          <a:prstGeom prst="rect">
            <a:avLst/>
          </a:prstGeom>
        </p:spPr>
      </p:pic>
      <p:sp>
        <p:nvSpPr>
          <p:cNvPr id="742247931" name="Text 5"/>
          <p:cNvSpPr txBox="1"/>
          <p:nvPr/>
        </p:nvSpPr>
        <p:spPr bwMode="auto">
          <a:xfrm>
            <a:off x="6391274" y="1273372"/>
            <a:ext cx="1426582" cy="132810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990"/>
              </a:lnSpc>
              <a:buNone/>
              <a:defRPr/>
            </a:pPr>
            <a:r>
              <a:rPr lang="en-US" sz="850" b="1" spc="99">
                <a:solidFill>
                  <a:srgbClr val="67F4E2"/>
                </a:solidFill>
                <a:latin typeface="Space Grotesk"/>
                <a:ea typeface="Space Grotesk"/>
                <a:cs typeface="Space Grotesk"/>
              </a:rPr>
              <a:t>02 — </a:t>
            </a:r>
            <a:r>
              <a:rPr lang="de-DE" sz="850" b="1" spc="99">
                <a:solidFill>
                  <a:srgbClr val="67F4E2"/>
                </a:solidFill>
                <a:latin typeface="Space Grotesk"/>
                <a:ea typeface="Space Grotesk"/>
                <a:cs typeface="Space Grotesk"/>
              </a:rPr>
              <a:t>USING GRAFANA </a:t>
            </a:r>
            <a:endParaRPr lang="en-US" sz="850"/>
          </a:p>
        </p:txBody>
      </p:sp>
      <p:sp>
        <p:nvSpPr>
          <p:cNvPr id="1392265242" name="Text 6"/>
          <p:cNvSpPr txBox="1"/>
          <p:nvPr/>
        </p:nvSpPr>
        <p:spPr bwMode="auto">
          <a:xfrm>
            <a:off x="6391274" y="1494234"/>
            <a:ext cx="3468853" cy="214687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552"/>
              </a:lnSpc>
              <a:buNone/>
              <a:defRPr/>
            </a:pPr>
            <a:r>
              <a:rPr lang="de-DE" sz="1350" b="1" spc="-20">
                <a:solidFill>
                  <a:srgbClr val="EAEEF2"/>
                </a:solidFill>
                <a:latin typeface="Space Grotesk"/>
                <a:ea typeface="Space Grotesk"/>
                <a:cs typeface="Space Grotesk"/>
              </a:rPr>
              <a:t>Using a third-parthy opensource dashboard</a:t>
            </a:r>
            <a:endParaRPr lang="en-US" sz="1350"/>
          </a:p>
        </p:txBody>
      </p:sp>
      <p:sp>
        <p:nvSpPr>
          <p:cNvPr id="1738280646" name="Text 7"/>
          <p:cNvSpPr txBox="1"/>
          <p:nvPr/>
        </p:nvSpPr>
        <p:spPr bwMode="auto">
          <a:xfrm>
            <a:off x="6391275" y="1796058"/>
            <a:ext cx="5048250" cy="349448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14"/>
              </a:lnSpc>
              <a:buNone/>
              <a:defRPr/>
            </a:pPr>
            <a:r>
              <a:rPr lang="de-DE" sz="1000">
                <a:solidFill>
                  <a:srgbClr val="EAEEF2">
                    <a:alpha val="76000"/>
                  </a:srgbClr>
                </a:solidFill>
                <a:latin typeface="Inter"/>
                <a:ea typeface="Inter"/>
                <a:cs typeface="Inter"/>
              </a:rPr>
              <a:t>It cloud be a good practice for multi-cloud environmet with no dependency on Cloudwatch</a:t>
            </a:r>
            <a:endParaRPr lang="en-US" sz="10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18">
    <p:bg>
      <p:bgPr shadeToTitle="0">
        <a:solidFill>
          <a:srgbClr val="18162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55831210" name="Text 0"/>
          <p:cNvSpPr txBox="1"/>
          <p:nvPr/>
        </p:nvSpPr>
        <p:spPr bwMode="auto">
          <a:xfrm>
            <a:off x="609600" y="1148358"/>
            <a:ext cx="10972800" cy="1140619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  <a:defRPr/>
            </a:pPr>
            <a:r>
              <a:rPr lang="en-US" sz="4800" b="1" spc="-95">
                <a:solidFill>
                  <a:srgbClr val="EAEEF2"/>
                </a:solidFill>
                <a:latin typeface="Space Grotesk"/>
                <a:ea typeface="Space Grotesk"/>
                <a:cs typeface="Space Grotesk"/>
              </a:rPr>
              <a:t>Thank You </a:t>
            </a:r>
            <a:endParaRPr lang="en-US" sz="4800"/>
          </a:p>
          <a:p>
            <a:pPr marL="0" indent="0" algn="ctr">
              <a:buNone/>
              <a:defRPr/>
            </a:pPr>
            <a:endParaRPr lang="en-US" sz="4800" b="1" spc="-95">
              <a:solidFill>
                <a:srgbClr val="EAEEF2"/>
              </a:solidFill>
              <a:latin typeface="Space Grotesk"/>
              <a:ea typeface="Space Grotesk"/>
              <a:cs typeface="Space Grotesk"/>
            </a:endParaRPr>
          </a:p>
          <a:p>
            <a:pPr marL="0" indent="0" algn="ctr">
              <a:buNone/>
              <a:defRPr/>
            </a:pPr>
            <a:r>
              <a:rPr lang="en-US" sz="4800" b="1" spc="-95">
                <a:solidFill>
                  <a:srgbClr val="EAEEF2"/>
                </a:solidFill>
                <a:latin typeface="Space Grotesk"/>
                <a:ea typeface="Space Grotesk"/>
                <a:cs typeface="Space Grotesk"/>
              </a:rPr>
              <a:t> </a:t>
            </a:r>
            <a:r>
              <a:rPr lang="de-DE" sz="4800" b="1" spc="-95">
                <a:solidFill>
                  <a:srgbClr val="67F4E2"/>
                </a:solidFill>
                <a:latin typeface="Inter"/>
                <a:ea typeface="Inter"/>
                <a:cs typeface="Inter"/>
              </a:rPr>
              <a:t>Q&amp;A</a:t>
            </a:r>
            <a:endParaRPr lang="en-US" sz="4800"/>
          </a:p>
        </p:txBody>
      </p:sp>
      <p:sp>
        <p:nvSpPr>
          <p:cNvPr id="375310395" name="Shape 11"/>
          <p:cNvSpPr/>
          <p:nvPr/>
        </p:nvSpPr>
        <p:spPr bwMode="auto">
          <a:xfrm>
            <a:off x="1619250" y="5210175"/>
            <a:ext cx="8953500" cy="9525"/>
          </a:xfrm>
          <a:prstGeom prst="rect">
            <a:avLst/>
          </a:prstGeom>
          <a:solidFill>
            <a:srgbClr val="EBEBF5">
              <a:alpha val="10000"/>
            </a:srgbClr>
          </a:solidFill>
          <a:ln/>
        </p:spPr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theme/_rels/theme1.xml.rels><?xml version="1.0" encoding="UTF-8" standalone="yes"?><Relationships xmlns="http://schemas.openxmlformats.org/package/2006/relationships"></Relationships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Arial"/>
        <a:cs typeface="Arial"/>
      </a:majorFont>
      <a:minorFont>
        <a:latin typeface="Calibri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ONLYOFFICE/9.4.0.129</Application>
  <PresentationFormat>On-screen Show (4:3)</PresentationFormat>
  <Paragraphs>0</Paragraphs>
  <Slides>13</Slides>
  <Notes>13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4" baseType="lpstr">
      <vt:lpstr>Theme 1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Proj2-Observability-Deep-Dive</dc:title>
  <dc:subject>PptxGenJS Presentation</dc:subject>
  <dc:creator>PptxGenJS</dc:creator>
  <cp:lastModifiedBy/>
  <cp:revision>3</cp:revision>
  <dcterms:created xsi:type="dcterms:W3CDTF">2026-08-14T09:44:03Z</dcterms:created>
  <dcterms:modified xsi:type="dcterms:W3CDTF">2026-08-17T15:30:10Z</dcterms:modified>
</cp:coreProperties>
</file>