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98892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551746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69110346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0091536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4516628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671695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8391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62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8053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468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6678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3169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420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8319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Test note</a:t>
            </a:r>
            <a:endParaRPr lang="en-US"/>
          </a:p>
        </p:txBody>
      </p:sp>
      <p:sp>
        <p:nvSpPr>
          <p:cNvPr id="8933295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2303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75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1704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4C7331-0136-E50C-3B6B-53C18218AC2D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636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50251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50986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6797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47748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743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147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7116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77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3199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7136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1158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081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6156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4616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353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7295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2608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837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4424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84808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302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3080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4733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png"/><Relationship Id="rId17" Type="http://schemas.openxmlformats.org/officeDocument/2006/relationships/image" Target="../media/image38.png"/><Relationship Id="rId18" Type="http://schemas.openxmlformats.org/officeDocument/2006/relationships/image" Target="../media/image39.png"/><Relationship Id="rId19" Type="http://schemas.openxmlformats.org/officeDocument/2006/relationships/image" Target="../media/image4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15" Type="http://schemas.openxmlformats.org/officeDocument/2006/relationships/image" Target="../media/image65.png"/><Relationship Id="rId16" Type="http://schemas.openxmlformats.org/officeDocument/2006/relationships/image" Target="../media/image66.png"/><Relationship Id="rId17" Type="http://schemas.openxmlformats.org/officeDocument/2006/relationships/image" Target="../media/image67.png"/><Relationship Id="rId18" Type="http://schemas.openxmlformats.org/officeDocument/2006/relationships/image" Target="../media/image68.png"/><Relationship Id="rId19" Type="http://schemas.openxmlformats.org/officeDocument/2006/relationships/image" Target="../media/image69.png"/><Relationship Id="rId20" Type="http://schemas.openxmlformats.org/officeDocument/2006/relationships/image" Target="../media/image70.png"/><Relationship Id="rId21" Type="http://schemas.openxmlformats.org/officeDocument/2006/relationships/image" Target="../media/image71.png"/><Relationship Id="rId22" Type="http://schemas.openxmlformats.org/officeDocument/2006/relationships/image" Target="../media/image72.png"/><Relationship Id="rId23" Type="http://schemas.openxmlformats.org/officeDocument/2006/relationships/image" Target="../media/image73.png"/><Relationship Id="rId24" Type="http://schemas.openxmlformats.org/officeDocument/2006/relationships/image" Target="../media/image7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5.png"/><Relationship Id="rId4" Type="http://schemas.openxmlformats.org/officeDocument/2006/relationships/image" Target="../media/image7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816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173344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6827490" cy="6858000"/>
          </a:xfrm>
          <a:prstGeom prst="rect">
            <a:avLst/>
          </a:prstGeom>
        </p:spPr>
      </p:pic>
      <p:sp>
        <p:nvSpPr>
          <p:cNvPr id="1229979019" name="Text 0"/>
          <p:cNvSpPr txBox="1"/>
          <p:nvPr/>
        </p:nvSpPr>
        <p:spPr bwMode="auto">
          <a:xfrm>
            <a:off x="0" y="0"/>
            <a:ext cx="6827491" cy="6858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  <a:defRPr/>
            </a:pPr>
            <a:endParaRPr lang="en-US" sz="1350"/>
          </a:p>
        </p:txBody>
      </p:sp>
      <p:sp>
        <p:nvSpPr>
          <p:cNvPr id="1679785311" name="Shape 1"/>
          <p:cNvSpPr/>
          <p:nvPr/>
        </p:nvSpPr>
        <p:spPr bwMode="auto">
          <a:xfrm>
            <a:off x="6829425" y="0"/>
            <a:ext cx="5362575" cy="6858000"/>
          </a:xfrm>
          <a:prstGeom prst="rect">
            <a:avLst/>
          </a:prstGeom>
          <a:solidFill>
            <a:srgbClr val="181622"/>
          </a:solidFill>
          <a:ln/>
        </p:spPr>
      </p:sp>
      <p:sp>
        <p:nvSpPr>
          <p:cNvPr id="1869990513" name="Text 2"/>
          <p:cNvSpPr txBox="1"/>
          <p:nvPr/>
        </p:nvSpPr>
        <p:spPr bwMode="auto">
          <a:xfrm flipH="0" flipV="0">
            <a:off x="7284690" y="2313383"/>
            <a:ext cx="4432931" cy="3619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indent="0" algn="l">
              <a:lnSpc>
                <a:spcPts val="1459"/>
              </a:lnSpc>
              <a:spcBef>
                <a:spcPts val="0"/>
              </a:spcBef>
              <a:spcAft>
                <a:spcPts val="1499"/>
              </a:spcAft>
              <a:buNone/>
              <a:defRPr/>
            </a:pPr>
            <a:r>
              <a:rPr sz="1400" b="1" i="0" u="none" strike="noStrike" cap="none" spc="136">
                <a:solidFill>
                  <a:srgbClr val="67F4E2"/>
                </a:solidFill>
                <a:latin typeface="Inter"/>
                <a:ea typeface="Inter"/>
                <a:cs typeface="Inter"/>
              </a:rPr>
              <a:t>Instrume</a:t>
            </a:r>
            <a:r>
              <a:rPr sz="1400" b="1" i="0" u="none" strike="noStrike" cap="none" spc="136">
                <a:solidFill>
                  <a:srgbClr val="67F4E2"/>
                </a:solidFill>
                <a:latin typeface="Inter"/>
                <a:ea typeface="Inter"/>
                <a:cs typeface="Inter"/>
              </a:rPr>
              <a:t>nted </a:t>
            </a:r>
            <a:r>
              <a:rPr sz="1400" b="1" i="0" u="none" strike="noStrike" cap="none" spc="136">
                <a:solidFill>
                  <a:srgbClr val="67F4E2"/>
                </a:solidFill>
                <a:latin typeface="Inter"/>
                <a:ea typeface="Inter"/>
                <a:cs typeface="Inter"/>
              </a:rPr>
              <a:t>&amp; Monitored Cloud Service</a:t>
            </a:r>
            <a:endParaRPr sz="1400"/>
          </a:p>
        </p:txBody>
      </p:sp>
      <p:sp>
        <p:nvSpPr>
          <p:cNvPr id="1509516403" name="Text 3"/>
          <p:cNvSpPr txBox="1"/>
          <p:nvPr/>
        </p:nvSpPr>
        <p:spPr bwMode="auto">
          <a:xfrm>
            <a:off x="7284690" y="2865834"/>
            <a:ext cx="3704593" cy="11346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  <a:defRPr/>
            </a:pPr>
            <a:r>
              <a:rPr lang="en-US" sz="4800" b="1" spc="-95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Observability</a:t>
            </a:r>
            <a:endParaRPr lang="en-US" sz="4800"/>
          </a:p>
          <a:p>
            <a:pPr marL="0" indent="0" algn="l">
              <a:lnSpc>
                <a:spcPts val="4800"/>
              </a:lnSpc>
              <a:buNone/>
              <a:defRPr/>
            </a:pPr>
            <a:r>
              <a:rPr lang="de-DE" sz="4800" b="1" spc="-95">
                <a:solidFill>
                  <a:srgbClr val="67F4E2"/>
                </a:solidFill>
                <a:latin typeface="Inter"/>
                <a:ea typeface="Inter"/>
                <a:cs typeface="Inter"/>
              </a:rPr>
              <a:t>Monitoring</a:t>
            </a:r>
            <a:endParaRPr lang="en-US" sz="4800"/>
          </a:p>
        </p:txBody>
      </p:sp>
      <p:pic>
        <p:nvPicPr>
          <p:cNvPr id="48341856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284690" y="4263628"/>
            <a:ext cx="1913186" cy="290513"/>
          </a:xfrm>
          <a:prstGeom prst="rect">
            <a:avLst/>
          </a:prstGeom>
        </p:spPr>
      </p:pic>
      <p:sp>
        <p:nvSpPr>
          <p:cNvPr id="1499042263" name="Text 4"/>
          <p:cNvSpPr txBox="1"/>
          <p:nvPr/>
        </p:nvSpPr>
        <p:spPr bwMode="auto">
          <a:xfrm>
            <a:off x="7408514" y="4339827"/>
            <a:ext cx="1773236" cy="15807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>
              <a:defRPr/>
            </a:pPr>
            <a:r>
              <a:rPr lang="de-DE" sz="850" b="1" i="0" u="none" strike="noStrike" cap="none" spc="136">
                <a:solidFill>
                  <a:srgbClr val="67F4E2"/>
                </a:solidFill>
                <a:latin typeface="Inter"/>
                <a:ea typeface="Inter"/>
                <a:cs typeface="Inter"/>
              </a:rPr>
              <a:t>Cloud Engineer</a:t>
            </a:r>
            <a:r>
              <a:rPr lang="de-DE" sz="850" b="1" i="0" u="none" strike="noStrike" cap="none" spc="136">
                <a:solidFill>
                  <a:srgbClr val="67F4E2"/>
                </a:solidFill>
                <a:latin typeface="Inter"/>
                <a:ea typeface="Inter"/>
                <a:cs typeface="Inter"/>
              </a:rPr>
              <a:t> / Ironhack</a:t>
            </a:r>
            <a:endParaRPr lang="de-DE" sz="850" b="1" i="0" u="none" strike="noStrike" cap="none" spc="136">
              <a:solidFill>
                <a:srgbClr val="67F4E2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  <p:pic>
        <p:nvPicPr>
          <p:cNvPr id="1117175794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312175" y="4263627"/>
            <a:ext cx="1869085" cy="290512"/>
          </a:xfrm>
          <a:prstGeom prst="rect">
            <a:avLst/>
          </a:prstGeom>
        </p:spPr>
      </p:pic>
      <p:sp>
        <p:nvSpPr>
          <p:cNvPr id="592348876" name="Text 5"/>
          <p:cNvSpPr txBox="1"/>
          <p:nvPr/>
        </p:nvSpPr>
        <p:spPr bwMode="auto">
          <a:xfrm>
            <a:off x="9436000" y="4335065"/>
            <a:ext cx="1650776" cy="17247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  <a:defRPr/>
            </a:pPr>
            <a:r>
              <a:rPr lang="de-DE" sz="850">
                <a:solidFill>
                  <a:srgbClr val="EAEEF2"/>
                </a:solidFill>
                <a:latin typeface="Inter"/>
                <a:ea typeface="Inter"/>
                <a:cs typeface="Inter"/>
              </a:rPr>
              <a:t>Faramarz Karamizadeh, Aug.2026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1816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108247" name="Text 0"/>
          <p:cNvSpPr txBox="1"/>
          <p:nvPr/>
        </p:nvSpPr>
        <p:spPr bwMode="auto">
          <a:xfrm>
            <a:off x="533399" y="533399"/>
            <a:ext cx="1757541" cy="49565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  <a:defRPr/>
            </a:pPr>
            <a:r>
              <a:rPr lang="en-US" sz="3900" b="1" spc="-77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Agenda </a:t>
            </a:r>
            <a:endParaRPr lang="en-US" sz="3900"/>
          </a:p>
        </p:txBody>
      </p:sp>
      <p:pic>
        <p:nvPicPr>
          <p:cNvPr id="58305895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3400" y="1914525"/>
            <a:ext cx="7048500" cy="514350"/>
          </a:xfrm>
          <a:prstGeom prst="rect">
            <a:avLst/>
          </a:prstGeom>
        </p:spPr>
      </p:pic>
      <p:sp>
        <p:nvSpPr>
          <p:cNvPr id="1252844597" name="Text 1"/>
          <p:cNvSpPr txBox="1"/>
          <p:nvPr/>
        </p:nvSpPr>
        <p:spPr bwMode="auto">
          <a:xfrm>
            <a:off x="714375" y="2095499"/>
            <a:ext cx="73431" cy="1644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  <a:defRPr/>
            </a:pPr>
            <a:r>
              <a:rPr lang="de-DE" sz="900" b="1" spc="72">
                <a:solidFill>
                  <a:srgbClr val="67F4E2"/>
                </a:solidFill>
                <a:latin typeface="Inter"/>
                <a:ea typeface="Inter"/>
                <a:cs typeface="Inter"/>
              </a:rPr>
              <a:t>1</a:t>
            </a:r>
            <a:endParaRPr lang="en-US" sz="900"/>
          </a:p>
        </p:txBody>
      </p:sp>
      <p:sp>
        <p:nvSpPr>
          <p:cNvPr id="560221307" name="Text 2"/>
          <p:cNvSpPr txBox="1"/>
          <p:nvPr/>
        </p:nvSpPr>
        <p:spPr bwMode="auto">
          <a:xfrm>
            <a:off x="1666875" y="2076450"/>
            <a:ext cx="497205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1. Architecture &amp; Instrumentation</a:t>
            </a:r>
            <a:endParaRPr lang="en-US" sz="1200"/>
          </a:p>
        </p:txBody>
      </p:sp>
      <p:pic>
        <p:nvPicPr>
          <p:cNvPr id="161543499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33400" y="2562225"/>
            <a:ext cx="7048500" cy="514350"/>
          </a:xfrm>
          <a:prstGeom prst="rect">
            <a:avLst/>
          </a:prstGeom>
        </p:spPr>
      </p:pic>
      <p:sp>
        <p:nvSpPr>
          <p:cNvPr id="1451133410" name="Text 4"/>
          <p:cNvSpPr txBox="1"/>
          <p:nvPr/>
        </p:nvSpPr>
        <p:spPr bwMode="auto">
          <a:xfrm>
            <a:off x="714375" y="2743200"/>
            <a:ext cx="73431" cy="1622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  <a:defRPr/>
            </a:pPr>
            <a:r>
              <a:rPr lang="de-DE" sz="900" b="1" spc="72">
                <a:solidFill>
                  <a:srgbClr val="67F4E2"/>
                </a:solidFill>
                <a:latin typeface="Inter"/>
                <a:ea typeface="Inter"/>
                <a:cs typeface="Inter"/>
              </a:rPr>
              <a:t>2</a:t>
            </a:r>
            <a:endParaRPr lang="en-US" sz="900"/>
          </a:p>
        </p:txBody>
      </p:sp>
      <p:sp>
        <p:nvSpPr>
          <p:cNvPr id="2127782036" name="Text 5"/>
          <p:cNvSpPr txBox="1"/>
          <p:nvPr/>
        </p:nvSpPr>
        <p:spPr bwMode="auto">
          <a:xfrm>
            <a:off x="1666875" y="2724150"/>
            <a:ext cx="497205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2. Live Demo — Dashboard &amp; Monitoring</a:t>
            </a:r>
            <a:endParaRPr lang="en-US" sz="1200"/>
          </a:p>
        </p:txBody>
      </p:sp>
      <p:pic>
        <p:nvPicPr>
          <p:cNvPr id="1459936454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33400" y="3209925"/>
            <a:ext cx="7048500" cy="514350"/>
          </a:xfrm>
          <a:prstGeom prst="rect">
            <a:avLst/>
          </a:prstGeom>
        </p:spPr>
      </p:pic>
      <p:sp>
        <p:nvSpPr>
          <p:cNvPr id="1159880331" name="Text 7"/>
          <p:cNvSpPr txBox="1"/>
          <p:nvPr/>
        </p:nvSpPr>
        <p:spPr bwMode="auto">
          <a:xfrm>
            <a:off x="714375" y="3390899"/>
            <a:ext cx="73431" cy="1622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  <a:defRPr/>
            </a:pPr>
            <a:r>
              <a:rPr lang="de-DE" sz="900" b="1" spc="72">
                <a:solidFill>
                  <a:srgbClr val="67F4E2"/>
                </a:solidFill>
                <a:latin typeface="Inter"/>
                <a:ea typeface="Inter"/>
                <a:cs typeface="Inter"/>
              </a:rPr>
              <a:t>3</a:t>
            </a:r>
            <a:endParaRPr lang="en-US" sz="900"/>
          </a:p>
        </p:txBody>
      </p:sp>
      <p:sp>
        <p:nvSpPr>
          <p:cNvPr id="723416929" name="Text 8"/>
          <p:cNvSpPr txBox="1"/>
          <p:nvPr/>
        </p:nvSpPr>
        <p:spPr bwMode="auto">
          <a:xfrm>
            <a:off x="1666875" y="3371850"/>
            <a:ext cx="497205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3. Incident Response Simulation</a:t>
            </a:r>
            <a:endParaRPr lang="en-US" sz="1200"/>
          </a:p>
        </p:txBody>
      </p:sp>
      <p:pic>
        <p:nvPicPr>
          <p:cNvPr id="1650303298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33400" y="3857625"/>
            <a:ext cx="7048500" cy="514350"/>
          </a:xfrm>
          <a:prstGeom prst="rect">
            <a:avLst/>
          </a:prstGeom>
        </p:spPr>
      </p:pic>
      <p:sp>
        <p:nvSpPr>
          <p:cNvPr id="158549456" name="Text 10"/>
          <p:cNvSpPr txBox="1"/>
          <p:nvPr/>
        </p:nvSpPr>
        <p:spPr bwMode="auto">
          <a:xfrm>
            <a:off x="714375" y="4038599"/>
            <a:ext cx="73431" cy="1622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  <a:defRPr/>
            </a:pPr>
            <a:r>
              <a:rPr lang="de-DE" sz="900" b="1" spc="72">
                <a:solidFill>
                  <a:srgbClr val="67F4E2"/>
                </a:solidFill>
                <a:latin typeface="Inter"/>
                <a:ea typeface="Inter"/>
                <a:cs typeface="Inter"/>
              </a:rPr>
              <a:t>4</a:t>
            </a:r>
            <a:endParaRPr lang="en-US" sz="900"/>
          </a:p>
        </p:txBody>
      </p:sp>
      <p:sp>
        <p:nvSpPr>
          <p:cNvPr id="101710957" name="Text 11"/>
          <p:cNvSpPr txBox="1"/>
          <p:nvPr/>
        </p:nvSpPr>
        <p:spPr bwMode="auto">
          <a:xfrm>
            <a:off x="1666875" y="4019550"/>
            <a:ext cx="497205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4. Alerting &amp; Response</a:t>
            </a:r>
            <a:endParaRPr lang="en-US" sz="1200"/>
          </a:p>
        </p:txBody>
      </p:sp>
      <p:pic>
        <p:nvPicPr>
          <p:cNvPr id="1780468618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33400" y="4505325"/>
            <a:ext cx="7048500" cy="514350"/>
          </a:xfrm>
          <a:prstGeom prst="rect">
            <a:avLst/>
          </a:prstGeom>
        </p:spPr>
      </p:pic>
      <p:sp>
        <p:nvSpPr>
          <p:cNvPr id="2046881380" name="Text 13"/>
          <p:cNvSpPr txBox="1"/>
          <p:nvPr/>
        </p:nvSpPr>
        <p:spPr bwMode="auto">
          <a:xfrm>
            <a:off x="714375" y="4686300"/>
            <a:ext cx="73431" cy="1622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  <a:defRPr/>
            </a:pPr>
            <a:r>
              <a:rPr lang="de-DE" sz="900" b="1" spc="72">
                <a:solidFill>
                  <a:srgbClr val="67F4E2"/>
                </a:solidFill>
                <a:latin typeface="Inter"/>
                <a:ea typeface="Inter"/>
                <a:cs typeface="Inter"/>
              </a:rPr>
              <a:t>5</a:t>
            </a:r>
            <a:endParaRPr lang="en-US" sz="900"/>
          </a:p>
        </p:txBody>
      </p:sp>
      <p:sp>
        <p:nvSpPr>
          <p:cNvPr id="1951355360" name="Text 14"/>
          <p:cNvSpPr txBox="1"/>
          <p:nvPr/>
        </p:nvSpPr>
        <p:spPr bwMode="auto">
          <a:xfrm>
            <a:off x="1666874" y="4667249"/>
            <a:ext cx="1211876" cy="2138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5. Improvements</a:t>
            </a:r>
            <a:endParaRPr lang="en-US" sz="1200"/>
          </a:p>
        </p:txBody>
      </p:sp>
      <p:pic>
        <p:nvPicPr>
          <p:cNvPr id="1044301596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33400" y="5153024"/>
            <a:ext cx="7048500" cy="514350"/>
          </a:xfrm>
          <a:prstGeom prst="rect">
            <a:avLst/>
          </a:prstGeom>
        </p:spPr>
      </p:pic>
      <p:sp>
        <p:nvSpPr>
          <p:cNvPr id="377255994" name="Text 16"/>
          <p:cNvSpPr txBox="1"/>
          <p:nvPr/>
        </p:nvSpPr>
        <p:spPr bwMode="auto">
          <a:xfrm>
            <a:off x="714375" y="5333999"/>
            <a:ext cx="73431" cy="1622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  <a:defRPr/>
            </a:pPr>
            <a:r>
              <a:rPr lang="de-DE" sz="900" b="1" spc="72">
                <a:solidFill>
                  <a:srgbClr val="67F4E2"/>
                </a:solidFill>
                <a:latin typeface="Inter"/>
                <a:ea typeface="Inter"/>
                <a:cs typeface="Inter"/>
              </a:rPr>
              <a:t>6</a:t>
            </a:r>
            <a:endParaRPr lang="en-US" sz="900"/>
          </a:p>
        </p:txBody>
      </p:sp>
      <p:sp>
        <p:nvSpPr>
          <p:cNvPr id="1635594893" name="Text 17"/>
          <p:cNvSpPr txBox="1"/>
          <p:nvPr/>
        </p:nvSpPr>
        <p:spPr bwMode="auto">
          <a:xfrm>
            <a:off x="1666874" y="5314949"/>
            <a:ext cx="508813" cy="2099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6. Q&amp;A </a:t>
            </a:r>
            <a:endParaRPr lang="en-US" sz="1200"/>
          </a:p>
        </p:txBody>
      </p:sp>
      <p:pic>
        <p:nvPicPr>
          <p:cNvPr id="689358981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8039100" y="1257300"/>
            <a:ext cx="3619500" cy="5067300"/>
          </a:xfrm>
          <a:prstGeom prst="rect">
            <a:avLst/>
          </a:prstGeom>
        </p:spPr>
      </p:pic>
      <p:sp>
        <p:nvSpPr>
          <p:cNvPr id="2069766592" name="Text 19"/>
          <p:cNvSpPr txBox="1"/>
          <p:nvPr/>
        </p:nvSpPr>
        <p:spPr bwMode="auto">
          <a:xfrm>
            <a:off x="8277224" y="2581423"/>
            <a:ext cx="1753882" cy="34362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700" b="1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1</a:t>
            </a:r>
            <a:r>
              <a:rPr lang="de-DE" sz="2700" b="1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6</a:t>
            </a:r>
            <a:r>
              <a:rPr lang="en-US" sz="2700" b="1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 widgets</a:t>
            </a:r>
            <a:endParaRPr lang="en-US" sz="2700"/>
          </a:p>
        </p:txBody>
      </p:sp>
      <p:sp>
        <p:nvSpPr>
          <p:cNvPr id="1631593722" name="Text 20"/>
          <p:cNvSpPr txBox="1"/>
          <p:nvPr/>
        </p:nvSpPr>
        <p:spPr bwMode="auto">
          <a:xfrm>
            <a:off x="8277225" y="2981474"/>
            <a:ext cx="3143250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  <a:defRPr/>
            </a:pPr>
            <a:r>
              <a:rPr lang="en-US" sz="900">
                <a:solidFill>
                  <a:srgbClr val="EAEEF2">
                    <a:alpha val="70000"/>
                  </a:srgbClr>
                </a:solidFill>
                <a:latin typeface="Inter"/>
                <a:ea typeface="Inter"/>
                <a:cs typeface="Inter"/>
              </a:rPr>
              <a:t> • Period 60s • SingleValue + Golden Signals + Correlation</a:t>
            </a:r>
            <a:endParaRPr lang="en-US" sz="900"/>
          </a:p>
        </p:txBody>
      </p:sp>
      <p:sp>
        <p:nvSpPr>
          <p:cNvPr id="851809671" name="Shape 21"/>
          <p:cNvSpPr/>
          <p:nvPr/>
        </p:nvSpPr>
        <p:spPr bwMode="auto">
          <a:xfrm>
            <a:off x="8277225" y="3448050"/>
            <a:ext cx="3143250" cy="9525"/>
          </a:xfrm>
          <a:prstGeom prst="rect">
            <a:avLst/>
          </a:prstGeom>
          <a:solidFill>
            <a:srgbClr val="E6EFEF">
              <a:alpha val="12000"/>
            </a:srgbClr>
          </a:solidFill>
          <a:ln/>
        </p:spPr>
      </p:sp>
      <p:sp>
        <p:nvSpPr>
          <p:cNvPr id="1731341760" name="Text 22"/>
          <p:cNvSpPr txBox="1"/>
          <p:nvPr/>
        </p:nvSpPr>
        <p:spPr bwMode="auto">
          <a:xfrm>
            <a:off x="8277224" y="3630960"/>
            <a:ext cx="2878179" cy="34793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  <a:defRPr/>
            </a:pPr>
            <a:r>
              <a:rPr lang="en-US" sz="2700" b="1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5 </a:t>
            </a:r>
            <a:r>
              <a:rPr lang="de-DE" sz="2700" b="1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Custom metrics</a:t>
            </a:r>
            <a:endParaRPr lang="en-US" sz="2700"/>
          </a:p>
        </p:txBody>
      </p:sp>
      <p:sp>
        <p:nvSpPr>
          <p:cNvPr id="338655085" name="Text 23"/>
          <p:cNvSpPr txBox="1"/>
          <p:nvPr/>
        </p:nvSpPr>
        <p:spPr bwMode="auto">
          <a:xfrm>
            <a:off x="8277225" y="4031010"/>
            <a:ext cx="3143250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  <a:defRPr/>
            </a:pPr>
            <a:r>
              <a:rPr lang="en-US" sz="900">
                <a:solidFill>
                  <a:srgbClr val="EAEEF2">
                    <a:alpha val="70000"/>
                  </a:srgbClr>
                </a:solidFill>
                <a:latin typeface="Inter"/>
                <a:ea typeface="Inter"/>
                <a:cs typeface="Inter"/>
              </a:rPr>
              <a:t>request_count • api_latency • error_count • orders_per_minute • order_value</a:t>
            </a:r>
            <a:endParaRPr lang="en-US" sz="900"/>
          </a:p>
        </p:txBody>
      </p:sp>
      <p:sp>
        <p:nvSpPr>
          <p:cNvPr id="938124507" name="Shape 24"/>
          <p:cNvSpPr/>
          <p:nvPr/>
        </p:nvSpPr>
        <p:spPr bwMode="auto">
          <a:xfrm>
            <a:off x="8277225" y="4495800"/>
            <a:ext cx="3143250" cy="9525"/>
          </a:xfrm>
          <a:prstGeom prst="rect">
            <a:avLst/>
          </a:prstGeom>
          <a:solidFill>
            <a:srgbClr val="E6EFEF">
              <a:alpha val="12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randomBar dir="horz"/>
      </p:transition>
    </mc:Choice>
    <mc:Fallback>
      <p:transition spd="fast" advClick="1">
        <p:randomBar dir="horz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05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84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22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43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13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78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93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88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41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30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4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1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4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88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35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30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25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59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35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76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59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80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34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5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12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1816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32277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42254" y="2052960"/>
            <a:ext cx="11507491" cy="4805038"/>
          </a:xfrm>
          <a:prstGeom prst="rect">
            <a:avLst/>
          </a:prstGeom>
        </p:spPr>
      </p:pic>
      <p:sp>
        <p:nvSpPr>
          <p:cNvPr id="1292072186" name="Text 0"/>
          <p:cNvSpPr txBox="1"/>
          <p:nvPr/>
        </p:nvSpPr>
        <p:spPr bwMode="auto">
          <a:xfrm>
            <a:off x="255972" y="24783"/>
            <a:ext cx="1536819" cy="8700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  <a:defRPr/>
            </a:pPr>
            <a:r>
              <a:rPr lang="en-US" sz="2200" b="1" spc="-72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Architecture</a:t>
            </a:r>
            <a:endParaRPr sz="2200"/>
          </a:p>
          <a:p>
            <a:pPr marL="0" indent="0" algn="l">
              <a:lnSpc>
                <a:spcPts val="3600"/>
              </a:lnSpc>
              <a:buNone/>
              <a:defRPr/>
            </a:pPr>
            <a:endParaRPr lang="en-US" sz="3600"/>
          </a:p>
        </p:txBody>
      </p:sp>
      <p:pic>
        <p:nvPicPr>
          <p:cNvPr id="1660383303" name="Image 0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397329" y="841826"/>
            <a:ext cx="3357800" cy="1111550"/>
          </a:xfrm>
          <a:prstGeom prst="rect">
            <a:avLst/>
          </a:prstGeom>
        </p:spPr>
      </p:pic>
      <p:sp>
        <p:nvSpPr>
          <p:cNvPr id="1340184249" name="Text 1"/>
          <p:cNvSpPr txBox="1"/>
          <p:nvPr/>
        </p:nvSpPr>
        <p:spPr bwMode="auto">
          <a:xfrm flipH="0" flipV="0">
            <a:off x="1465962" y="957513"/>
            <a:ext cx="3108192" cy="1256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600"/>
              </a:spcAft>
              <a:buNone/>
              <a:defRPr/>
            </a:pPr>
            <a:r>
              <a:rPr lang="en-US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INSTANCE</a:t>
            </a:r>
            <a:endParaRPr lang="en-US" sz="850"/>
          </a:p>
        </p:txBody>
      </p:sp>
      <p:sp>
        <p:nvSpPr>
          <p:cNvPr id="1932624350" name="Text 2"/>
          <p:cNvSpPr txBox="1"/>
          <p:nvPr/>
        </p:nvSpPr>
        <p:spPr bwMode="auto">
          <a:xfrm flipH="0" flipV="0">
            <a:off x="1465962" y="1168850"/>
            <a:ext cx="3108192" cy="37712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i-01b</a:t>
            </a:r>
            <a:r>
              <a:rPr lang="de-DE" sz="105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xxx</a:t>
            </a:r>
            <a:r>
              <a:rPr lang="en-US" sz="10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  myapp.service • Flask + Gunicorn 2 sync workers</a:t>
            </a:r>
            <a:r>
              <a:rPr lang="de-DE" sz="1050">
                <a:solidFill>
                  <a:schemeClr val="bg1"/>
                </a:solidFill>
              </a:rPr>
              <a:t>. Systemd service</a:t>
            </a:r>
            <a:endParaRPr lang="en-US" sz="1050"/>
          </a:p>
        </p:txBody>
      </p:sp>
      <p:pic>
        <p:nvPicPr>
          <p:cNvPr id="6240100" name="Image 1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268276" y="884315"/>
            <a:ext cx="3168843" cy="1069061"/>
          </a:xfrm>
          <a:prstGeom prst="rect">
            <a:avLst/>
          </a:prstGeom>
        </p:spPr>
      </p:pic>
      <p:sp>
        <p:nvSpPr>
          <p:cNvPr id="1102043735" name="Text 3"/>
          <p:cNvSpPr txBox="1"/>
          <p:nvPr/>
        </p:nvSpPr>
        <p:spPr bwMode="auto">
          <a:xfrm flipH="0" flipV="0">
            <a:off x="8322863" y="1046240"/>
            <a:ext cx="2933282" cy="1256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600"/>
              </a:spcAft>
              <a:buNone/>
              <a:defRPr/>
            </a:pPr>
            <a:r>
              <a:rPr lang="en-US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LOGGING PIPELINE</a:t>
            </a:r>
            <a:endParaRPr lang="en-US" sz="850"/>
          </a:p>
        </p:txBody>
      </p:sp>
      <p:sp>
        <p:nvSpPr>
          <p:cNvPr id="1485169789" name="Text 4"/>
          <p:cNvSpPr txBox="1"/>
          <p:nvPr/>
        </p:nvSpPr>
        <p:spPr bwMode="auto">
          <a:xfrm flipH="0" flipV="0">
            <a:off x="8322863" y="1257576"/>
            <a:ext cx="2933282" cy="37712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systemd StandardOutput → </a:t>
            </a:r>
            <a:r>
              <a:rPr lang="en-US" sz="105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app.log JSON only</a:t>
            </a:r>
            <a:r>
              <a:rPr lang="en-US" sz="10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  • gunicorn-error.log • CWAgent → </a:t>
            </a:r>
            <a:r>
              <a:rPr lang="en-US" sz="105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proj2-logs</a:t>
            </a:r>
            <a:r>
              <a:rPr lang="en-US" sz="10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 log group</a:t>
            </a:r>
            <a:endParaRPr lang="en-US" sz="1050"/>
          </a:p>
        </p:txBody>
      </p:sp>
      <p:pic>
        <p:nvPicPr>
          <p:cNvPr id="512956680" name="Image 2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939150" y="871735"/>
            <a:ext cx="3168843" cy="1081641"/>
          </a:xfrm>
          <a:prstGeom prst="rect">
            <a:avLst/>
          </a:prstGeom>
        </p:spPr>
      </p:pic>
      <p:sp>
        <p:nvSpPr>
          <p:cNvPr id="1393968316" name="Text 5"/>
          <p:cNvSpPr txBox="1"/>
          <p:nvPr/>
        </p:nvSpPr>
        <p:spPr bwMode="auto">
          <a:xfrm flipH="0" flipV="0">
            <a:off x="4993736" y="1033660"/>
            <a:ext cx="2933282" cy="12561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600"/>
              </a:spcAft>
              <a:buNone/>
              <a:defRPr/>
            </a:pPr>
            <a:r>
              <a:rPr lang="en-US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METRICS</a:t>
            </a:r>
            <a:endParaRPr lang="en-US" sz="850"/>
          </a:p>
        </p:txBody>
      </p:sp>
      <p:sp>
        <p:nvSpPr>
          <p:cNvPr id="815135437" name="Text 6"/>
          <p:cNvSpPr txBox="1"/>
          <p:nvPr/>
        </p:nvSpPr>
        <p:spPr bwMode="auto">
          <a:xfrm flipH="0" flipV="0">
            <a:off x="4993736" y="1244996"/>
            <a:ext cx="2933282" cy="37712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Namespaces: </a:t>
            </a:r>
            <a:r>
              <a:rPr lang="en-US" sz="105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Proj2/MyApp</a:t>
            </a:r>
            <a:r>
              <a:rPr lang="en-US" sz="10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 (custom) + CWAgent (mem/disk) + AWS/EC2 (CPU/Network) • boto3 put_metric_data • period 60s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3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18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62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96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04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69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22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1816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13428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3515" y="745566"/>
            <a:ext cx="2949677" cy="6112433"/>
          </a:xfrm>
          <a:prstGeom prst="rect">
            <a:avLst/>
          </a:prstGeom>
        </p:spPr>
      </p:pic>
      <p:sp>
        <p:nvSpPr>
          <p:cNvPr id="1878310396" name="TextBox 1"/>
          <p:cNvSpPr txBox="1"/>
          <p:nvPr/>
        </p:nvSpPr>
        <p:spPr bwMode="auto">
          <a:xfrm>
            <a:off x="457200" y="44165"/>
            <a:ext cx="10989718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AEEF2"/>
                </a:solidFill>
                <a:latin typeface="Space Grotesk"/>
              </a:defRPr>
            </a:pPr>
            <a:r>
              <a:rPr/>
              <a:t>Project Highlights</a:t>
            </a:r>
            <a:r>
              <a:rPr sz="1200">
                <a:solidFill>
                  <a:srgbClr val="67F4E2"/>
                </a:solidFill>
              </a:rPr>
              <a:t> </a:t>
            </a:r>
            <a:endParaRPr/>
          </a:p>
        </p:txBody>
      </p:sp>
      <p:sp>
        <p:nvSpPr>
          <p:cNvPr id="1915507903" name="Rectangle 2"/>
          <p:cNvSpPr/>
          <p:nvPr/>
        </p:nvSpPr>
        <p:spPr bwMode="auto">
          <a:xfrm flipH="0" flipV="0">
            <a:off x="4202466" y="128356"/>
            <a:ext cx="3474720" cy="1134455"/>
          </a:xfrm>
          <a:prstGeom prst="rect">
            <a:avLst/>
          </a:prstGeom>
          <a:solidFill>
            <a:srgbClr val="232130"/>
          </a:solidFill>
          <a:ln w="12700">
            <a:solidFill>
              <a:srgbClr val="3C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67F4E2"/>
                </a:solidFill>
                <a:latin typeface="JetBrains Mono"/>
              </a:defRPr>
            </a:pPr>
            <a:endParaRPr/>
          </a:p>
          <a:p>
            <a:pPr algn="ctr">
              <a:defRPr sz="900" b="1">
                <a:solidFill>
                  <a:srgbClr val="67F4E2"/>
                </a:solidFill>
                <a:latin typeface="JetBrains Mono"/>
              </a:defRPr>
            </a:pPr>
            <a:r>
              <a:rPr lang="en-US" sz="1100" b="1" i="0" u="none" strike="noStrike" cap="none" spc="0">
                <a:solidFill>
                  <a:srgbClr val="67F4E2"/>
                </a:solidFill>
                <a:latin typeface="+mn-lt"/>
                <a:ea typeface="+mn-ea"/>
                <a:cs typeface="+mn-cs"/>
              </a:rPr>
              <a:t>100% IaC • Terraform + Ansible</a:t>
            </a:r>
            <a:endParaRPr sz="1100" b="1"/>
          </a:p>
          <a:p>
            <a:pPr algn="ctr">
              <a:spcBef>
                <a:spcPts val="398"/>
              </a:spcBef>
              <a:defRPr sz="1200" b="1">
                <a:solidFill>
                  <a:srgbClr val="EAEEF2"/>
                </a:solidFill>
              </a:defRPr>
            </a:pPr>
            <a:r>
              <a:rPr/>
              <a:t>Terraform</a:t>
            </a:r>
            <a:r>
              <a:rPr lang="de-DE"/>
              <a:t> modular</a:t>
            </a:r>
            <a:r>
              <a:rPr/>
              <a:t> + Ansible full stack</a:t>
            </a:r>
            <a:endParaRPr/>
          </a:p>
          <a:p>
            <a:pPr algn="ctr">
              <a:spcBef>
                <a:spcPts val="398"/>
              </a:spcBef>
              <a:defRPr sz="900">
                <a:solidFill>
                  <a:srgbClr val="B4B4BE"/>
                </a:solidFill>
              </a:defRPr>
            </a:pPr>
            <a:r>
              <a:rPr/>
              <a:t>VPC, EC2 i-01b04296, SG, IAM-role, CWAgent</a:t>
            </a:r>
            <a:r>
              <a:rPr lang="de-DE"/>
              <a:t> configs</a:t>
            </a:r>
            <a:r>
              <a:rPr/>
              <a:t>, myapp.service. Reproducible.</a:t>
            </a:r>
            <a:endParaRPr/>
          </a:p>
        </p:txBody>
      </p:sp>
      <p:sp>
        <p:nvSpPr>
          <p:cNvPr id="2044621200" name="Rectangle 3"/>
          <p:cNvSpPr/>
          <p:nvPr/>
        </p:nvSpPr>
        <p:spPr bwMode="auto">
          <a:xfrm flipH="0" flipV="0">
            <a:off x="4206240" y="1376778"/>
            <a:ext cx="3474720" cy="1268026"/>
          </a:xfrm>
          <a:prstGeom prst="rect">
            <a:avLst/>
          </a:prstGeom>
          <a:solidFill>
            <a:srgbClr val="232130"/>
          </a:solidFill>
          <a:ln w="12700">
            <a:solidFill>
              <a:srgbClr val="3C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67F4E2"/>
                </a:solidFill>
                <a:latin typeface="JetBrains Mono"/>
              </a:defRPr>
            </a:pPr>
            <a:r>
              <a:rPr/>
              <a:t>5 Custom Metrics [Business]</a:t>
            </a:r>
            <a:endParaRPr/>
          </a:p>
          <a:p>
            <a:pPr algn="ctr">
              <a:spcBef>
                <a:spcPts val="398"/>
              </a:spcBef>
              <a:defRPr sz="1200" b="1">
                <a:solidFill>
                  <a:srgbClr val="EAEEF2"/>
                </a:solidFill>
              </a:defRPr>
            </a:pPr>
            <a:r>
              <a:rPr/>
              <a:t>orders_per_minute + order_value</a:t>
            </a:r>
            <a:endParaRPr/>
          </a:p>
          <a:p>
            <a:pPr algn="ctr">
              <a:spcBef>
                <a:spcPts val="398"/>
              </a:spcBef>
              <a:defRPr sz="900">
                <a:solidFill>
                  <a:srgbClr val="B4B4BE"/>
                </a:solidFill>
              </a:defRPr>
            </a:pPr>
            <a:r>
              <a:rPr/>
              <a:t>request_count api_latency error_count + biz orders_per_minute order_value via boto3.</a:t>
            </a:r>
            <a:endParaRPr/>
          </a:p>
        </p:txBody>
      </p:sp>
      <p:sp>
        <p:nvSpPr>
          <p:cNvPr id="1082043027" name="Rectangle 4"/>
          <p:cNvSpPr/>
          <p:nvPr/>
        </p:nvSpPr>
        <p:spPr bwMode="auto">
          <a:xfrm flipH="0" flipV="0">
            <a:off x="8556369" y="683210"/>
            <a:ext cx="3474720" cy="1110818"/>
          </a:xfrm>
          <a:prstGeom prst="rect">
            <a:avLst/>
          </a:prstGeom>
          <a:solidFill>
            <a:srgbClr val="232130"/>
          </a:solidFill>
          <a:ln w="12700">
            <a:solidFill>
              <a:srgbClr val="3C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67F4E2"/>
                </a:solidFill>
                <a:latin typeface="JetBrains Mono"/>
              </a:defRPr>
            </a:pPr>
            <a:r>
              <a:rPr/>
              <a:t>Memory Anomaly</a:t>
            </a:r>
            <a:r>
              <a:rPr lang="de-DE"/>
              <a:t> alarm and dashboard</a:t>
            </a:r>
            <a:r>
              <a:rPr/>
              <a:t> [USE]</a:t>
            </a:r>
            <a:endParaRPr/>
          </a:p>
          <a:p>
            <a:pPr algn="ctr">
              <a:spcBef>
                <a:spcPts val="398"/>
              </a:spcBef>
              <a:defRPr sz="1200" b="1">
                <a:solidFill>
                  <a:srgbClr val="EAEEF2"/>
                </a:solidFill>
              </a:defRPr>
            </a:pPr>
            <a:r>
              <a:rPr/>
              <a:t>mem_used_percent detection</a:t>
            </a:r>
            <a:endParaRPr/>
          </a:p>
          <a:p>
            <a:pPr algn="ctr">
              <a:spcBef>
                <a:spcPts val="398"/>
              </a:spcBef>
              <a:defRPr sz="900">
                <a:solidFill>
                  <a:srgbClr val="B4B4BE"/>
                </a:solidFill>
              </a:defRPr>
            </a:pPr>
            <a:r>
              <a:rPr/>
              <a:t>Infra saturation signal from CWAgent. SingleValue widget + anomaly band vs latency.</a:t>
            </a:r>
            <a:endParaRPr/>
          </a:p>
        </p:txBody>
      </p:sp>
      <p:sp>
        <p:nvSpPr>
          <p:cNvPr id="1710600444" name="Rectangle 5"/>
          <p:cNvSpPr/>
          <p:nvPr/>
        </p:nvSpPr>
        <p:spPr bwMode="auto">
          <a:xfrm flipH="0" flipV="0">
            <a:off x="8548825" y="4790241"/>
            <a:ext cx="3474720" cy="1299616"/>
          </a:xfrm>
          <a:prstGeom prst="rect">
            <a:avLst/>
          </a:prstGeom>
          <a:solidFill>
            <a:srgbClr val="232130"/>
          </a:solidFill>
          <a:ln w="12700">
            <a:solidFill>
              <a:srgbClr val="3C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67F4E2"/>
                </a:solidFill>
                <a:latin typeface="JetBrains Mono"/>
              </a:defRPr>
            </a:pPr>
            <a:r>
              <a:rPr/>
              <a:t>Correlation Dashboard</a:t>
            </a:r>
            <a:endParaRPr/>
          </a:p>
          <a:p>
            <a:pPr algn="ctr">
              <a:spcBef>
                <a:spcPts val="398"/>
              </a:spcBef>
              <a:defRPr sz="1200" b="1">
                <a:solidFill>
                  <a:srgbClr val="EAEEF2"/>
                </a:solidFill>
              </a:defRPr>
            </a:pPr>
            <a:r>
              <a:rPr/>
              <a:t>Latency vs Traffic vs Errors vs CPU</a:t>
            </a:r>
            <a:endParaRPr/>
          </a:p>
          <a:p>
            <a:pPr algn="ctr">
              <a:spcBef>
                <a:spcPts val="398"/>
              </a:spcBef>
              <a:defRPr sz="900">
                <a:solidFill>
                  <a:srgbClr val="B4B4BE"/>
                </a:solidFill>
              </a:defRPr>
            </a:pPr>
            <a:r>
              <a:rPr/>
              <a:t>One view: P95 latency ↔ request_count ↔ error_count ↔ CPU. Golden + USE.</a:t>
            </a:r>
            <a:endParaRPr/>
          </a:p>
        </p:txBody>
      </p:sp>
      <p:sp>
        <p:nvSpPr>
          <p:cNvPr id="1345509667" name="Rectangle 6"/>
          <p:cNvSpPr/>
          <p:nvPr/>
        </p:nvSpPr>
        <p:spPr bwMode="auto">
          <a:xfrm flipH="0" flipV="0">
            <a:off x="4206240" y="2792544"/>
            <a:ext cx="3474720" cy="1194416"/>
          </a:xfrm>
          <a:prstGeom prst="rect">
            <a:avLst/>
          </a:prstGeom>
          <a:solidFill>
            <a:srgbClr val="232130"/>
          </a:solidFill>
          <a:ln w="12700">
            <a:solidFill>
              <a:srgbClr val="3C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67F4E2"/>
                </a:solidFill>
                <a:latin typeface="JetBrains Mono"/>
              </a:defRPr>
            </a:pPr>
            <a:r>
              <a:rPr lang="de-DE"/>
              <a:t>6 Warn / Critical</a:t>
            </a:r>
            <a:r>
              <a:rPr/>
              <a:t> Alarms</a:t>
            </a:r>
            <a:endParaRPr/>
          </a:p>
          <a:p>
            <a:pPr algn="ctr">
              <a:spcBef>
                <a:spcPts val="398"/>
              </a:spcBef>
              <a:defRPr sz="1200" b="1">
                <a:solidFill>
                  <a:srgbClr val="EAEEF2"/>
                </a:solidFill>
              </a:defRPr>
            </a:pPr>
            <a:r>
              <a:rPr/>
              <a:t>high-error, high-latency, no-traffic, high-cpu</a:t>
            </a:r>
            <a:endParaRPr/>
          </a:p>
          <a:p>
            <a:pPr algn="ctr">
              <a:spcBef>
                <a:spcPts val="398"/>
              </a:spcBef>
              <a:defRPr sz="900">
                <a:solidFill>
                  <a:srgbClr val="B4B4BE"/>
                </a:solidFill>
              </a:defRPr>
            </a:pPr>
            <a:r>
              <a:rPr/>
              <a:t>&gt;5 errors /2x60s, P95 &gt;800ms, no traffic 5m, cpu &gt;85% → SNS proj2-alerts.</a:t>
            </a:r>
            <a:endParaRPr/>
          </a:p>
        </p:txBody>
      </p:sp>
      <p:sp>
        <p:nvSpPr>
          <p:cNvPr id="1371897577" name="Rectangle 7"/>
          <p:cNvSpPr/>
          <p:nvPr/>
        </p:nvSpPr>
        <p:spPr bwMode="auto">
          <a:xfrm flipH="0" flipV="0">
            <a:off x="8556369" y="1914024"/>
            <a:ext cx="3474720" cy="1193158"/>
          </a:xfrm>
          <a:prstGeom prst="rect">
            <a:avLst/>
          </a:prstGeom>
          <a:solidFill>
            <a:srgbClr val="232130"/>
          </a:solidFill>
          <a:ln w="12700">
            <a:solidFill>
              <a:srgbClr val="3C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67F4E2"/>
                </a:solidFill>
                <a:latin typeface="JetBrains Mono"/>
              </a:defRPr>
            </a:pPr>
            <a:r>
              <a:rPr lang="de-DE"/>
              <a:t>Golden signals</a:t>
            </a:r>
            <a:endParaRPr/>
          </a:p>
          <a:p>
            <a:pPr algn="ctr">
              <a:spcBef>
                <a:spcPts val="398"/>
              </a:spcBef>
              <a:defRPr sz="1200" b="1">
                <a:solidFill>
                  <a:srgbClr val="EAEEF2"/>
                </a:solidFill>
              </a:defRPr>
            </a:pPr>
            <a:r>
              <a:rPr lang="de-DE"/>
              <a:t>Traffic</a:t>
            </a:r>
            <a:r>
              <a:rPr/>
              <a:t>→ </a:t>
            </a:r>
            <a:r>
              <a:rPr lang="de-DE"/>
              <a:t>Error</a:t>
            </a:r>
            <a:r>
              <a:rPr/>
              <a:t>→ </a:t>
            </a:r>
            <a:r>
              <a:rPr lang="de-DE"/>
              <a:t>Latency</a:t>
            </a:r>
            <a:r>
              <a:rPr/>
              <a:t>→ </a:t>
            </a:r>
            <a:r>
              <a:rPr lang="de-DE"/>
              <a:t>Saturation</a:t>
            </a:r>
            <a:endParaRPr/>
          </a:p>
          <a:p>
            <a:pPr algn="ctr">
              <a:spcBef>
                <a:spcPts val="398"/>
              </a:spcBef>
              <a:defRPr sz="900">
                <a:solidFill>
                  <a:srgbClr val="B4B4BE"/>
                </a:solidFill>
              </a:defRPr>
            </a:pPr>
            <a:r>
              <a:rPr/>
              <a:t>EC2 → Gunicorn → Flask → CWAgent → CloudWatch - full traceability</a:t>
            </a:r>
            <a:endParaRPr/>
          </a:p>
        </p:txBody>
      </p:sp>
      <p:sp>
        <p:nvSpPr>
          <p:cNvPr id="1584579881" name="Rectangle 8"/>
          <p:cNvSpPr/>
          <p:nvPr/>
        </p:nvSpPr>
        <p:spPr bwMode="auto">
          <a:xfrm flipH="0" flipV="0">
            <a:off x="4202466" y="5456733"/>
            <a:ext cx="3474720" cy="1266251"/>
          </a:xfrm>
          <a:prstGeom prst="rect">
            <a:avLst/>
          </a:prstGeom>
          <a:solidFill>
            <a:srgbClr val="232130"/>
          </a:solidFill>
          <a:ln w="12700">
            <a:solidFill>
              <a:srgbClr val="3C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67F4E2"/>
                </a:solidFill>
                <a:latin typeface="JetBrains Mono"/>
              </a:defRPr>
            </a:pPr>
            <a:r>
              <a:rPr/>
              <a:t>Custom Widgets</a:t>
            </a:r>
            <a:endParaRPr/>
          </a:p>
          <a:p>
            <a:pPr algn="ctr">
              <a:spcBef>
                <a:spcPts val="398"/>
              </a:spcBef>
              <a:defRPr sz="1200" b="1">
                <a:solidFill>
                  <a:srgbClr val="EAEEF2"/>
                </a:solidFill>
              </a:defRPr>
            </a:pPr>
            <a:r>
              <a:rPr/>
              <a:t>SingleValue + USE</a:t>
            </a:r>
            <a:endParaRPr/>
          </a:p>
          <a:p>
            <a:pPr algn="ctr">
              <a:spcBef>
                <a:spcPts val="398"/>
              </a:spcBef>
              <a:defRPr sz="900">
                <a:solidFill>
                  <a:srgbClr val="B4B4BE"/>
                </a:solidFill>
              </a:defRPr>
            </a:pPr>
            <a:r>
              <a:rPr/>
              <a:t> Rate, Duration, Errors, Saturation unified.</a:t>
            </a:r>
            <a:endParaRPr/>
          </a:p>
        </p:txBody>
      </p:sp>
      <p:sp>
        <p:nvSpPr>
          <p:cNvPr id="1242827421" name="Rectangle 9"/>
          <p:cNvSpPr/>
          <p:nvPr/>
        </p:nvSpPr>
        <p:spPr bwMode="auto">
          <a:xfrm flipH="0" flipV="0">
            <a:off x="4206240" y="4115835"/>
            <a:ext cx="3474720" cy="1229261"/>
          </a:xfrm>
          <a:prstGeom prst="rect">
            <a:avLst/>
          </a:prstGeom>
          <a:solidFill>
            <a:srgbClr val="232130"/>
          </a:solidFill>
          <a:ln w="12700">
            <a:solidFill>
              <a:srgbClr val="3C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67F4E2"/>
                </a:solidFill>
                <a:latin typeface="JetBrains Mono"/>
              </a:defRPr>
            </a:pPr>
            <a:r>
              <a:rPr/>
              <a:t>Structured Logging</a:t>
            </a:r>
            <a:endParaRPr/>
          </a:p>
          <a:p>
            <a:pPr algn="ctr">
              <a:spcBef>
                <a:spcPts val="398"/>
              </a:spcBef>
              <a:defRPr sz="1200" b="1">
                <a:solidFill>
                  <a:srgbClr val="EAEEF2"/>
                </a:solidFill>
              </a:defRPr>
            </a:pPr>
            <a:r>
              <a:rPr/>
              <a:t>correlation_id • level • latency_ms</a:t>
            </a:r>
            <a:endParaRPr/>
          </a:p>
          <a:p>
            <a:pPr algn="ctr">
              <a:spcBef>
                <a:spcPts val="398"/>
              </a:spcBef>
              <a:defRPr sz="900">
                <a:solidFill>
                  <a:srgbClr val="B4B4BE"/>
                </a:solidFill>
              </a:defRPr>
            </a:pPr>
            <a:r>
              <a:rPr/>
              <a:t>structlog JSON → 20+ fields. X-Corr-ID 51e9ef29 → filter correlation_id='demo-123'.</a:t>
            </a:r>
            <a:endParaRPr/>
          </a:p>
        </p:txBody>
      </p:sp>
      <p:sp>
        <p:nvSpPr>
          <p:cNvPr id="170005159" name="Rectangle 9"/>
          <p:cNvSpPr/>
          <p:nvPr/>
        </p:nvSpPr>
        <p:spPr bwMode="auto">
          <a:xfrm flipH="0" flipV="0">
            <a:off x="8556369" y="3452968"/>
            <a:ext cx="3474720" cy="1217054"/>
          </a:xfrm>
          <a:prstGeom prst="rect">
            <a:avLst/>
          </a:prstGeom>
          <a:solidFill>
            <a:srgbClr val="232130"/>
          </a:solidFill>
          <a:ln w="12700">
            <a:solidFill>
              <a:srgbClr val="3C3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AEEF2"/>
                </a:solidFill>
              </a:defRPr>
            </a:pPr>
            <a:r>
              <a:rPr lang="en-US" sz="900" b="1" i="0" u="none" strike="noStrike" cap="none" spc="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Composite alarms </a:t>
            </a:r>
            <a:endParaRPr/>
          </a:p>
          <a:p>
            <a:pPr marL="0" marR="0" indent="0" algn="ctr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defRPr sz="900">
                <a:solidFill>
                  <a:srgbClr val="B4B4BE"/>
                </a:solidFill>
              </a:defRPr>
            </a:pPr>
            <a:r>
              <a:rPr lang="en-US" sz="1200" b="1" i="0" u="none" strike="noStrike" cap="none" spc="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combining multiple conditions</a:t>
            </a:r>
            <a:endParaRPr lang="en-US" sz="1200" b="1" i="0" u="none" strike="noStrike" cap="none" spc="0">
              <a:solidFill>
                <a:srgbClr val="EAEEF2"/>
              </a:solidFill>
              <a:latin typeface="Times New Roman"/>
              <a:cs typeface="Times New Roman"/>
            </a:endParaRPr>
          </a:p>
          <a:p>
            <a:pPr marL="0" marR="0" indent="0" algn="ctr">
              <a:lnSpc>
                <a:spcPct val="100000"/>
              </a:lnSpc>
              <a:spcBef>
                <a:spcPts val="398"/>
              </a:spcBef>
              <a:spcAft>
                <a:spcPts val="0"/>
              </a:spcAft>
              <a:defRPr sz="900">
                <a:solidFill>
                  <a:srgbClr val="B4B4BE"/>
                </a:solidFill>
              </a:defRPr>
            </a:pPr>
            <a:r>
              <a:rPr lang="en-US" sz="900" b="0" i="0" strike="noStrike" cap="none" spc="0">
                <a:latin typeface="Calibri"/>
                <a:ea typeface="Calibri"/>
                <a:cs typeface="Calibri"/>
              </a:rPr>
              <a:t>mem-use-anomaly-</a:t>
            </a:r>
            <a:r>
              <a:rPr lang="en-US" sz="900" b="0" i="0" strike="noStrike" cap="none" spc="0">
                <a:latin typeface="Calibri"/>
                <a:ea typeface="Calibri"/>
                <a:cs typeface="Calibri"/>
              </a:rPr>
              <a:t>detection</a:t>
            </a:r>
            <a:r>
              <a:rPr lang="en-US" sz="9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&amp; </a:t>
            </a:r>
            <a:r>
              <a:rPr lang="en-US" sz="900" b="0" i="0" strike="noStrike" cap="none" spc="0">
                <a:latin typeface="Calibri"/>
                <a:ea typeface="Calibri"/>
                <a:cs typeface="Calibri"/>
              </a:rPr>
              <a:t>high-</a:t>
            </a:r>
            <a:r>
              <a:rPr lang="en-US" sz="900" b="0" i="0" strike="noStrike" cap="none" spc="0">
                <a:latin typeface="Calibri"/>
                <a:ea typeface="Calibri"/>
                <a:cs typeface="Calibri"/>
              </a:rPr>
              <a:t>latency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50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4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62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0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82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5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0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89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0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1816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222470" name="Text 0"/>
          <p:cNvSpPr txBox="1"/>
          <p:nvPr/>
        </p:nvSpPr>
        <p:spPr bwMode="auto">
          <a:xfrm>
            <a:off x="533400" y="1418332"/>
            <a:ext cx="11125200" cy="95041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900" b="1" spc="-77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Custom Metrics — </a:t>
            </a:r>
            <a:r>
              <a:rPr lang="en-US" sz="3900" b="1" spc="-77">
                <a:solidFill>
                  <a:srgbClr val="67F4E2"/>
                </a:solidFill>
                <a:latin typeface="Inter"/>
                <a:ea typeface="Inter"/>
                <a:cs typeface="Inter"/>
              </a:rPr>
              <a:t>5 signals</a:t>
            </a:r>
            <a:r>
              <a:rPr lang="en-US" sz="3900" b="1" spc="-77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 via boto3 put_metric_data</a:t>
            </a:r>
            <a:endParaRPr lang="en-US" sz="3900"/>
          </a:p>
        </p:txBody>
      </p:sp>
      <p:pic>
        <p:nvPicPr>
          <p:cNvPr id="97938143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3400" y="2635448"/>
            <a:ext cx="3619500" cy="1167705"/>
          </a:xfrm>
          <a:prstGeom prst="rect">
            <a:avLst/>
          </a:prstGeom>
        </p:spPr>
      </p:pic>
      <p:sp>
        <p:nvSpPr>
          <p:cNvPr id="326770957" name="Text 1"/>
          <p:cNvSpPr txBox="1"/>
          <p:nvPr/>
        </p:nvSpPr>
        <p:spPr bwMode="auto">
          <a:xfrm>
            <a:off x="857250" y="2806898"/>
            <a:ext cx="3114675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  <a:defRPr/>
            </a:pPr>
            <a:r>
              <a:rPr lang="en-US" sz="1150" b="1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request_count</a:t>
            </a:r>
            <a:endParaRPr lang="en-US" sz="1150"/>
          </a:p>
        </p:txBody>
      </p:sp>
      <p:pic>
        <p:nvPicPr>
          <p:cNvPr id="596839610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14375" y="2871192"/>
            <a:ext cx="66675" cy="66675"/>
          </a:xfrm>
          <a:prstGeom prst="rect">
            <a:avLst/>
          </a:prstGeom>
        </p:spPr>
      </p:pic>
      <p:sp>
        <p:nvSpPr>
          <p:cNvPr id="1363909735" name="Text 2"/>
          <p:cNvSpPr txBox="1"/>
          <p:nvPr/>
        </p:nvSpPr>
        <p:spPr bwMode="auto">
          <a:xfrm>
            <a:off x="714375" y="2867025"/>
            <a:ext cx="66675" cy="666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368359771" name="Text 3"/>
          <p:cNvSpPr txBox="1"/>
          <p:nvPr/>
        </p:nvSpPr>
        <p:spPr bwMode="auto">
          <a:xfrm>
            <a:off x="714375" y="3097411"/>
            <a:ext cx="32575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850" b="1" spc="66">
                <a:solidFill>
                  <a:srgbClr val="67F4E2"/>
                </a:solidFill>
                <a:latin typeface="Inter"/>
                <a:ea typeface="Inter"/>
                <a:cs typeface="Inter"/>
              </a:rPr>
              <a:t>COUNT • Sum • after_request</a:t>
            </a:r>
            <a:endParaRPr lang="en-US" sz="850"/>
          </a:p>
        </p:txBody>
      </p:sp>
      <p:sp>
        <p:nvSpPr>
          <p:cNvPr id="919300530" name="Text 4"/>
          <p:cNvSpPr txBox="1"/>
          <p:nvPr/>
        </p:nvSpPr>
        <p:spPr bwMode="auto">
          <a:xfrm>
            <a:off x="714375" y="3321248"/>
            <a:ext cx="3257550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  <a:defRPr/>
            </a:pPr>
            <a:r>
              <a:rPr lang="en-US" sz="900">
                <a:solidFill>
                  <a:srgbClr val="EAEEF2">
                    <a:alpha val="75000"/>
                  </a:srgbClr>
                </a:solidFill>
                <a:latin typeface="Inter"/>
                <a:ea typeface="Inter"/>
                <a:cs typeface="Inter"/>
              </a:rPr>
              <a:t>Every request increments. Fuels Rate &amp; health. Never rely on ALB logs.</a:t>
            </a:r>
            <a:endParaRPr lang="en-US" sz="900"/>
          </a:p>
        </p:txBody>
      </p:sp>
      <p:pic>
        <p:nvPicPr>
          <p:cNvPr id="1316328044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286250" y="2635448"/>
            <a:ext cx="3619500" cy="1167705"/>
          </a:xfrm>
          <a:prstGeom prst="rect">
            <a:avLst/>
          </a:prstGeom>
        </p:spPr>
      </p:pic>
      <p:sp>
        <p:nvSpPr>
          <p:cNvPr id="92407645" name="Text 5"/>
          <p:cNvSpPr txBox="1"/>
          <p:nvPr/>
        </p:nvSpPr>
        <p:spPr bwMode="auto">
          <a:xfrm>
            <a:off x="4610100" y="2806898"/>
            <a:ext cx="3114675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  <a:defRPr/>
            </a:pPr>
            <a:r>
              <a:rPr lang="en-US" sz="1150" b="1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api_latency</a:t>
            </a:r>
            <a:endParaRPr lang="en-US" sz="1150"/>
          </a:p>
        </p:txBody>
      </p:sp>
      <p:pic>
        <p:nvPicPr>
          <p:cNvPr id="1420274482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467225" y="2871192"/>
            <a:ext cx="66675" cy="66675"/>
          </a:xfrm>
          <a:prstGeom prst="rect">
            <a:avLst/>
          </a:prstGeom>
        </p:spPr>
      </p:pic>
      <p:sp>
        <p:nvSpPr>
          <p:cNvPr id="1560666553" name="Text 6"/>
          <p:cNvSpPr txBox="1"/>
          <p:nvPr/>
        </p:nvSpPr>
        <p:spPr bwMode="auto">
          <a:xfrm>
            <a:off x="4467225" y="2867025"/>
            <a:ext cx="66675" cy="666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263192709" name="Text 7"/>
          <p:cNvSpPr txBox="1"/>
          <p:nvPr/>
        </p:nvSpPr>
        <p:spPr bwMode="auto">
          <a:xfrm>
            <a:off x="4467225" y="3097411"/>
            <a:ext cx="32575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850" b="1" spc="66">
                <a:solidFill>
                  <a:srgbClr val="67F4E2"/>
                </a:solidFill>
                <a:latin typeface="Inter"/>
                <a:ea typeface="Inter"/>
                <a:cs typeface="Inter"/>
              </a:rPr>
              <a:t>MILLISECONDS • Avg/Max/P95</a:t>
            </a:r>
            <a:endParaRPr lang="en-US" sz="850"/>
          </a:p>
        </p:txBody>
      </p:sp>
      <p:sp>
        <p:nvSpPr>
          <p:cNvPr id="1238906179" name="Text 8"/>
          <p:cNvSpPr txBox="1"/>
          <p:nvPr/>
        </p:nvSpPr>
        <p:spPr bwMode="auto">
          <a:xfrm>
            <a:off x="4467225" y="3321248"/>
            <a:ext cx="3257550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  <a:defRPr/>
            </a:pPr>
            <a:r>
              <a:rPr lang="en-US" sz="900">
                <a:solidFill>
                  <a:srgbClr val="EAEEF2">
                    <a:alpha val="75000"/>
                  </a:srgbClr>
                </a:solidFill>
                <a:latin typeface="Inter"/>
                <a:ea typeface="Inter"/>
                <a:cs typeface="Inter"/>
              </a:rPr>
              <a:t>latency_ms = (now - g.start)*1000. Duration golden signal.</a:t>
            </a:r>
            <a:endParaRPr lang="en-US" sz="900"/>
          </a:p>
        </p:txBody>
      </p:sp>
      <p:pic>
        <p:nvPicPr>
          <p:cNvPr id="1913504932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039100" y="2635448"/>
            <a:ext cx="3619500" cy="1167705"/>
          </a:xfrm>
          <a:prstGeom prst="rect">
            <a:avLst/>
          </a:prstGeom>
        </p:spPr>
      </p:pic>
      <p:sp>
        <p:nvSpPr>
          <p:cNvPr id="807487019" name="Text 9"/>
          <p:cNvSpPr txBox="1"/>
          <p:nvPr/>
        </p:nvSpPr>
        <p:spPr bwMode="auto">
          <a:xfrm>
            <a:off x="8362950" y="2806898"/>
            <a:ext cx="3114675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  <a:defRPr/>
            </a:pPr>
            <a:r>
              <a:rPr lang="en-US" sz="1150" b="1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error_count</a:t>
            </a:r>
            <a:endParaRPr lang="en-US" sz="1150"/>
          </a:p>
        </p:txBody>
      </p:sp>
      <p:pic>
        <p:nvPicPr>
          <p:cNvPr id="1624832017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8220075" y="2871192"/>
            <a:ext cx="66675" cy="66675"/>
          </a:xfrm>
          <a:prstGeom prst="rect">
            <a:avLst/>
          </a:prstGeom>
        </p:spPr>
      </p:pic>
      <p:sp>
        <p:nvSpPr>
          <p:cNvPr id="1972046748" name="Text 10"/>
          <p:cNvSpPr txBox="1"/>
          <p:nvPr/>
        </p:nvSpPr>
        <p:spPr bwMode="auto">
          <a:xfrm>
            <a:off x="8220075" y="2867025"/>
            <a:ext cx="66675" cy="666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endParaRPr lang="en-US"/>
          </a:p>
        </p:txBody>
      </p:sp>
      <p:sp>
        <p:nvSpPr>
          <p:cNvPr id="1747709864" name="Text 11"/>
          <p:cNvSpPr txBox="1"/>
          <p:nvPr/>
        </p:nvSpPr>
        <p:spPr bwMode="auto">
          <a:xfrm>
            <a:off x="8220075" y="3097411"/>
            <a:ext cx="32575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850" b="1" spc="66">
                <a:solidFill>
                  <a:srgbClr val="67F4E2"/>
                </a:solidFill>
                <a:latin typeface="Inter"/>
                <a:ea typeface="Inter"/>
                <a:cs typeface="Inter"/>
              </a:rPr>
              <a:t>COUNT • Sum • if status &gt;=400</a:t>
            </a:r>
            <a:endParaRPr lang="en-US" sz="850"/>
          </a:p>
        </p:txBody>
      </p:sp>
      <p:sp>
        <p:nvSpPr>
          <p:cNvPr id="1712235193" name="Text 12"/>
          <p:cNvSpPr txBox="1"/>
          <p:nvPr/>
        </p:nvSpPr>
        <p:spPr bwMode="auto">
          <a:xfrm>
            <a:off x="8220075" y="3321248"/>
            <a:ext cx="3257550" cy="31998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  <a:defRPr/>
            </a:pPr>
            <a:r>
              <a:rPr lang="en-US" sz="900">
                <a:solidFill>
                  <a:srgbClr val="EAEEF2">
                    <a:alpha val="75000"/>
                  </a:srgbClr>
                </a:solidFill>
                <a:latin typeface="Inter"/>
                <a:ea typeface="Inter"/>
                <a:cs typeface="Inter"/>
              </a:rPr>
              <a:t>Errors golden signal. Triggers high-error alarm when &gt;5 in 2x60s.</a:t>
            </a:r>
            <a:endParaRPr lang="en-US" sz="900"/>
          </a:p>
        </p:txBody>
      </p:sp>
      <p:pic>
        <p:nvPicPr>
          <p:cNvPr id="1307058614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533400" y="4069854"/>
            <a:ext cx="5495925" cy="736253"/>
          </a:xfrm>
          <a:prstGeom prst="rect">
            <a:avLst/>
          </a:prstGeom>
        </p:spPr>
      </p:pic>
      <p:sp>
        <p:nvSpPr>
          <p:cNvPr id="1719685414" name="Text 13"/>
          <p:cNvSpPr txBox="1"/>
          <p:nvPr/>
        </p:nvSpPr>
        <p:spPr bwMode="auto">
          <a:xfrm>
            <a:off x="714375" y="4241304"/>
            <a:ext cx="2353717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  <a:defRPr/>
            </a:pPr>
            <a:r>
              <a:rPr lang="en-US" sz="1150" b="1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orders_per_minute</a:t>
            </a:r>
            <a:endParaRPr lang="en-US" sz="1150"/>
          </a:p>
        </p:txBody>
      </p:sp>
      <p:sp>
        <p:nvSpPr>
          <p:cNvPr id="582225783" name="Text 14"/>
          <p:cNvSpPr txBox="1"/>
          <p:nvPr/>
        </p:nvSpPr>
        <p:spPr bwMode="auto">
          <a:xfrm>
            <a:off x="714375" y="4484191"/>
            <a:ext cx="2353717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  <a:defRPr/>
            </a:pPr>
            <a:r>
              <a:rPr lang="en-US" sz="900">
                <a:solidFill>
                  <a:srgbClr val="EAEEF2">
                    <a:alpha val="75000"/>
                  </a:srgbClr>
                </a:solidFill>
                <a:latin typeface="Inter"/>
                <a:ea typeface="Inter"/>
                <a:cs typeface="Inter"/>
              </a:rPr>
              <a:t>Business saturation signal. Sum per minute.</a:t>
            </a:r>
            <a:endParaRPr lang="en-US" sz="900"/>
          </a:p>
        </p:txBody>
      </p:sp>
      <p:sp>
        <p:nvSpPr>
          <p:cNvPr id="1590630269" name="Text 15"/>
          <p:cNvSpPr txBox="1"/>
          <p:nvPr/>
        </p:nvSpPr>
        <p:spPr bwMode="auto">
          <a:xfrm>
            <a:off x="5258692" y="4368850"/>
            <a:ext cx="58965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850" b="1" spc="66">
                <a:solidFill>
                  <a:srgbClr val="67F4E2"/>
                </a:solidFill>
                <a:latin typeface="Inter"/>
                <a:ea typeface="Inter"/>
                <a:cs typeface="Inter"/>
              </a:rPr>
              <a:t>BUSINESS</a:t>
            </a:r>
            <a:endParaRPr lang="en-US" sz="850"/>
          </a:p>
        </p:txBody>
      </p:sp>
      <p:pic>
        <p:nvPicPr>
          <p:cNvPr id="1764038894" name="Image 7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6162675" y="4069854"/>
            <a:ext cx="5495925" cy="736253"/>
          </a:xfrm>
          <a:prstGeom prst="rect">
            <a:avLst/>
          </a:prstGeom>
        </p:spPr>
      </p:pic>
      <p:sp>
        <p:nvSpPr>
          <p:cNvPr id="1706779065" name="Text 16"/>
          <p:cNvSpPr txBox="1"/>
          <p:nvPr/>
        </p:nvSpPr>
        <p:spPr bwMode="auto">
          <a:xfrm>
            <a:off x="6343650" y="4241304"/>
            <a:ext cx="2486769" cy="2047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  <a:defRPr/>
            </a:pPr>
            <a:r>
              <a:rPr lang="en-US" sz="1150" b="1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order_value</a:t>
            </a:r>
            <a:endParaRPr lang="en-US" sz="1150"/>
          </a:p>
        </p:txBody>
      </p:sp>
      <p:sp>
        <p:nvSpPr>
          <p:cNvPr id="2013936168" name="Text 17"/>
          <p:cNvSpPr txBox="1"/>
          <p:nvPr/>
        </p:nvSpPr>
        <p:spPr bwMode="auto">
          <a:xfrm>
            <a:off x="6343650" y="4484191"/>
            <a:ext cx="2486769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  <a:defRPr/>
            </a:pPr>
            <a:r>
              <a:rPr lang="en-US" sz="900">
                <a:solidFill>
                  <a:srgbClr val="EAEEF2">
                    <a:alpha val="75000"/>
                  </a:srgbClr>
                </a:solidFill>
                <a:latin typeface="Inter"/>
                <a:ea typeface="Inter"/>
                <a:cs typeface="Inter"/>
              </a:rPr>
              <a:t>Amount metric. Tracks revenue proxy, no unit.</a:t>
            </a:r>
            <a:endParaRPr lang="en-US" sz="900"/>
          </a:p>
        </p:txBody>
      </p:sp>
      <p:sp>
        <p:nvSpPr>
          <p:cNvPr id="575578270" name="Text 18"/>
          <p:cNvSpPr txBox="1"/>
          <p:nvPr/>
        </p:nvSpPr>
        <p:spPr bwMode="auto">
          <a:xfrm>
            <a:off x="11174611" y="4368850"/>
            <a:ext cx="30301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850" b="1" spc="66">
                <a:solidFill>
                  <a:srgbClr val="67F4E2"/>
                </a:solidFill>
                <a:latin typeface="Inter"/>
                <a:ea typeface="Inter"/>
                <a:cs typeface="Inter"/>
              </a:rPr>
              <a:t>None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38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7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83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0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35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30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328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27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66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19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9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50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48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83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04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0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23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05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68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22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63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03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77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93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7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1816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871832" name="Text 0"/>
          <p:cNvSpPr txBox="1"/>
          <p:nvPr/>
        </p:nvSpPr>
        <p:spPr bwMode="auto">
          <a:xfrm>
            <a:off x="533399" y="457200"/>
            <a:ext cx="6602931" cy="42600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>
              <a:buNone/>
              <a:defRPr/>
            </a:pPr>
            <a:r>
              <a:rPr lang="en-US" sz="3450" b="1" spc="-69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Alerting — </a:t>
            </a:r>
            <a:r>
              <a:rPr lang="de-DE" sz="3450" b="1" spc="-68">
                <a:solidFill>
                  <a:srgbClr val="67F4E2"/>
                </a:solidFill>
                <a:latin typeface="Inter"/>
                <a:ea typeface="Inter"/>
                <a:cs typeface="Inter"/>
              </a:rPr>
              <a:t>6</a:t>
            </a:r>
            <a:r>
              <a:rPr lang="en-US" sz="3450" b="1" spc="-69">
                <a:solidFill>
                  <a:srgbClr val="67F4E2"/>
                </a:solidFill>
                <a:latin typeface="Inter"/>
                <a:ea typeface="Inter"/>
                <a:cs typeface="Inter"/>
              </a:rPr>
              <a:t> Alarms</a:t>
            </a:r>
            <a:r>
              <a:rPr lang="en-US" sz="3450" b="1" spc="-69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 CloudWatch</a:t>
            </a:r>
            <a:endParaRPr lang="en-US" sz="3450"/>
          </a:p>
        </p:txBody>
      </p:sp>
      <p:pic>
        <p:nvPicPr>
          <p:cNvPr id="107547434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3400" y="1599009"/>
            <a:ext cx="5495925" cy="1257151"/>
          </a:xfrm>
          <a:prstGeom prst="rect">
            <a:avLst/>
          </a:prstGeom>
        </p:spPr>
      </p:pic>
      <p:sp>
        <p:nvSpPr>
          <p:cNvPr id="26526107" name="Text 2"/>
          <p:cNvSpPr txBox="1"/>
          <p:nvPr/>
        </p:nvSpPr>
        <p:spPr bwMode="auto">
          <a:xfrm>
            <a:off x="542925" y="1608534"/>
            <a:ext cx="5476875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  <a:defRPr/>
            </a:pPr>
            <a:endParaRPr lang="en-US" sz="1350"/>
          </a:p>
        </p:txBody>
      </p:sp>
      <p:sp>
        <p:nvSpPr>
          <p:cNvPr id="816871329" name="Text 3"/>
          <p:cNvSpPr txBox="1"/>
          <p:nvPr/>
        </p:nvSpPr>
        <p:spPr bwMode="auto">
          <a:xfrm>
            <a:off x="714375" y="1760933"/>
            <a:ext cx="538142" cy="1413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  <a:defRPr/>
            </a:pPr>
            <a:r>
              <a:rPr lang="en-US" sz="900" b="1" spc="18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error-rate</a:t>
            </a:r>
            <a:endParaRPr lang="en-US" sz="900"/>
          </a:p>
        </p:txBody>
      </p:sp>
      <p:sp>
        <p:nvSpPr>
          <p:cNvPr id="977759669" name="Text 4"/>
          <p:cNvSpPr txBox="1"/>
          <p:nvPr/>
        </p:nvSpPr>
        <p:spPr bwMode="auto">
          <a:xfrm>
            <a:off x="714375" y="1983730"/>
            <a:ext cx="51339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85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error_count • Sum &gt;5 • 2 periods of 60s</a:t>
            </a:r>
            <a:endParaRPr lang="en-US" sz="850"/>
          </a:p>
        </p:txBody>
      </p:sp>
      <p:pic>
        <p:nvPicPr>
          <p:cNvPr id="93664705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14375" y="2226618"/>
            <a:ext cx="657671" cy="238125"/>
          </a:xfrm>
          <a:prstGeom prst="rect">
            <a:avLst/>
          </a:prstGeom>
        </p:spPr>
      </p:pic>
      <p:sp>
        <p:nvSpPr>
          <p:cNvPr id="478895840" name="Text 5"/>
          <p:cNvSpPr txBox="1"/>
          <p:nvPr/>
        </p:nvSpPr>
        <p:spPr bwMode="auto">
          <a:xfrm>
            <a:off x="800100" y="2283768"/>
            <a:ext cx="4862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EF2"/>
                </a:solidFill>
                <a:highlight>
                  <a:srgbClr val="6BF7DE"/>
                </a:highlight>
                <a:latin typeface="Inter"/>
                <a:ea typeface="Inter"/>
                <a:cs typeface="Inter"/>
              </a:rPr>
              <a:t>RED Errors</a:t>
            </a:r>
            <a:endParaRPr lang="en-US" sz="750"/>
          </a:p>
        </p:txBody>
      </p:sp>
      <p:pic>
        <p:nvPicPr>
          <p:cNvPr id="1797532350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448246" y="2226618"/>
            <a:ext cx="576560" cy="238125"/>
          </a:xfrm>
          <a:prstGeom prst="rect">
            <a:avLst/>
          </a:prstGeom>
        </p:spPr>
      </p:pic>
      <p:sp>
        <p:nvSpPr>
          <p:cNvPr id="580312074" name="Text 6"/>
          <p:cNvSpPr txBox="1"/>
          <p:nvPr/>
        </p:nvSpPr>
        <p:spPr bwMode="auto">
          <a:xfrm>
            <a:off x="1533971" y="2283768"/>
            <a:ext cx="40511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DF2">
                    <a:alpha val="80000"/>
                  </a:srgbClr>
                </a:solidFill>
                <a:highlight>
                  <a:srgbClr val="E6F2F2"/>
                </a:highlight>
                <a:latin typeface="Inter"/>
                <a:ea typeface="Inter"/>
                <a:cs typeface="Inter"/>
              </a:rPr>
              <a:t>Stat Sum</a:t>
            </a:r>
            <a:endParaRPr lang="en-US" sz="750"/>
          </a:p>
        </p:txBody>
      </p:sp>
      <p:pic>
        <p:nvPicPr>
          <p:cNvPr id="1807719784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101007" y="2226618"/>
            <a:ext cx="1569541" cy="238125"/>
          </a:xfrm>
          <a:prstGeom prst="rect">
            <a:avLst/>
          </a:prstGeom>
        </p:spPr>
      </p:pic>
      <p:sp>
        <p:nvSpPr>
          <p:cNvPr id="1713899862" name="Text 7"/>
          <p:cNvSpPr txBox="1"/>
          <p:nvPr/>
        </p:nvSpPr>
        <p:spPr bwMode="auto">
          <a:xfrm>
            <a:off x="2186732" y="2283768"/>
            <a:ext cx="139809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DF2">
                    <a:alpha val="80000"/>
                  </a:srgbClr>
                </a:solidFill>
                <a:highlight>
                  <a:srgbClr val="E6F2F2"/>
                </a:highlight>
                <a:latin typeface="Inter"/>
                <a:ea typeface="Inter"/>
                <a:cs typeface="Inter"/>
              </a:rPr>
              <a:t>Treat missing as not-breaching</a:t>
            </a:r>
            <a:endParaRPr lang="en-US" sz="750"/>
          </a:p>
        </p:txBody>
      </p:sp>
      <p:pic>
        <p:nvPicPr>
          <p:cNvPr id="1064893479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162675" y="1599009"/>
            <a:ext cx="5495925" cy="1257151"/>
          </a:xfrm>
          <a:prstGeom prst="rect">
            <a:avLst/>
          </a:prstGeom>
        </p:spPr>
      </p:pic>
      <p:sp>
        <p:nvSpPr>
          <p:cNvPr id="810308880" name="Text 9"/>
          <p:cNvSpPr txBox="1"/>
          <p:nvPr/>
        </p:nvSpPr>
        <p:spPr bwMode="auto">
          <a:xfrm>
            <a:off x="6172200" y="1608534"/>
            <a:ext cx="5476875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  <a:defRPr/>
            </a:pPr>
            <a:endParaRPr lang="en-US" sz="1350"/>
          </a:p>
        </p:txBody>
      </p:sp>
      <p:sp>
        <p:nvSpPr>
          <p:cNvPr id="1914947146" name="Text 10"/>
          <p:cNvSpPr txBox="1"/>
          <p:nvPr/>
        </p:nvSpPr>
        <p:spPr bwMode="auto">
          <a:xfrm>
            <a:off x="6343650" y="1760933"/>
            <a:ext cx="410619" cy="141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  <a:defRPr/>
            </a:pPr>
            <a:r>
              <a:rPr lang="en-US" sz="900" b="1" spc="18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latency</a:t>
            </a:r>
            <a:endParaRPr lang="en-US" sz="900"/>
          </a:p>
        </p:txBody>
      </p:sp>
      <p:sp>
        <p:nvSpPr>
          <p:cNvPr id="44036681" name="Text 11"/>
          <p:cNvSpPr txBox="1"/>
          <p:nvPr/>
        </p:nvSpPr>
        <p:spPr bwMode="auto">
          <a:xfrm>
            <a:off x="6343650" y="1983730"/>
            <a:ext cx="51339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85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api_latency • Average &gt;500ms • 2 periods</a:t>
            </a:r>
            <a:endParaRPr lang="en-US" sz="850"/>
          </a:p>
        </p:txBody>
      </p:sp>
      <p:pic>
        <p:nvPicPr>
          <p:cNvPr id="1087769720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343650" y="2226618"/>
            <a:ext cx="767655" cy="238125"/>
          </a:xfrm>
          <a:prstGeom prst="rect">
            <a:avLst/>
          </a:prstGeom>
        </p:spPr>
      </p:pic>
      <p:sp>
        <p:nvSpPr>
          <p:cNvPr id="1657159946" name="Text 12"/>
          <p:cNvSpPr txBox="1"/>
          <p:nvPr/>
        </p:nvSpPr>
        <p:spPr bwMode="auto">
          <a:xfrm>
            <a:off x="6429375" y="2283768"/>
            <a:ext cx="59620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EF2"/>
                </a:solidFill>
                <a:highlight>
                  <a:srgbClr val="6BF7DE"/>
                </a:highlight>
                <a:latin typeface="Inter"/>
                <a:ea typeface="Inter"/>
                <a:cs typeface="Inter"/>
              </a:rPr>
              <a:t>RED Duration</a:t>
            </a:r>
            <a:endParaRPr lang="en-US" sz="750"/>
          </a:p>
        </p:txBody>
      </p:sp>
      <p:pic>
        <p:nvPicPr>
          <p:cNvPr id="113345228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7187505" y="2226618"/>
            <a:ext cx="340816" cy="238125"/>
          </a:xfrm>
          <a:prstGeom prst="rect">
            <a:avLst/>
          </a:prstGeom>
        </p:spPr>
      </p:pic>
      <p:sp>
        <p:nvSpPr>
          <p:cNvPr id="1043235397" name="Text 13"/>
          <p:cNvSpPr txBox="1"/>
          <p:nvPr/>
        </p:nvSpPr>
        <p:spPr bwMode="auto">
          <a:xfrm>
            <a:off x="7273230" y="2283768"/>
            <a:ext cx="16936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DF2">
                    <a:alpha val="80000"/>
                  </a:srgbClr>
                </a:solidFill>
                <a:highlight>
                  <a:srgbClr val="E6F2F2"/>
                </a:highlight>
                <a:latin typeface="Inter"/>
                <a:ea typeface="Inter"/>
                <a:cs typeface="Inter"/>
              </a:rPr>
              <a:t>Avg</a:t>
            </a:r>
            <a:endParaRPr lang="en-US" sz="750"/>
          </a:p>
        </p:txBody>
      </p:sp>
      <p:pic>
        <p:nvPicPr>
          <p:cNvPr id="764771249" name="Image 7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7604522" y="2226618"/>
            <a:ext cx="693837" cy="238125"/>
          </a:xfrm>
          <a:prstGeom prst="rect">
            <a:avLst/>
          </a:prstGeom>
        </p:spPr>
      </p:pic>
      <p:sp>
        <p:nvSpPr>
          <p:cNvPr id="1712815698" name="Text 14"/>
          <p:cNvSpPr txBox="1"/>
          <p:nvPr/>
        </p:nvSpPr>
        <p:spPr bwMode="auto">
          <a:xfrm>
            <a:off x="7690247" y="2283768"/>
            <a:ext cx="52238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DF2">
                    <a:alpha val="80000"/>
                  </a:srgbClr>
                </a:solidFill>
                <a:highlight>
                  <a:srgbClr val="E6F2F2"/>
                </a:highlight>
                <a:latin typeface="Inter"/>
                <a:ea typeface="Inter"/>
                <a:cs typeface="Inter"/>
              </a:rPr>
              <a:t>SLO 500ms</a:t>
            </a:r>
            <a:endParaRPr lang="en-US" sz="750"/>
          </a:p>
        </p:txBody>
      </p:sp>
      <p:pic>
        <p:nvPicPr>
          <p:cNvPr id="1198943088" name="Image 8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533400" y="2989511"/>
            <a:ext cx="5495925" cy="1410444"/>
          </a:xfrm>
          <a:prstGeom prst="rect">
            <a:avLst/>
          </a:prstGeom>
        </p:spPr>
      </p:pic>
      <p:sp>
        <p:nvSpPr>
          <p:cNvPr id="115525602" name="Text 16"/>
          <p:cNvSpPr txBox="1"/>
          <p:nvPr/>
        </p:nvSpPr>
        <p:spPr bwMode="auto">
          <a:xfrm>
            <a:off x="542925" y="2999036"/>
            <a:ext cx="5476875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  <a:defRPr/>
            </a:pPr>
            <a:endParaRPr lang="en-US" sz="1350"/>
          </a:p>
        </p:txBody>
      </p:sp>
      <p:sp>
        <p:nvSpPr>
          <p:cNvPr id="695694169" name="Text 17"/>
          <p:cNvSpPr txBox="1"/>
          <p:nvPr/>
        </p:nvSpPr>
        <p:spPr bwMode="auto">
          <a:xfrm>
            <a:off x="714375" y="3151434"/>
            <a:ext cx="459124" cy="1392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  <a:defRPr/>
            </a:pPr>
            <a:r>
              <a:rPr lang="de-DE" sz="900" b="1" spc="18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memory</a:t>
            </a:r>
            <a:endParaRPr lang="en-US" sz="900"/>
          </a:p>
        </p:txBody>
      </p:sp>
      <p:sp>
        <p:nvSpPr>
          <p:cNvPr id="1969927187" name="Text 18"/>
          <p:cNvSpPr txBox="1"/>
          <p:nvPr/>
        </p:nvSpPr>
        <p:spPr bwMode="auto">
          <a:xfrm>
            <a:off x="714375" y="3374231"/>
            <a:ext cx="513397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85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request_count • Sum &lt;1 • 300s period • missing data BREACHING</a:t>
            </a:r>
            <a:endParaRPr lang="en-US" sz="850"/>
          </a:p>
        </p:txBody>
      </p:sp>
      <p:pic>
        <p:nvPicPr>
          <p:cNvPr id="1306629936" name="Image 9" descr="preencoded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714375" y="3617119"/>
            <a:ext cx="780901" cy="238125"/>
          </a:xfrm>
          <a:prstGeom prst="rect">
            <a:avLst/>
          </a:prstGeom>
        </p:spPr>
      </p:pic>
      <p:sp>
        <p:nvSpPr>
          <p:cNvPr id="1161040434" name="Text 19"/>
          <p:cNvSpPr txBox="1"/>
          <p:nvPr/>
        </p:nvSpPr>
        <p:spPr bwMode="auto">
          <a:xfrm>
            <a:off x="800100" y="3674269"/>
            <a:ext cx="60945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EF2"/>
                </a:solidFill>
                <a:highlight>
                  <a:srgbClr val="6BF7DE"/>
                </a:highlight>
                <a:latin typeface="Inter"/>
                <a:ea typeface="Inter"/>
                <a:cs typeface="Inter"/>
              </a:rPr>
              <a:t>Health-check</a:t>
            </a:r>
            <a:endParaRPr lang="en-US" sz="750"/>
          </a:p>
        </p:txBody>
      </p:sp>
      <p:pic>
        <p:nvPicPr>
          <p:cNvPr id="105070194" name="Image 10" descr="preencoded.png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1571476" y="3617119"/>
            <a:ext cx="855166" cy="238125"/>
          </a:xfrm>
          <a:prstGeom prst="rect">
            <a:avLst/>
          </a:prstGeom>
        </p:spPr>
      </p:pic>
      <p:sp>
        <p:nvSpPr>
          <p:cNvPr id="1320326366" name="Text 20"/>
          <p:cNvSpPr txBox="1"/>
          <p:nvPr/>
        </p:nvSpPr>
        <p:spPr bwMode="auto">
          <a:xfrm>
            <a:off x="1657201" y="3674269"/>
            <a:ext cx="68371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DF2">
                    <a:alpha val="80000"/>
                  </a:srgbClr>
                </a:solidFill>
                <a:highlight>
                  <a:srgbClr val="E6F2F2"/>
                </a:highlight>
                <a:latin typeface="Inter"/>
                <a:ea typeface="Inter"/>
                <a:cs typeface="Inter"/>
              </a:rPr>
              <a:t>1 req /5min min</a:t>
            </a:r>
            <a:endParaRPr lang="en-US" sz="750"/>
          </a:p>
        </p:txBody>
      </p:sp>
      <p:pic>
        <p:nvPicPr>
          <p:cNvPr id="455312871" name="Image 11" descr="preencoded.png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2502843" y="3617119"/>
            <a:ext cx="1000423" cy="238125"/>
          </a:xfrm>
          <a:prstGeom prst="rect">
            <a:avLst/>
          </a:prstGeom>
        </p:spPr>
      </p:pic>
      <p:sp>
        <p:nvSpPr>
          <p:cNvPr id="324735801" name="Text 21"/>
          <p:cNvSpPr txBox="1"/>
          <p:nvPr/>
        </p:nvSpPr>
        <p:spPr bwMode="auto">
          <a:xfrm>
            <a:off x="2588568" y="3674269"/>
            <a:ext cx="82897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DF2">
                    <a:alpha val="80000"/>
                  </a:srgbClr>
                </a:solidFill>
                <a:highlight>
                  <a:srgbClr val="E6F2F2"/>
                </a:highlight>
                <a:latin typeface="Inter"/>
                <a:ea typeface="Inter"/>
                <a:cs typeface="Inter"/>
              </a:rPr>
              <a:t>Missing → ALARM</a:t>
            </a:r>
            <a:endParaRPr lang="en-US" sz="750"/>
          </a:p>
        </p:txBody>
      </p:sp>
      <p:pic>
        <p:nvPicPr>
          <p:cNvPr id="238481870" name="Image 12" descr="preencoded.png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6162675" y="2989511"/>
            <a:ext cx="5495925" cy="1410444"/>
          </a:xfrm>
          <a:prstGeom prst="rect">
            <a:avLst/>
          </a:prstGeom>
        </p:spPr>
      </p:pic>
      <p:sp>
        <p:nvSpPr>
          <p:cNvPr id="1219969698" name="Text 23"/>
          <p:cNvSpPr txBox="1"/>
          <p:nvPr/>
        </p:nvSpPr>
        <p:spPr bwMode="auto">
          <a:xfrm>
            <a:off x="6172200" y="2999036"/>
            <a:ext cx="5476875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  <a:defRPr/>
            </a:pPr>
            <a:endParaRPr lang="en-US" sz="1350"/>
          </a:p>
        </p:txBody>
      </p:sp>
      <p:sp>
        <p:nvSpPr>
          <p:cNvPr id="11966363" name="Text 24"/>
          <p:cNvSpPr txBox="1"/>
          <p:nvPr/>
        </p:nvSpPr>
        <p:spPr bwMode="auto">
          <a:xfrm>
            <a:off x="6343650" y="3151434"/>
            <a:ext cx="238567" cy="14391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  <a:defRPr/>
            </a:pPr>
            <a:r>
              <a:rPr lang="de-DE" sz="900" b="1" spc="18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disk</a:t>
            </a:r>
            <a:endParaRPr lang="en-US" sz="900"/>
          </a:p>
        </p:txBody>
      </p:sp>
      <p:sp>
        <p:nvSpPr>
          <p:cNvPr id="1630022752" name="Text 25"/>
          <p:cNvSpPr txBox="1"/>
          <p:nvPr/>
        </p:nvSpPr>
        <p:spPr bwMode="auto">
          <a:xfrm>
            <a:off x="6343650" y="3374230"/>
            <a:ext cx="3774297" cy="14907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  <a:defRPr/>
            </a:pPr>
            <a:r>
              <a:rPr lang="de-DE" sz="85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DISK</a:t>
            </a:r>
            <a:r>
              <a:rPr lang="en-US" sz="85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Utilization • Average &gt;80% • 2 periods 300s • Dim: InstanceId=i-01b042…</a:t>
            </a:r>
            <a:endParaRPr lang="en-US" sz="850"/>
          </a:p>
        </p:txBody>
      </p:sp>
      <p:pic>
        <p:nvPicPr>
          <p:cNvPr id="1891621727" name="Image 13" descr="preencoded.png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6343650" y="3617119"/>
            <a:ext cx="846534" cy="238125"/>
          </a:xfrm>
          <a:prstGeom prst="rect">
            <a:avLst/>
          </a:prstGeom>
        </p:spPr>
      </p:pic>
      <p:sp>
        <p:nvSpPr>
          <p:cNvPr id="866054233" name="Text 26"/>
          <p:cNvSpPr txBox="1"/>
          <p:nvPr/>
        </p:nvSpPr>
        <p:spPr bwMode="auto">
          <a:xfrm>
            <a:off x="6429375" y="3674269"/>
            <a:ext cx="67508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EF2"/>
                </a:solidFill>
                <a:highlight>
                  <a:srgbClr val="6BF7DE"/>
                </a:highlight>
                <a:latin typeface="Inter"/>
                <a:ea typeface="Inter"/>
                <a:cs typeface="Inter"/>
              </a:rPr>
              <a:t>USE Saturation</a:t>
            </a:r>
            <a:endParaRPr lang="en-US" sz="750"/>
          </a:p>
        </p:txBody>
      </p:sp>
      <p:pic>
        <p:nvPicPr>
          <p:cNvPr id="1078283848" name="Image 14" descr="preencoded.png"/>
          <p:cNvPicPr>
            <a:picLocks noChangeAspect="1"/>
          </p:cNvPicPr>
          <p:nvPr/>
        </p:nvPicPr>
        <p:blipFill rotWithShape="1">
          <a:blip r:embed="rId17"/>
          <a:stretch/>
        </p:blipFill>
        <p:spPr bwMode="auto">
          <a:xfrm>
            <a:off x="7266384" y="3617119"/>
            <a:ext cx="606028" cy="238125"/>
          </a:xfrm>
          <a:prstGeom prst="rect">
            <a:avLst/>
          </a:prstGeom>
        </p:spPr>
      </p:pic>
      <p:sp>
        <p:nvSpPr>
          <p:cNvPr id="1367011934" name="Text 27"/>
          <p:cNvSpPr txBox="1"/>
          <p:nvPr/>
        </p:nvSpPr>
        <p:spPr bwMode="auto">
          <a:xfrm>
            <a:off x="7352109" y="3674269"/>
            <a:ext cx="43457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DF2">
                    <a:alpha val="80000"/>
                  </a:srgbClr>
                </a:solidFill>
                <a:highlight>
                  <a:srgbClr val="E6F2F2"/>
                </a:highlight>
                <a:latin typeface="Inter"/>
                <a:ea typeface="Inter"/>
                <a:cs typeface="Inter"/>
              </a:rPr>
              <a:t>AWS/EC2</a:t>
            </a:r>
            <a:endParaRPr lang="en-US" sz="750"/>
          </a:p>
        </p:txBody>
      </p:sp>
      <p:pic>
        <p:nvPicPr>
          <p:cNvPr id="1932352018" name="Image 15" descr="preencoded.png"/>
          <p:cNvPicPr>
            <a:picLocks noChangeAspect="1"/>
          </p:cNvPicPr>
          <p:nvPr/>
        </p:nvPicPr>
        <p:blipFill rotWithShape="1">
          <a:blip r:embed="rId18"/>
          <a:stretch/>
        </p:blipFill>
        <p:spPr bwMode="auto">
          <a:xfrm>
            <a:off x="7948613" y="3617119"/>
            <a:ext cx="580132" cy="238125"/>
          </a:xfrm>
          <a:prstGeom prst="rect">
            <a:avLst/>
          </a:prstGeom>
        </p:spPr>
      </p:pic>
      <p:sp>
        <p:nvSpPr>
          <p:cNvPr id="1750599974" name="Text 28"/>
          <p:cNvSpPr txBox="1"/>
          <p:nvPr/>
        </p:nvSpPr>
        <p:spPr bwMode="auto">
          <a:xfrm>
            <a:off x="8034338" y="3674269"/>
            <a:ext cx="40868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DF2">
                    <a:alpha val="80000"/>
                  </a:srgbClr>
                </a:solidFill>
                <a:highlight>
                  <a:srgbClr val="E6F2F2"/>
                </a:highlight>
                <a:latin typeface="Inter"/>
                <a:ea typeface="Inter"/>
                <a:cs typeface="Inter"/>
              </a:rPr>
              <a:t>Avg 80%</a:t>
            </a:r>
            <a:endParaRPr lang="en-US" sz="750"/>
          </a:p>
        </p:txBody>
      </p:sp>
      <p:pic>
        <p:nvPicPr>
          <p:cNvPr id="1709940449" name="Image 16" descr="preencoded.png"/>
          <p:cNvPicPr>
            <a:picLocks noChangeAspect="1"/>
          </p:cNvPicPr>
          <p:nvPr/>
        </p:nvPicPr>
        <p:blipFill rotWithShape="1">
          <a:blip r:embed="rId19"/>
          <a:stretch/>
        </p:blipFill>
        <p:spPr bwMode="auto">
          <a:xfrm>
            <a:off x="533400" y="5993160"/>
            <a:ext cx="11125200" cy="407640"/>
          </a:xfrm>
          <a:prstGeom prst="rect">
            <a:avLst/>
          </a:prstGeom>
        </p:spPr>
      </p:pic>
      <p:sp>
        <p:nvSpPr>
          <p:cNvPr id="1198387449" name="Shape 30"/>
          <p:cNvSpPr/>
          <p:nvPr/>
        </p:nvSpPr>
        <p:spPr bwMode="auto">
          <a:xfrm>
            <a:off x="676275" y="6162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904108213" name="Text 31"/>
          <p:cNvSpPr txBox="1"/>
          <p:nvPr/>
        </p:nvSpPr>
        <p:spPr bwMode="auto">
          <a:xfrm>
            <a:off x="904875" y="6116985"/>
            <a:ext cx="975895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38BDF8"/>
                </a:solidFill>
                <a:latin typeface="Inter"/>
                <a:ea typeface="Inter"/>
                <a:cs typeface="Inter"/>
              </a:rPr>
              <a:t>SNS → proj2-alerts + Email notification</a:t>
            </a:r>
            <a:r>
              <a:rPr lang="en-US" sz="90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 • IAM proj2-ec2-role needs cloudwatch:PutMetricData only; ListMetrics from Admin • Thresholds tuned for low-traffic demo, not prod scale</a:t>
            </a:r>
            <a:endParaRPr lang="en-US" sz="900"/>
          </a:p>
        </p:txBody>
      </p:sp>
      <p:pic>
        <p:nvPicPr>
          <p:cNvPr id="546838245" name="Image 8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495894" y="4529143"/>
            <a:ext cx="5495924" cy="1410444"/>
          </a:xfrm>
          <a:prstGeom prst="rect">
            <a:avLst/>
          </a:prstGeom>
        </p:spPr>
      </p:pic>
      <p:sp>
        <p:nvSpPr>
          <p:cNvPr id="11622021" name="Text 16"/>
          <p:cNvSpPr txBox="1"/>
          <p:nvPr/>
        </p:nvSpPr>
        <p:spPr bwMode="auto">
          <a:xfrm>
            <a:off x="505419" y="4538668"/>
            <a:ext cx="5476874" cy="1904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4"/>
              </a:lnSpc>
              <a:buNone/>
              <a:defRPr/>
            </a:pPr>
            <a:endParaRPr lang="en-US" sz="1350"/>
          </a:p>
        </p:txBody>
      </p:sp>
      <p:sp>
        <p:nvSpPr>
          <p:cNvPr id="876165524" name="Text 17"/>
          <p:cNvSpPr txBox="1"/>
          <p:nvPr/>
        </p:nvSpPr>
        <p:spPr bwMode="auto">
          <a:xfrm>
            <a:off x="676869" y="4691067"/>
            <a:ext cx="972882" cy="1446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9"/>
              </a:lnSpc>
              <a:buNone/>
              <a:defRPr/>
            </a:pPr>
            <a:r>
              <a:rPr lang="de-DE" sz="900" b="1" spc="18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memory anomaly</a:t>
            </a:r>
            <a:endParaRPr lang="en-US" sz="900"/>
          </a:p>
        </p:txBody>
      </p:sp>
      <p:sp>
        <p:nvSpPr>
          <p:cNvPr id="1702799203" name="Text 18"/>
          <p:cNvSpPr txBox="1"/>
          <p:nvPr/>
        </p:nvSpPr>
        <p:spPr bwMode="auto">
          <a:xfrm>
            <a:off x="676869" y="4913863"/>
            <a:ext cx="1385748" cy="16419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7"/>
              </a:lnSpc>
              <a:buNone/>
              <a:defRPr/>
            </a:pPr>
            <a:r>
              <a:rPr lang="de-DE" sz="85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threshold </a:t>
            </a:r>
            <a:r>
              <a:rPr lang="de-DE" sz="85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&gt;</a:t>
            </a:r>
            <a:r>
              <a:rPr lang="de-DE" sz="85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 40%</a:t>
            </a:r>
            <a:r>
              <a:rPr lang="en-US" sz="85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 • </a:t>
            </a:r>
            <a:r>
              <a:rPr lang="de-DE" sz="85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6</a:t>
            </a:r>
            <a:r>
              <a:rPr lang="en-US" sz="85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0s period</a:t>
            </a:r>
            <a:endParaRPr lang="en-US" sz="850"/>
          </a:p>
        </p:txBody>
      </p:sp>
      <p:pic>
        <p:nvPicPr>
          <p:cNvPr id="258902609" name="Image 9" descr="preencoded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676869" y="5156751"/>
            <a:ext cx="780900" cy="238124"/>
          </a:xfrm>
          <a:prstGeom prst="rect">
            <a:avLst/>
          </a:prstGeom>
        </p:spPr>
      </p:pic>
      <p:sp>
        <p:nvSpPr>
          <p:cNvPr id="1589504250" name="Text 19"/>
          <p:cNvSpPr txBox="1"/>
          <p:nvPr/>
        </p:nvSpPr>
        <p:spPr bwMode="auto">
          <a:xfrm>
            <a:off x="762594" y="5213901"/>
            <a:ext cx="609450" cy="13334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4"/>
              </a:lnSpc>
              <a:buNone/>
              <a:defRPr/>
            </a:pPr>
            <a:r>
              <a:rPr lang="en-US" sz="750">
                <a:solidFill>
                  <a:srgbClr val="EAEEF2"/>
                </a:solidFill>
                <a:highlight>
                  <a:srgbClr val="6BF7DE"/>
                </a:highlight>
                <a:latin typeface="Inter"/>
                <a:ea typeface="Inter"/>
                <a:cs typeface="Inter"/>
              </a:rPr>
              <a:t>Health-check</a:t>
            </a:r>
            <a:endParaRPr lang="en-US" sz="750"/>
          </a:p>
        </p:txBody>
      </p:sp>
      <p:pic>
        <p:nvPicPr>
          <p:cNvPr id="1622623502" name="Image 10" descr="preencoded.png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1533970" y="5156751"/>
            <a:ext cx="855165" cy="238124"/>
          </a:xfrm>
          <a:prstGeom prst="rect">
            <a:avLst/>
          </a:prstGeom>
        </p:spPr>
      </p:pic>
      <p:sp>
        <p:nvSpPr>
          <p:cNvPr id="1894657873" name="Text 20"/>
          <p:cNvSpPr txBox="1"/>
          <p:nvPr/>
        </p:nvSpPr>
        <p:spPr bwMode="auto">
          <a:xfrm>
            <a:off x="1619695" y="5213901"/>
            <a:ext cx="683715" cy="13334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4"/>
              </a:lnSpc>
              <a:buNone/>
              <a:defRPr/>
            </a:pPr>
            <a:r>
              <a:rPr lang="en-US" sz="750">
                <a:solidFill>
                  <a:srgbClr val="EAEDF2">
                    <a:alpha val="80000"/>
                  </a:srgbClr>
                </a:solidFill>
                <a:highlight>
                  <a:srgbClr val="E6F2F2"/>
                </a:highlight>
                <a:latin typeface="Inter"/>
                <a:ea typeface="Inter"/>
                <a:cs typeface="Inter"/>
              </a:rPr>
              <a:t>1 req /5min min</a:t>
            </a:r>
            <a:endParaRPr lang="en-US" sz="750"/>
          </a:p>
        </p:txBody>
      </p:sp>
      <p:pic>
        <p:nvPicPr>
          <p:cNvPr id="1978310896" name="Image 11" descr="preencoded.png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2465337" y="5156751"/>
            <a:ext cx="1000422" cy="238124"/>
          </a:xfrm>
          <a:prstGeom prst="rect">
            <a:avLst/>
          </a:prstGeom>
        </p:spPr>
      </p:pic>
      <p:sp>
        <p:nvSpPr>
          <p:cNvPr id="2045769097" name="Text 21"/>
          <p:cNvSpPr txBox="1"/>
          <p:nvPr/>
        </p:nvSpPr>
        <p:spPr bwMode="auto">
          <a:xfrm>
            <a:off x="2551062" y="5213901"/>
            <a:ext cx="828972" cy="13334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4"/>
              </a:lnSpc>
              <a:buNone/>
              <a:defRPr/>
            </a:pPr>
            <a:r>
              <a:rPr lang="en-US" sz="750">
                <a:solidFill>
                  <a:srgbClr val="EAEDF2">
                    <a:alpha val="80000"/>
                  </a:srgbClr>
                </a:solidFill>
                <a:highlight>
                  <a:srgbClr val="E6F2F2"/>
                </a:highlight>
                <a:latin typeface="Inter"/>
                <a:ea typeface="Inter"/>
                <a:cs typeface="Inter"/>
              </a:rPr>
              <a:t>Missing → ALARM</a:t>
            </a:r>
            <a:endParaRPr lang="en-US" sz="750"/>
          </a:p>
        </p:txBody>
      </p:sp>
      <p:pic>
        <p:nvPicPr>
          <p:cNvPr id="1953428459" name="Image 8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6162674" y="4529143"/>
            <a:ext cx="5495924" cy="1410444"/>
          </a:xfrm>
          <a:prstGeom prst="rect">
            <a:avLst/>
          </a:prstGeom>
        </p:spPr>
      </p:pic>
      <p:sp>
        <p:nvSpPr>
          <p:cNvPr id="1239033773" name="Text 16"/>
          <p:cNvSpPr txBox="1"/>
          <p:nvPr/>
        </p:nvSpPr>
        <p:spPr bwMode="auto">
          <a:xfrm>
            <a:off x="6172200" y="4538668"/>
            <a:ext cx="5476874" cy="1904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4"/>
              </a:lnSpc>
              <a:buNone/>
              <a:defRPr/>
            </a:pPr>
            <a:endParaRPr lang="en-US" sz="1350"/>
          </a:p>
        </p:txBody>
      </p:sp>
      <p:sp>
        <p:nvSpPr>
          <p:cNvPr id="178917849" name="Text 17"/>
          <p:cNvSpPr txBox="1"/>
          <p:nvPr/>
        </p:nvSpPr>
        <p:spPr bwMode="auto">
          <a:xfrm>
            <a:off x="6343650" y="4691067"/>
            <a:ext cx="611865" cy="1464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9"/>
              </a:lnSpc>
              <a:buNone/>
              <a:defRPr/>
            </a:pPr>
            <a:r>
              <a:rPr lang="de-DE" sz="900" b="1" spc="18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Composite</a:t>
            </a:r>
            <a:endParaRPr lang="en-US" sz="900"/>
          </a:p>
        </p:txBody>
      </p:sp>
      <p:sp>
        <p:nvSpPr>
          <p:cNvPr id="1816509743" name="Text 18"/>
          <p:cNvSpPr txBox="1"/>
          <p:nvPr/>
        </p:nvSpPr>
        <p:spPr bwMode="auto">
          <a:xfrm>
            <a:off x="6343650" y="4913863"/>
            <a:ext cx="975675" cy="15483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7"/>
              </a:lnSpc>
              <a:buNone/>
              <a:defRPr/>
            </a:pPr>
            <a:r>
              <a:rPr lang="de-DE" sz="850">
                <a:solidFill>
                  <a:srgbClr val="67F4E2"/>
                </a:solidFill>
                <a:latin typeface="JetBrains Mono"/>
                <a:ea typeface="JetBrains Mono"/>
                <a:cs typeface="JetBrains Mono"/>
              </a:rPr>
              <a:t>anomaly + error rate</a:t>
            </a:r>
            <a:endParaRPr lang="en-US" sz="850"/>
          </a:p>
        </p:txBody>
      </p:sp>
      <p:pic>
        <p:nvPicPr>
          <p:cNvPr id="2116047351" name="Image 9" descr="preencoded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6343650" y="5156751"/>
            <a:ext cx="780900" cy="238124"/>
          </a:xfrm>
          <a:prstGeom prst="rect">
            <a:avLst/>
          </a:prstGeom>
        </p:spPr>
      </p:pic>
      <p:sp>
        <p:nvSpPr>
          <p:cNvPr id="1547949446" name="Text 19"/>
          <p:cNvSpPr txBox="1"/>
          <p:nvPr/>
        </p:nvSpPr>
        <p:spPr bwMode="auto">
          <a:xfrm>
            <a:off x="6429375" y="5213901"/>
            <a:ext cx="609450" cy="13334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4"/>
              </a:lnSpc>
              <a:buNone/>
              <a:defRPr/>
            </a:pPr>
            <a:r>
              <a:rPr lang="en-US" sz="750">
                <a:solidFill>
                  <a:srgbClr val="EAEEF2"/>
                </a:solidFill>
                <a:highlight>
                  <a:srgbClr val="6BF7DE"/>
                </a:highlight>
                <a:latin typeface="Inter"/>
                <a:ea typeface="Inter"/>
                <a:cs typeface="Inter"/>
              </a:rPr>
              <a:t>Health-check</a:t>
            </a:r>
            <a:endParaRPr lang="en-US" sz="750"/>
          </a:p>
        </p:txBody>
      </p:sp>
      <p:pic>
        <p:nvPicPr>
          <p:cNvPr id="1790551738" name="Image 10" descr="preencoded.png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7200750" y="5156751"/>
            <a:ext cx="855165" cy="238124"/>
          </a:xfrm>
          <a:prstGeom prst="rect">
            <a:avLst/>
          </a:prstGeom>
        </p:spPr>
      </p:pic>
      <p:sp>
        <p:nvSpPr>
          <p:cNvPr id="1926220060" name="Text 20"/>
          <p:cNvSpPr txBox="1"/>
          <p:nvPr/>
        </p:nvSpPr>
        <p:spPr bwMode="auto">
          <a:xfrm>
            <a:off x="7286475" y="5213901"/>
            <a:ext cx="683715" cy="13334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4"/>
              </a:lnSpc>
              <a:buNone/>
              <a:defRPr/>
            </a:pPr>
            <a:r>
              <a:rPr lang="en-US" sz="750">
                <a:solidFill>
                  <a:srgbClr val="EAEDF2">
                    <a:alpha val="80000"/>
                  </a:srgbClr>
                </a:solidFill>
                <a:highlight>
                  <a:srgbClr val="E6F2F2"/>
                </a:highlight>
                <a:latin typeface="Inter"/>
                <a:ea typeface="Inter"/>
                <a:cs typeface="Inter"/>
              </a:rPr>
              <a:t>1 req /5min min</a:t>
            </a:r>
            <a:endParaRPr lang="en-US" sz="750"/>
          </a:p>
        </p:txBody>
      </p:sp>
      <p:pic>
        <p:nvPicPr>
          <p:cNvPr id="820684858" name="Image 11" descr="preencoded.png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8132117" y="5156751"/>
            <a:ext cx="1000422" cy="238124"/>
          </a:xfrm>
          <a:prstGeom prst="rect">
            <a:avLst/>
          </a:prstGeom>
        </p:spPr>
      </p:pic>
      <p:sp>
        <p:nvSpPr>
          <p:cNvPr id="458286246" name="Text 21"/>
          <p:cNvSpPr txBox="1"/>
          <p:nvPr/>
        </p:nvSpPr>
        <p:spPr bwMode="auto">
          <a:xfrm>
            <a:off x="8217842" y="5213901"/>
            <a:ext cx="828972" cy="13334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4"/>
              </a:lnSpc>
              <a:buNone/>
              <a:defRPr/>
            </a:pPr>
            <a:r>
              <a:rPr lang="en-US" sz="750">
                <a:solidFill>
                  <a:srgbClr val="EAEDF2">
                    <a:alpha val="80000"/>
                  </a:srgbClr>
                </a:solidFill>
                <a:highlight>
                  <a:srgbClr val="E6F2F2"/>
                </a:highlight>
                <a:latin typeface="Inter"/>
                <a:ea typeface="Inter"/>
                <a:cs typeface="Inter"/>
              </a:rPr>
              <a:t>Missing → ALARM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816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807333" name="Text 0"/>
          <p:cNvSpPr txBox="1"/>
          <p:nvPr/>
        </p:nvSpPr>
        <p:spPr bwMode="auto">
          <a:xfrm>
            <a:off x="533399" y="457200"/>
            <a:ext cx="3907618" cy="41648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  <a:defRPr/>
            </a:pPr>
            <a:r>
              <a:rPr lang="en-US" sz="3450" b="1" spc="-69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Structured Logging </a:t>
            </a:r>
            <a:endParaRPr lang="en-US" sz="3450"/>
          </a:p>
        </p:txBody>
      </p:sp>
      <p:sp>
        <p:nvSpPr>
          <p:cNvPr id="788617509" name="Text 3"/>
          <p:cNvSpPr txBox="1"/>
          <p:nvPr/>
        </p:nvSpPr>
        <p:spPr bwMode="auto">
          <a:xfrm>
            <a:off x="533399" y="4416622"/>
            <a:ext cx="756" cy="17359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5"/>
              </a:lnSpc>
              <a:buNone/>
              <a:defRPr/>
            </a:pPr>
            <a:endParaRPr lang="en-US" sz="1000"/>
          </a:p>
        </p:txBody>
      </p:sp>
      <p:sp>
        <p:nvSpPr>
          <p:cNvPr id="1574410936" name="Text 8"/>
          <p:cNvSpPr txBox="1"/>
          <p:nvPr/>
        </p:nvSpPr>
        <p:spPr bwMode="auto">
          <a:xfrm>
            <a:off x="3490019" y="1325661"/>
            <a:ext cx="521196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850" b="1" spc="99">
                <a:solidFill>
                  <a:srgbClr val="67F4E2"/>
                </a:solidFill>
                <a:latin typeface="Inter"/>
                <a:ea typeface="Inter"/>
                <a:cs typeface="Inter"/>
              </a:rPr>
              <a:t>OUTPUT — app.log / journalctl -u myapp</a:t>
            </a:r>
            <a:endParaRPr lang="en-US" sz="850"/>
          </a:p>
        </p:txBody>
      </p:sp>
      <p:pic>
        <p:nvPicPr>
          <p:cNvPr id="878281620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775203" y="1847849"/>
            <a:ext cx="5211961" cy="3152775"/>
          </a:xfrm>
          <a:prstGeom prst="rect">
            <a:avLst/>
          </a:prstGeom>
        </p:spPr>
      </p:pic>
      <p:sp>
        <p:nvSpPr>
          <p:cNvPr id="2038570679" name="Text 9"/>
          <p:cNvSpPr txBox="1"/>
          <p:nvPr/>
        </p:nvSpPr>
        <p:spPr bwMode="auto">
          <a:xfrm>
            <a:off x="2956178" y="2019299"/>
            <a:ext cx="4850011" cy="2819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{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"event": "order_created",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"order_id": "09bcdd18-fd61-48b5-94a8...",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"amount": 150,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"correlation_id": "51e9ef29-4528-4582-a712...",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"timestamp": "2026-08-13T12:58:26.558Z"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}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{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"event": "request_completed",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"correlation_id": "51e9ef29...",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"method": "POST",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"path": "/orders",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"status_code": 201,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"latency_ms": 41,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"level": "INFO",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"timestamp": "2026-08-13T12:58:26.599Z"</a:t>
            </a:r>
            <a:endParaRPr sz="1400">
              <a:latin typeface="Calibri"/>
              <a:cs typeface="Calibri"/>
            </a:endParaRPr>
          </a:p>
          <a:p>
            <a:pPr marL="0" indent="0" algn="l">
              <a:lnSpc>
                <a:spcPts val="1238"/>
              </a:lnSpc>
              <a:buNone/>
              <a:defRPr/>
            </a:pPr>
            <a:r>
              <a:rPr lang="en-US" sz="1400">
                <a:solidFill>
                  <a:srgbClr val="EAEEF2"/>
                </a:solidFill>
                <a:latin typeface="Calibri"/>
                <a:ea typeface="Calibri"/>
                <a:cs typeface="Calibri"/>
              </a:rPr>
              <a:t> } 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41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28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5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1816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232356" name="Text 0"/>
          <p:cNvSpPr txBox="1"/>
          <p:nvPr/>
        </p:nvSpPr>
        <p:spPr bwMode="auto">
          <a:xfrm>
            <a:off x="533399" y="457200"/>
            <a:ext cx="6618767" cy="42224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  <a:defRPr/>
            </a:pPr>
            <a:r>
              <a:rPr lang="en-US" sz="3450" b="1" spc="-69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Instrumentation — </a:t>
            </a:r>
            <a:r>
              <a:rPr lang="de-DE" sz="3450" b="1" spc="-68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Key Decitions</a:t>
            </a:r>
            <a:endParaRPr lang="en-US" sz="3450"/>
          </a:p>
        </p:txBody>
      </p:sp>
      <p:pic>
        <p:nvPicPr>
          <p:cNvPr id="83607250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3400" y="1082873"/>
            <a:ext cx="5476875" cy="2496592"/>
          </a:xfrm>
          <a:prstGeom prst="rect">
            <a:avLst/>
          </a:prstGeom>
        </p:spPr>
      </p:pic>
      <p:sp>
        <p:nvSpPr>
          <p:cNvPr id="1112613856" name="Text 1"/>
          <p:cNvSpPr txBox="1"/>
          <p:nvPr/>
        </p:nvSpPr>
        <p:spPr bwMode="auto">
          <a:xfrm>
            <a:off x="752475" y="1282898"/>
            <a:ext cx="5038725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  <a:defRPr/>
            </a:pPr>
            <a:r>
              <a:rPr lang="en-US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STRUCTURED LOGGING</a:t>
            </a:r>
            <a:endParaRPr lang="en-US" sz="850"/>
          </a:p>
        </p:txBody>
      </p:sp>
      <p:sp>
        <p:nvSpPr>
          <p:cNvPr id="1390678621" name="Text 2"/>
          <p:cNvSpPr txBox="1"/>
          <p:nvPr/>
        </p:nvSpPr>
        <p:spPr bwMode="auto">
          <a:xfrm>
            <a:off x="752475" y="1503758"/>
            <a:ext cx="503872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en-US" sz="1500" b="1" spc="-22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structlog JSONRenderer + TimeStamper ISO</a:t>
            </a:r>
            <a:endParaRPr lang="en-US" sz="1500"/>
          </a:p>
        </p:txBody>
      </p:sp>
      <p:pic>
        <p:nvPicPr>
          <p:cNvPr id="105440149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52475" y="1808559"/>
            <a:ext cx="5038725" cy="362843"/>
          </a:xfrm>
          <a:prstGeom prst="rect">
            <a:avLst/>
          </a:prstGeom>
        </p:spPr>
      </p:pic>
      <p:sp>
        <p:nvSpPr>
          <p:cNvPr id="752278344" name="Text 3"/>
          <p:cNvSpPr txBox="1"/>
          <p:nvPr/>
        </p:nvSpPr>
        <p:spPr bwMode="auto">
          <a:xfrm>
            <a:off x="876299" y="1922859"/>
            <a:ext cx="4791075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  <a:defRPr/>
            </a:pPr>
            <a:r>
              <a:rPr lang="en-US" sz="850">
                <a:solidFill>
                  <a:srgbClr val="EAEEF2"/>
                </a:solidFill>
                <a:latin typeface="Inter"/>
                <a:ea typeface="Inter"/>
                <a:cs typeface="Inter"/>
              </a:rPr>
              <a:t>log.info("request_completed", correlation_id, method, path, status_code, latency_ms, level)</a:t>
            </a:r>
            <a:endParaRPr lang="en-US" sz="850"/>
          </a:p>
        </p:txBody>
      </p:sp>
      <p:sp>
        <p:nvSpPr>
          <p:cNvPr id="2068228065" name="Text 4"/>
          <p:cNvSpPr txBox="1"/>
          <p:nvPr/>
        </p:nvSpPr>
        <p:spPr bwMode="auto">
          <a:xfrm>
            <a:off x="752475" y="2276177"/>
            <a:ext cx="5038725" cy="382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Decision:</a:t>
            </a:r>
            <a:r>
              <a:rPr lang="en-US" sz="1000">
                <a:solidFill>
                  <a:srgbClr val="EAEDF2">
                    <a:alpha val="80000"/>
                  </a:srgbClr>
                </a:solidFill>
                <a:latin typeface="Inter"/>
                <a:ea typeface="Inter"/>
                <a:cs typeface="Inter"/>
              </a:rPr>
              <a:t> CloudWatch Logs Insights auto-parses JSON → 20+ fields </a:t>
            </a:r>
            <a:endParaRPr lang="en-US" sz="1000"/>
          </a:p>
        </p:txBody>
      </p:sp>
      <p:pic>
        <p:nvPicPr>
          <p:cNvPr id="1768890528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181725" y="1082873"/>
            <a:ext cx="5476875" cy="2496592"/>
          </a:xfrm>
          <a:prstGeom prst="rect">
            <a:avLst/>
          </a:prstGeom>
        </p:spPr>
      </p:pic>
      <p:sp>
        <p:nvSpPr>
          <p:cNvPr id="1444717829" name="Text 5"/>
          <p:cNvSpPr txBox="1"/>
          <p:nvPr/>
        </p:nvSpPr>
        <p:spPr bwMode="auto">
          <a:xfrm>
            <a:off x="6400800" y="1282898"/>
            <a:ext cx="5038725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  <a:defRPr/>
            </a:pPr>
            <a:r>
              <a:rPr lang="en-US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CORRELATION</a:t>
            </a:r>
            <a:endParaRPr lang="en-US" sz="850"/>
          </a:p>
        </p:txBody>
      </p:sp>
      <p:sp>
        <p:nvSpPr>
          <p:cNvPr id="381750240" name="Text 6"/>
          <p:cNvSpPr txBox="1"/>
          <p:nvPr/>
        </p:nvSpPr>
        <p:spPr bwMode="auto">
          <a:xfrm>
            <a:off x="6400800" y="1503758"/>
            <a:ext cx="503872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en-US" sz="1500" b="1" spc="-22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before_request → correlation_id</a:t>
            </a:r>
            <a:endParaRPr lang="en-US" sz="1500"/>
          </a:p>
        </p:txBody>
      </p:sp>
      <p:pic>
        <p:nvPicPr>
          <p:cNvPr id="1955084236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400800" y="1808559"/>
            <a:ext cx="5038725" cy="516136"/>
          </a:xfrm>
          <a:prstGeom prst="rect">
            <a:avLst/>
          </a:prstGeom>
        </p:spPr>
      </p:pic>
      <p:sp>
        <p:nvSpPr>
          <p:cNvPr id="1835174767" name="Text 7"/>
          <p:cNvSpPr txBox="1"/>
          <p:nvPr/>
        </p:nvSpPr>
        <p:spPr bwMode="auto">
          <a:xfrm>
            <a:off x="6524625" y="1922859"/>
            <a:ext cx="4791075" cy="2970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  <a:defRPr/>
            </a:pPr>
            <a:r>
              <a:rPr lang="en-US" sz="850">
                <a:solidFill>
                  <a:srgbClr val="EAEEF2"/>
                </a:solidFill>
                <a:latin typeface="Inter"/>
                <a:ea typeface="Inter"/>
                <a:cs typeface="Inter"/>
              </a:rPr>
              <a:t>g.correlation_id = request.headers.get("X-Correlation-ID", uuid4())</a:t>
            </a:r>
            <a:endParaRPr lang="en-US" sz="850"/>
          </a:p>
          <a:p>
            <a:pPr marL="0" indent="0" algn="l">
              <a:lnSpc>
                <a:spcPts val="1208"/>
              </a:lnSpc>
              <a:buNone/>
              <a:defRPr/>
            </a:pPr>
            <a:r>
              <a:rPr lang="en-US" sz="850">
                <a:solidFill>
                  <a:srgbClr val="EAEEF2"/>
                </a:solidFill>
                <a:latin typeface="Inter"/>
                <a:ea typeface="Inter"/>
                <a:cs typeface="Inter"/>
              </a:rPr>
              <a:t>g.start_time = time()</a:t>
            </a:r>
            <a:endParaRPr lang="en-US" sz="850"/>
          </a:p>
        </p:txBody>
      </p:sp>
      <p:sp>
        <p:nvSpPr>
          <p:cNvPr id="1926333551" name="Text 8"/>
          <p:cNvSpPr txBox="1"/>
          <p:nvPr/>
        </p:nvSpPr>
        <p:spPr bwMode="auto">
          <a:xfrm>
            <a:off x="6400800" y="2429470"/>
            <a:ext cx="5038725" cy="36314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EDF2">
                    <a:alpha val="80000"/>
                  </a:srgbClr>
                </a:solidFill>
                <a:latin typeface="Inter"/>
                <a:ea typeface="Inter"/>
                <a:cs typeface="Inter"/>
              </a:rPr>
              <a:t> Every log line carries same ID → </a:t>
            </a:r>
            <a:r>
              <a:rPr lang="en-US" sz="1000">
                <a:solidFill>
                  <a:srgbClr val="38BDF8"/>
                </a:solidFill>
                <a:latin typeface="Inter"/>
                <a:ea typeface="Inter"/>
                <a:cs typeface="Inter"/>
              </a:rPr>
              <a:t>filter correlation_id="demo-123"</a:t>
            </a:r>
            <a:r>
              <a:rPr lang="en-US" sz="1000">
                <a:solidFill>
                  <a:srgbClr val="EAEDF2">
                    <a:alpha val="80000"/>
                  </a:srgbClr>
                </a:solidFill>
                <a:latin typeface="Inter"/>
                <a:ea typeface="Inter"/>
                <a:cs typeface="Inter"/>
              </a:rPr>
              <a:t> finds full flow.</a:t>
            </a:r>
            <a:endParaRPr lang="en-US" sz="1000"/>
          </a:p>
        </p:txBody>
      </p:sp>
      <p:pic>
        <p:nvPicPr>
          <p:cNvPr id="769324132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33400" y="3750915"/>
            <a:ext cx="5476875" cy="2649885"/>
          </a:xfrm>
          <a:prstGeom prst="rect">
            <a:avLst/>
          </a:prstGeom>
        </p:spPr>
      </p:pic>
      <p:sp>
        <p:nvSpPr>
          <p:cNvPr id="1156356201" name="Text 9"/>
          <p:cNvSpPr txBox="1"/>
          <p:nvPr/>
        </p:nvSpPr>
        <p:spPr bwMode="auto">
          <a:xfrm>
            <a:off x="752475" y="3950940"/>
            <a:ext cx="5038725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  <a:defRPr/>
            </a:pPr>
            <a:r>
              <a:rPr lang="en-US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CUSTOM METRICS</a:t>
            </a:r>
            <a:endParaRPr lang="en-US" sz="850"/>
          </a:p>
        </p:txBody>
      </p:sp>
      <p:sp>
        <p:nvSpPr>
          <p:cNvPr id="674644866" name="Text 10"/>
          <p:cNvSpPr txBox="1"/>
          <p:nvPr/>
        </p:nvSpPr>
        <p:spPr bwMode="auto">
          <a:xfrm>
            <a:off x="752475" y="4171801"/>
            <a:ext cx="503872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en-US" sz="1500" b="1" spc="-22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boto3 put_metric_data • Namespace Proj2/MyApp</a:t>
            </a:r>
            <a:endParaRPr lang="en-US" sz="1500"/>
          </a:p>
        </p:txBody>
      </p:sp>
      <p:pic>
        <p:nvPicPr>
          <p:cNvPr id="156902746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752475" y="4476601"/>
            <a:ext cx="5038725" cy="669429"/>
          </a:xfrm>
          <a:prstGeom prst="rect">
            <a:avLst/>
          </a:prstGeom>
        </p:spPr>
      </p:pic>
      <p:sp>
        <p:nvSpPr>
          <p:cNvPr id="174499026" name="Text 11"/>
          <p:cNvSpPr txBox="1"/>
          <p:nvPr/>
        </p:nvSpPr>
        <p:spPr bwMode="auto">
          <a:xfrm>
            <a:off x="876299" y="4590901"/>
            <a:ext cx="4791075" cy="45035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8"/>
              </a:lnSpc>
              <a:buNone/>
              <a:defRPr/>
            </a:pPr>
            <a:r>
              <a:rPr lang="en-US" sz="850">
                <a:solidFill>
                  <a:srgbClr val="EAEEF2"/>
                </a:solidFill>
                <a:latin typeface="Inter"/>
                <a:ea typeface="Inter"/>
                <a:cs typeface="Inter"/>
              </a:rPr>
              <a:t>cloudwatch.put_metric_data(</a:t>
            </a:r>
            <a:endParaRPr lang="en-US" sz="850"/>
          </a:p>
          <a:p>
            <a:pPr marL="0" indent="0" algn="l">
              <a:lnSpc>
                <a:spcPts val="1208"/>
              </a:lnSpc>
              <a:buNone/>
              <a:defRPr/>
            </a:pPr>
            <a:r>
              <a:rPr lang="en-US" sz="850">
                <a:solidFill>
                  <a:srgbClr val="EAEEF2"/>
                </a:solidFill>
                <a:latin typeface="Inter"/>
                <a:ea typeface="Inter"/>
                <a:cs typeface="Inter"/>
              </a:rPr>
              <a:t> Namespace="Proj2/MyApp",</a:t>
            </a:r>
            <a:endParaRPr lang="en-US" sz="850"/>
          </a:p>
          <a:p>
            <a:pPr marL="0" indent="0" algn="l">
              <a:lnSpc>
                <a:spcPts val="1208"/>
              </a:lnSpc>
              <a:buNone/>
              <a:defRPr/>
            </a:pPr>
            <a:r>
              <a:rPr lang="en-US" sz="850">
                <a:solidFill>
                  <a:srgbClr val="EAEEF2"/>
                </a:solidFill>
                <a:latin typeface="Inter"/>
                <a:ea typeface="Inter"/>
                <a:cs typeface="Inter"/>
              </a:rPr>
              <a:t> MetricData=[{Name: "request_count", Value:1, Timestamp:utcnow()}])</a:t>
            </a:r>
            <a:endParaRPr lang="en-US" sz="850"/>
          </a:p>
        </p:txBody>
      </p:sp>
      <p:sp>
        <p:nvSpPr>
          <p:cNvPr id="885986278" name="Text 12"/>
          <p:cNvSpPr txBox="1"/>
          <p:nvPr/>
        </p:nvSpPr>
        <p:spPr bwMode="auto">
          <a:xfrm>
            <a:off x="752475" y="5250805"/>
            <a:ext cx="5038725" cy="36314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AEDF2">
                    <a:alpha val="80000"/>
                  </a:srgbClr>
                </a:solidFill>
                <a:latin typeface="Inter"/>
                <a:ea typeface="Inter"/>
                <a:cs typeface="Inter"/>
              </a:rPr>
              <a:t>5 signals in after_request + business hook. </a:t>
            </a:r>
            <a:endParaRPr lang="en-US" sz="1000"/>
          </a:p>
        </p:txBody>
      </p:sp>
      <p:pic>
        <p:nvPicPr>
          <p:cNvPr id="2143760685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181725" y="3750915"/>
            <a:ext cx="5476875" cy="2649885"/>
          </a:xfrm>
          <a:prstGeom prst="rect">
            <a:avLst/>
          </a:prstGeom>
        </p:spPr>
      </p:pic>
      <p:sp>
        <p:nvSpPr>
          <p:cNvPr id="2010976889" name="Text 13"/>
          <p:cNvSpPr txBox="1"/>
          <p:nvPr/>
        </p:nvSpPr>
        <p:spPr bwMode="auto">
          <a:xfrm>
            <a:off x="6400800" y="3950939"/>
            <a:ext cx="906727" cy="13101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  <a:defRPr/>
            </a:pPr>
            <a:r>
              <a:rPr lang="de-DE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ERROR LEVEL</a:t>
            </a:r>
            <a:endParaRPr lang="en-US" sz="850"/>
          </a:p>
        </p:txBody>
      </p:sp>
      <p:sp>
        <p:nvSpPr>
          <p:cNvPr id="940956984" name="Text 14"/>
          <p:cNvSpPr txBox="1"/>
          <p:nvPr/>
        </p:nvSpPr>
        <p:spPr bwMode="auto">
          <a:xfrm>
            <a:off x="6400800" y="4171800"/>
            <a:ext cx="1372105" cy="2192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  <a:defRPr/>
            </a:pPr>
            <a:r>
              <a:rPr lang="de-DE" sz="1500" b="1" spc="-22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3 levels of error</a:t>
            </a:r>
            <a:endParaRPr lang="en-US" sz="1500"/>
          </a:p>
        </p:txBody>
      </p:sp>
      <p:sp>
        <p:nvSpPr>
          <p:cNvPr id="447884114" name="Text 15"/>
          <p:cNvSpPr txBox="1"/>
          <p:nvPr/>
        </p:nvSpPr>
        <p:spPr bwMode="auto">
          <a:xfrm>
            <a:off x="6400800" y="4486126"/>
            <a:ext cx="5038725" cy="5494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de-DE" sz="1000">
                <a:solidFill>
                  <a:srgbClr val="EAEDF2">
                    <a:alpha val="80000"/>
                  </a:srgbClr>
                </a:solidFill>
                <a:latin typeface="Inter"/>
                <a:ea typeface="Inter"/>
                <a:cs typeface="Inter"/>
              </a:rPr>
              <a:t>WARN-ERROR-INFO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07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61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67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4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27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22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89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75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08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1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33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32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35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64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0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98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76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97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95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88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1816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556361" name="Text 0"/>
          <p:cNvSpPr txBox="1"/>
          <p:nvPr/>
        </p:nvSpPr>
        <p:spPr bwMode="auto">
          <a:xfrm>
            <a:off x="533400" y="419100"/>
            <a:ext cx="11125200" cy="4256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>
              <a:buNone/>
              <a:defRPr/>
            </a:pPr>
            <a:r>
              <a:rPr lang="en-US" sz="3450" b="1" spc="-69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RED / USE Analysis </a:t>
            </a:r>
            <a:r>
              <a:rPr lang="en-US" sz="3450" b="1" spc="-69">
                <a:solidFill>
                  <a:srgbClr val="67F4E2"/>
                </a:solidFill>
                <a:latin typeface="Inter"/>
                <a:ea typeface="Inter"/>
                <a:cs typeface="Inter"/>
              </a:rPr>
              <a:t>— how we triaged</a:t>
            </a:r>
            <a:endParaRPr lang="en-US" sz="3450"/>
          </a:p>
        </p:txBody>
      </p:sp>
      <p:pic>
        <p:nvPicPr>
          <p:cNvPr id="13108766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37768" y="978097"/>
            <a:ext cx="5972175" cy="5460802"/>
          </a:xfrm>
          <a:prstGeom prst="rect">
            <a:avLst/>
          </a:prstGeom>
        </p:spPr>
      </p:pic>
      <p:sp>
        <p:nvSpPr>
          <p:cNvPr id="1686558748" name="Text 1"/>
          <p:cNvSpPr txBox="1"/>
          <p:nvPr/>
        </p:nvSpPr>
        <p:spPr bwMode="auto">
          <a:xfrm>
            <a:off x="7303790" y="1120972"/>
            <a:ext cx="1253728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 spc="90">
                <a:solidFill>
                  <a:srgbClr val="EAEEF2">
                    <a:alpha val="75000"/>
                  </a:srgbClr>
                </a:solidFill>
                <a:latin typeface="Inter"/>
                <a:ea typeface="Inter"/>
                <a:cs typeface="Inter"/>
              </a:rPr>
              <a:t>DASHBOARD MAPPING</a:t>
            </a:r>
            <a:endParaRPr lang="en-US" sz="750"/>
          </a:p>
        </p:txBody>
      </p:sp>
      <p:pic>
        <p:nvPicPr>
          <p:cNvPr id="1963738726" name="Image 2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671192" y="1809599"/>
            <a:ext cx="4886325" cy="1198513"/>
          </a:xfrm>
          <a:prstGeom prst="rect">
            <a:avLst/>
          </a:prstGeom>
        </p:spPr>
      </p:pic>
      <p:sp>
        <p:nvSpPr>
          <p:cNvPr id="1081529949" name="Text 2"/>
          <p:cNvSpPr txBox="1"/>
          <p:nvPr/>
        </p:nvSpPr>
        <p:spPr bwMode="auto">
          <a:xfrm>
            <a:off x="3852167" y="1971524"/>
            <a:ext cx="4524375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600"/>
              </a:spcAft>
              <a:buNone/>
              <a:defRPr/>
            </a:pPr>
            <a:r>
              <a:rPr lang="en-US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RED — SERVICE VIEW</a:t>
            </a:r>
            <a:endParaRPr lang="en-US" sz="850"/>
          </a:p>
        </p:txBody>
      </p:sp>
      <p:sp>
        <p:nvSpPr>
          <p:cNvPr id="1762103586" name="Text 3"/>
          <p:cNvSpPr txBox="1"/>
          <p:nvPr/>
        </p:nvSpPr>
        <p:spPr bwMode="auto">
          <a:xfrm>
            <a:off x="3852167" y="2173335"/>
            <a:ext cx="838200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  <a:defRPr/>
            </a:pPr>
            <a:r>
              <a:rPr lang="en-US" sz="10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Rate</a:t>
            </a:r>
            <a:endParaRPr lang="en-US" sz="1000"/>
          </a:p>
        </p:txBody>
      </p:sp>
      <p:sp>
        <p:nvSpPr>
          <p:cNvPr id="1830365342" name="Text 4"/>
          <p:cNvSpPr txBox="1"/>
          <p:nvPr/>
        </p:nvSpPr>
        <p:spPr bwMode="auto">
          <a:xfrm>
            <a:off x="4747518" y="2173335"/>
            <a:ext cx="3629025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  <a:defRPr/>
            </a:pPr>
            <a:r>
              <a:rPr lang="en-US" sz="850">
                <a:solidFill>
                  <a:srgbClr val="EAEEF3">
                    <a:alpha val="72000"/>
                  </a:srgbClr>
                </a:solidFill>
                <a:latin typeface="JetBrains Mono"/>
                <a:ea typeface="JetBrains Mono"/>
                <a:cs typeface="JetBrains Mono"/>
              </a:rPr>
              <a:t>request_count Sum • Traffic timeSeries</a:t>
            </a:r>
            <a:endParaRPr lang="en-US" sz="850"/>
          </a:p>
        </p:txBody>
      </p:sp>
      <p:sp>
        <p:nvSpPr>
          <p:cNvPr id="1437384791" name="Text 5"/>
          <p:cNvSpPr txBox="1"/>
          <p:nvPr/>
        </p:nvSpPr>
        <p:spPr bwMode="auto">
          <a:xfrm>
            <a:off x="3852167" y="2397619"/>
            <a:ext cx="838200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  <a:defRPr/>
            </a:pPr>
            <a:r>
              <a:rPr lang="en-US" sz="10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Errors</a:t>
            </a:r>
            <a:endParaRPr lang="en-US" sz="1000"/>
          </a:p>
        </p:txBody>
      </p:sp>
      <p:sp>
        <p:nvSpPr>
          <p:cNvPr id="571177989" name="Text 6"/>
          <p:cNvSpPr txBox="1"/>
          <p:nvPr/>
        </p:nvSpPr>
        <p:spPr bwMode="auto">
          <a:xfrm>
            <a:off x="4747518" y="2397619"/>
            <a:ext cx="3629025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  <a:defRPr/>
            </a:pPr>
            <a:r>
              <a:rPr lang="en-US" sz="850">
                <a:solidFill>
                  <a:srgbClr val="EAEEF3">
                    <a:alpha val="72000"/>
                  </a:srgbClr>
                </a:solidFill>
                <a:latin typeface="JetBrains Mono"/>
                <a:ea typeface="JetBrains Mono"/>
                <a:cs typeface="JetBrains Mono"/>
              </a:rPr>
              <a:t>error_count Sum • red spike</a:t>
            </a:r>
            <a:endParaRPr lang="en-US" sz="850"/>
          </a:p>
        </p:txBody>
      </p:sp>
      <p:sp>
        <p:nvSpPr>
          <p:cNvPr id="875987204" name="Text 7"/>
          <p:cNvSpPr txBox="1"/>
          <p:nvPr/>
        </p:nvSpPr>
        <p:spPr bwMode="auto">
          <a:xfrm>
            <a:off x="3852167" y="2621903"/>
            <a:ext cx="838200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  <a:defRPr/>
            </a:pPr>
            <a:r>
              <a:rPr lang="en-US" sz="10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Duration</a:t>
            </a:r>
            <a:endParaRPr lang="en-US" sz="1000"/>
          </a:p>
        </p:txBody>
      </p:sp>
      <p:sp>
        <p:nvSpPr>
          <p:cNvPr id="2004627145" name="Text 8"/>
          <p:cNvSpPr txBox="1"/>
          <p:nvPr/>
        </p:nvSpPr>
        <p:spPr bwMode="auto">
          <a:xfrm>
            <a:off x="4747518" y="2621903"/>
            <a:ext cx="3629025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  <a:defRPr/>
            </a:pPr>
            <a:r>
              <a:rPr lang="en-US" sz="850">
                <a:solidFill>
                  <a:srgbClr val="EAEEF3">
                    <a:alpha val="72000"/>
                  </a:srgbClr>
                </a:solidFill>
                <a:latin typeface="JetBrains Mono"/>
                <a:ea typeface="JetBrains Mono"/>
                <a:cs typeface="JetBrains Mono"/>
              </a:rPr>
              <a:t>api_latency Avg / Max / P95</a:t>
            </a:r>
            <a:endParaRPr lang="en-US" sz="850"/>
          </a:p>
        </p:txBody>
      </p:sp>
      <p:pic>
        <p:nvPicPr>
          <p:cNvPr id="1168177822" name="Image 3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671192" y="3141462"/>
            <a:ext cx="4886325" cy="1198513"/>
          </a:xfrm>
          <a:prstGeom prst="rect">
            <a:avLst/>
          </a:prstGeom>
        </p:spPr>
      </p:pic>
      <p:sp>
        <p:nvSpPr>
          <p:cNvPr id="2139150615" name="Text 9"/>
          <p:cNvSpPr txBox="1"/>
          <p:nvPr/>
        </p:nvSpPr>
        <p:spPr bwMode="auto">
          <a:xfrm>
            <a:off x="3852167" y="3303387"/>
            <a:ext cx="4524375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600"/>
              </a:spcAft>
              <a:buNone/>
              <a:defRPr/>
            </a:pPr>
            <a:r>
              <a:rPr lang="en-US" sz="850" b="1" spc="99">
                <a:solidFill>
                  <a:srgbClr val="38BDF8"/>
                </a:solidFill>
                <a:latin typeface="Space Grotesk"/>
                <a:ea typeface="Space Grotesk"/>
                <a:cs typeface="Space Grotesk"/>
              </a:rPr>
              <a:t>USE — RESOURCE VIEW</a:t>
            </a:r>
            <a:endParaRPr lang="en-US" sz="850"/>
          </a:p>
        </p:txBody>
      </p:sp>
      <p:sp>
        <p:nvSpPr>
          <p:cNvPr id="2104935781" name="Text 10"/>
          <p:cNvSpPr txBox="1"/>
          <p:nvPr/>
        </p:nvSpPr>
        <p:spPr bwMode="auto">
          <a:xfrm>
            <a:off x="3852167" y="3505198"/>
            <a:ext cx="838200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  <a:defRPr/>
            </a:pPr>
            <a:r>
              <a:rPr lang="en-US" sz="10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Utilization</a:t>
            </a:r>
            <a:endParaRPr lang="en-US" sz="1000"/>
          </a:p>
        </p:txBody>
      </p:sp>
      <p:sp>
        <p:nvSpPr>
          <p:cNvPr id="841477213" name="Text 11"/>
          <p:cNvSpPr txBox="1"/>
          <p:nvPr/>
        </p:nvSpPr>
        <p:spPr bwMode="auto">
          <a:xfrm>
            <a:off x="4747518" y="3505198"/>
            <a:ext cx="1764563" cy="1714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  <a:defRPr/>
            </a:pPr>
            <a:r>
              <a:rPr lang="en-US" sz="850">
                <a:solidFill>
                  <a:srgbClr val="EAEEF3">
                    <a:alpha val="72000"/>
                  </a:srgbClr>
                </a:solidFill>
                <a:latin typeface="JetBrains Mono"/>
                <a:ea typeface="JetBrains Mono"/>
                <a:cs typeface="JetBrains Mono"/>
              </a:rPr>
              <a:t>CPUUtilization + mem_used% + disk </a:t>
            </a:r>
            <a:endParaRPr lang="en-US" sz="850"/>
          </a:p>
        </p:txBody>
      </p:sp>
      <p:sp>
        <p:nvSpPr>
          <p:cNvPr id="1032513146" name="Text 12"/>
          <p:cNvSpPr txBox="1"/>
          <p:nvPr/>
        </p:nvSpPr>
        <p:spPr bwMode="auto">
          <a:xfrm>
            <a:off x="3852167" y="3729483"/>
            <a:ext cx="838200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  <a:defRPr/>
            </a:pPr>
            <a:r>
              <a:rPr lang="en-US" sz="10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Saturation</a:t>
            </a:r>
            <a:endParaRPr lang="en-US" sz="1000"/>
          </a:p>
        </p:txBody>
      </p:sp>
      <p:sp>
        <p:nvSpPr>
          <p:cNvPr id="647274467" name="Text 13"/>
          <p:cNvSpPr txBox="1"/>
          <p:nvPr/>
        </p:nvSpPr>
        <p:spPr bwMode="auto">
          <a:xfrm>
            <a:off x="4747518" y="3729483"/>
            <a:ext cx="3629025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  <a:defRPr/>
            </a:pPr>
            <a:r>
              <a:rPr lang="en-US" sz="850">
                <a:solidFill>
                  <a:srgbClr val="EAEEF3">
                    <a:alpha val="72000"/>
                  </a:srgbClr>
                </a:solidFill>
                <a:latin typeface="JetBrains Mono"/>
                <a:ea typeface="JetBrains Mono"/>
                <a:cs typeface="JetBrains Mono"/>
              </a:rPr>
              <a:t>orders_per_minute • business queue</a:t>
            </a:r>
            <a:endParaRPr lang="en-US" sz="850"/>
          </a:p>
        </p:txBody>
      </p:sp>
      <p:sp>
        <p:nvSpPr>
          <p:cNvPr id="1730441812" name="Text 14"/>
          <p:cNvSpPr txBox="1"/>
          <p:nvPr/>
        </p:nvSpPr>
        <p:spPr bwMode="auto">
          <a:xfrm>
            <a:off x="3852167" y="3953766"/>
            <a:ext cx="838200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  <a:defRPr/>
            </a:pPr>
            <a:r>
              <a:rPr lang="en-US" sz="10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Errors</a:t>
            </a:r>
            <a:endParaRPr lang="en-US" sz="1000"/>
          </a:p>
        </p:txBody>
      </p:sp>
      <p:sp>
        <p:nvSpPr>
          <p:cNvPr id="431294458" name="Text 15"/>
          <p:cNvSpPr txBox="1"/>
          <p:nvPr/>
        </p:nvSpPr>
        <p:spPr bwMode="auto">
          <a:xfrm>
            <a:off x="4747518" y="3953766"/>
            <a:ext cx="3629025" cy="1671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4"/>
              </a:lnSpc>
              <a:buNone/>
              <a:defRPr/>
            </a:pPr>
            <a:r>
              <a:rPr lang="en-US" sz="850">
                <a:solidFill>
                  <a:srgbClr val="EAEEF3">
                    <a:alpha val="72000"/>
                  </a:srgbClr>
                </a:solidFill>
                <a:latin typeface="JetBrains Mono"/>
                <a:ea typeface="JetBrains Mono"/>
                <a:cs typeface="JetBrains Mono"/>
              </a:rPr>
              <a:t>same error_count • overlay correlation</a:t>
            </a:r>
            <a:endParaRPr lang="en-US" sz="850"/>
          </a:p>
        </p:txBody>
      </p:sp>
      <p:pic>
        <p:nvPicPr>
          <p:cNvPr id="599228191" name="Image 4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671192" y="4473325"/>
            <a:ext cx="4886325" cy="737146"/>
          </a:xfrm>
          <a:prstGeom prst="rect">
            <a:avLst/>
          </a:prstGeom>
        </p:spPr>
      </p:pic>
      <p:sp>
        <p:nvSpPr>
          <p:cNvPr id="1934513886" name="Text 16"/>
          <p:cNvSpPr txBox="1"/>
          <p:nvPr/>
        </p:nvSpPr>
        <p:spPr bwMode="auto">
          <a:xfrm>
            <a:off x="3814067" y="4597150"/>
            <a:ext cx="4600575" cy="48949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EAEEF2">
                    <a:alpha val="82000"/>
                  </a:srgbClr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9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Evidence:</a:t>
            </a:r>
            <a:r>
              <a:rPr lang="en-US" sz="900">
                <a:solidFill>
                  <a:srgbClr val="EAEEF2">
                    <a:alpha val="82000"/>
                  </a:srgbClr>
                </a:solidFill>
                <a:latin typeface="Inter"/>
                <a:ea typeface="Inter"/>
                <a:cs typeface="Inter"/>
              </a:rPr>
              <a:t> Injected </a:t>
            </a:r>
            <a:r>
              <a:rPr lang="en-US" sz="900">
                <a:solidFill>
                  <a:srgbClr val="EAEEF2">
                    <a:alpha val="82000"/>
                  </a:srgbClr>
                </a:solidFill>
                <a:latin typeface="monospace"/>
                <a:ea typeface="monospace"/>
                <a:cs typeface="monospace"/>
              </a:rPr>
              <a:t>/fail</a:t>
            </a:r>
            <a:r>
              <a:rPr lang="en-US" sz="900">
                <a:solidFill>
                  <a:srgbClr val="EAEEF2">
                    <a:alpha val="82000"/>
                  </a:srgbClr>
                </a:solidFill>
                <a:latin typeface="Inter"/>
                <a:ea typeface="Inter"/>
                <a:cs typeface="Inter"/>
              </a:rPr>
              <a:t> 20x → Error Rate ↑ 5+ in 60s, Latency flat 30ms, CPU 8% flat → </a:t>
            </a:r>
            <a:r>
              <a:rPr lang="en-US" sz="9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app error not infra</a:t>
            </a:r>
            <a:r>
              <a:rPr lang="en-US" sz="900">
                <a:solidFill>
                  <a:srgbClr val="EAEEF2">
                    <a:alpha val="82000"/>
                  </a:srgbClr>
                </a:solidFill>
                <a:latin typeface="Inter"/>
                <a:ea typeface="Inter"/>
                <a:cs typeface="Inter"/>
              </a:rPr>
              <a:t>. Top row = RED single value, Middle = Golden Signals, Bottom = USE, Correlation = all overlayed. 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55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73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52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10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36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8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17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98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62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17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15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93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47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51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7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44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29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22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51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816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828998" name="Text 0"/>
          <p:cNvSpPr txBox="1"/>
          <p:nvPr/>
        </p:nvSpPr>
        <p:spPr bwMode="auto">
          <a:xfrm>
            <a:off x="533400" y="495300"/>
            <a:ext cx="11125200" cy="44380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>
              <a:buNone/>
              <a:defRPr/>
            </a:pPr>
            <a:r>
              <a:rPr lang="en-US" sz="3600" b="1" spc="-72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Live Demo Plan — </a:t>
            </a:r>
            <a:r>
              <a:rPr lang="en-US" sz="3600" b="1" spc="-72">
                <a:solidFill>
                  <a:srgbClr val="67F4E2"/>
                </a:solidFill>
                <a:latin typeface="Inter"/>
                <a:ea typeface="Inter"/>
                <a:cs typeface="Inter"/>
              </a:rPr>
              <a:t>proj2-dashboard</a:t>
            </a:r>
            <a:endParaRPr lang="en-US" sz="3600"/>
          </a:p>
        </p:txBody>
      </p:sp>
      <p:pic>
        <p:nvPicPr>
          <p:cNvPr id="72220205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3400" y="2217093"/>
            <a:ext cx="3048000" cy="814983"/>
          </a:xfrm>
          <a:prstGeom prst="rect">
            <a:avLst/>
          </a:prstGeom>
        </p:spPr>
      </p:pic>
      <p:sp>
        <p:nvSpPr>
          <p:cNvPr id="2060151831" name="Text 1"/>
          <p:cNvSpPr txBox="1"/>
          <p:nvPr/>
        </p:nvSpPr>
        <p:spPr bwMode="auto">
          <a:xfrm>
            <a:off x="695325" y="2359968"/>
            <a:ext cx="272415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  <a:defRPr/>
            </a:pPr>
            <a:r>
              <a:rPr lang="en-US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DASHBOARD</a:t>
            </a:r>
            <a:endParaRPr lang="en-US" sz="850"/>
          </a:p>
        </p:txBody>
      </p:sp>
      <p:sp>
        <p:nvSpPr>
          <p:cNvPr id="259361021" name="Text 2"/>
          <p:cNvSpPr txBox="1"/>
          <p:nvPr/>
        </p:nvSpPr>
        <p:spPr bwMode="auto">
          <a:xfrm>
            <a:off x="695325" y="2552254"/>
            <a:ext cx="2724150" cy="3369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AEEF2"/>
                </a:solidFill>
                <a:latin typeface="Inter"/>
                <a:ea typeface="Inter"/>
                <a:cs typeface="Inter"/>
              </a:rPr>
              <a:t>proj2-dashboard</a:t>
            </a:r>
            <a:r>
              <a:rPr lang="en-US" sz="1000">
                <a:solidFill>
                  <a:srgbClr val="EAEDF2">
                    <a:alpha val="80000"/>
                  </a:srgbClr>
                </a:solidFill>
                <a:latin typeface="Inter"/>
                <a:ea typeface="Inter"/>
                <a:cs typeface="Inter"/>
              </a:rPr>
              <a:t> • 12 widgets • Period 60s • Region us-east-1 • Auto-refresh 60s</a:t>
            </a:r>
            <a:endParaRPr lang="en-US" sz="1000"/>
          </a:p>
        </p:txBody>
      </p:sp>
      <p:pic>
        <p:nvPicPr>
          <p:cNvPr id="322729170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33400" y="3165425"/>
            <a:ext cx="3048000" cy="988219"/>
          </a:xfrm>
          <a:prstGeom prst="rect">
            <a:avLst/>
          </a:prstGeom>
        </p:spPr>
      </p:pic>
      <p:sp>
        <p:nvSpPr>
          <p:cNvPr id="909735828" name="Text 3"/>
          <p:cNvSpPr txBox="1"/>
          <p:nvPr/>
        </p:nvSpPr>
        <p:spPr bwMode="auto">
          <a:xfrm>
            <a:off x="695325" y="3308300"/>
            <a:ext cx="272415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  <a:defRPr/>
            </a:pPr>
            <a:r>
              <a:rPr lang="en-US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QUICK STATS</a:t>
            </a:r>
            <a:endParaRPr lang="en-US" sz="850"/>
          </a:p>
        </p:txBody>
      </p:sp>
      <p:sp>
        <p:nvSpPr>
          <p:cNvPr id="1322651830" name="Text 4"/>
          <p:cNvSpPr txBox="1"/>
          <p:nvPr/>
        </p:nvSpPr>
        <p:spPr bwMode="auto">
          <a:xfrm>
            <a:off x="695325" y="3500586"/>
            <a:ext cx="2724150" cy="51018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  <a:defRPr/>
            </a:pPr>
            <a:r>
              <a:rPr lang="en-US" sz="1000">
                <a:solidFill>
                  <a:srgbClr val="EAEDF2">
                    <a:alpha val="80000"/>
                  </a:srgbClr>
                </a:solidFill>
                <a:latin typeface="Inter"/>
                <a:ea typeface="Inter"/>
                <a:cs typeface="Inter"/>
              </a:rPr>
              <a:t>SingleValue → timeSeries → correlation. All three namespaces: Proj2/MyApp + CWAgent + AWS/EC2</a:t>
            </a:r>
            <a:endParaRPr lang="en-US" sz="1000"/>
          </a:p>
        </p:txBody>
      </p:sp>
      <p:pic>
        <p:nvPicPr>
          <p:cNvPr id="1537635820" name="Image 3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886200" y="1129605"/>
            <a:ext cx="3810000" cy="2540347"/>
          </a:xfrm>
          <a:prstGeom prst="rect">
            <a:avLst/>
          </a:prstGeom>
        </p:spPr>
      </p:pic>
      <p:sp>
        <p:nvSpPr>
          <p:cNvPr id="326291245" name="Text 7"/>
          <p:cNvSpPr txBox="1"/>
          <p:nvPr/>
        </p:nvSpPr>
        <p:spPr bwMode="auto">
          <a:xfrm>
            <a:off x="3895725" y="1139130"/>
            <a:ext cx="3790949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  <a:defRPr/>
            </a:pPr>
            <a:endParaRPr lang="en-US" sz="1350"/>
          </a:p>
        </p:txBody>
      </p:sp>
      <p:sp>
        <p:nvSpPr>
          <p:cNvPr id="1188700022" name="Text 8"/>
          <p:cNvSpPr txBox="1"/>
          <p:nvPr/>
        </p:nvSpPr>
        <p:spPr bwMode="auto">
          <a:xfrm>
            <a:off x="4067175" y="1320105"/>
            <a:ext cx="344805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  <a:defRPr/>
            </a:pPr>
            <a:r>
              <a:rPr lang="en-US" sz="900" b="1" spc="125">
                <a:solidFill>
                  <a:srgbClr val="67F4E2"/>
                </a:solidFill>
                <a:latin typeface="Inter"/>
                <a:ea typeface="Inter"/>
                <a:cs typeface="Inter"/>
              </a:rPr>
              <a:t>01 — TOP ROW</a:t>
            </a:r>
            <a:endParaRPr lang="en-US" sz="900"/>
          </a:p>
        </p:txBody>
      </p:sp>
      <p:sp>
        <p:nvSpPr>
          <p:cNvPr id="1847175230" name="Text 9"/>
          <p:cNvSpPr txBox="1"/>
          <p:nvPr/>
        </p:nvSpPr>
        <p:spPr bwMode="auto">
          <a:xfrm>
            <a:off x="4067175" y="1577280"/>
            <a:ext cx="3448050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spcAft>
                <a:spcPts val="600"/>
              </a:spcAft>
              <a:buNone/>
              <a:defRPr/>
            </a:pPr>
            <a:r>
              <a:rPr lang="en-US" sz="1150" b="1" spc="-17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SingleValue at a glance</a:t>
            </a:r>
            <a:endParaRPr lang="en-US" sz="1150"/>
          </a:p>
        </p:txBody>
      </p:sp>
      <p:sp>
        <p:nvSpPr>
          <p:cNvPr id="879386423" name="Text 10"/>
          <p:cNvSpPr txBox="1"/>
          <p:nvPr/>
        </p:nvSpPr>
        <p:spPr bwMode="auto">
          <a:xfrm>
            <a:off x="4067175" y="1827312"/>
            <a:ext cx="3448050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5"/>
              </a:lnSpc>
              <a:buNone/>
              <a:defRPr/>
            </a:pPr>
            <a:r>
              <a:rPr lang="en-US" sz="1000">
                <a:solidFill>
                  <a:srgbClr val="EAEEF2">
                    <a:alpha val="70000"/>
                  </a:srgbClr>
                </a:solidFill>
                <a:latin typeface="Inter"/>
                <a:ea typeface="Inter"/>
                <a:cs typeface="Inter"/>
              </a:rPr>
              <a:t>Current rate for decision in 3 seconds</a:t>
            </a:r>
            <a:endParaRPr lang="en-US" sz="1000"/>
          </a:p>
        </p:txBody>
      </p:sp>
      <p:pic>
        <p:nvPicPr>
          <p:cNvPr id="872096436" name="Image 4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067175" y="2067223"/>
            <a:ext cx="1039267" cy="238125"/>
          </a:xfrm>
          <a:prstGeom prst="rect">
            <a:avLst/>
          </a:prstGeom>
        </p:spPr>
      </p:pic>
      <p:sp>
        <p:nvSpPr>
          <p:cNvPr id="1266754298" name="Text 11"/>
          <p:cNvSpPr txBox="1"/>
          <p:nvPr/>
        </p:nvSpPr>
        <p:spPr bwMode="auto">
          <a:xfrm>
            <a:off x="4152900" y="2124373"/>
            <a:ext cx="86781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request_count Sum</a:t>
            </a:r>
            <a:endParaRPr lang="en-US" sz="750"/>
          </a:p>
        </p:txBody>
      </p:sp>
      <p:pic>
        <p:nvPicPr>
          <p:cNvPr id="1838732876" name="Image 5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163592" y="2067223"/>
            <a:ext cx="917972" cy="238125"/>
          </a:xfrm>
          <a:prstGeom prst="rect">
            <a:avLst/>
          </a:prstGeom>
        </p:spPr>
      </p:pic>
      <p:sp>
        <p:nvSpPr>
          <p:cNvPr id="1138271911" name="Text 12"/>
          <p:cNvSpPr txBox="1"/>
          <p:nvPr/>
        </p:nvSpPr>
        <p:spPr bwMode="auto">
          <a:xfrm>
            <a:off x="5249317" y="2124373"/>
            <a:ext cx="74652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error_count Sum</a:t>
            </a:r>
            <a:endParaRPr lang="en-US" sz="750"/>
          </a:p>
        </p:txBody>
      </p:sp>
      <p:pic>
        <p:nvPicPr>
          <p:cNvPr id="812012061" name="Image 6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138714" y="2067223"/>
            <a:ext cx="873919" cy="238125"/>
          </a:xfrm>
          <a:prstGeom prst="rect">
            <a:avLst/>
          </a:prstGeom>
        </p:spPr>
      </p:pic>
      <p:sp>
        <p:nvSpPr>
          <p:cNvPr id="1129670054" name="Text 13"/>
          <p:cNvSpPr txBox="1"/>
          <p:nvPr/>
        </p:nvSpPr>
        <p:spPr bwMode="auto">
          <a:xfrm>
            <a:off x="6224439" y="2124373"/>
            <a:ext cx="70246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api_latency Avg</a:t>
            </a:r>
            <a:endParaRPr lang="en-US" sz="750"/>
          </a:p>
        </p:txBody>
      </p:sp>
      <p:pic>
        <p:nvPicPr>
          <p:cNvPr id="1311931975" name="Image 7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4067175" y="2362497"/>
            <a:ext cx="887611" cy="238125"/>
          </a:xfrm>
          <a:prstGeom prst="rect">
            <a:avLst/>
          </a:prstGeom>
        </p:spPr>
      </p:pic>
      <p:sp>
        <p:nvSpPr>
          <p:cNvPr id="1598413620" name="Text 14"/>
          <p:cNvSpPr txBox="1"/>
          <p:nvPr/>
        </p:nvSpPr>
        <p:spPr bwMode="auto">
          <a:xfrm>
            <a:off x="4152900" y="2419648"/>
            <a:ext cx="71616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orders/min Sum</a:t>
            </a:r>
            <a:endParaRPr lang="en-US" sz="750"/>
          </a:p>
        </p:txBody>
      </p:sp>
      <p:pic>
        <p:nvPicPr>
          <p:cNvPr id="1795960800" name="Image 8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7848600" y="1129605"/>
            <a:ext cx="3810000" cy="2540347"/>
          </a:xfrm>
          <a:prstGeom prst="rect">
            <a:avLst/>
          </a:prstGeom>
        </p:spPr>
      </p:pic>
      <p:sp>
        <p:nvSpPr>
          <p:cNvPr id="1326138546" name="Text 15"/>
          <p:cNvSpPr txBox="1"/>
          <p:nvPr/>
        </p:nvSpPr>
        <p:spPr bwMode="auto">
          <a:xfrm>
            <a:off x="7858125" y="1139130"/>
            <a:ext cx="3790949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  <a:defRPr/>
            </a:pPr>
            <a:endParaRPr lang="en-US" sz="1350"/>
          </a:p>
        </p:txBody>
      </p:sp>
      <p:sp>
        <p:nvSpPr>
          <p:cNvPr id="2086481451" name="Text 16"/>
          <p:cNvSpPr txBox="1"/>
          <p:nvPr/>
        </p:nvSpPr>
        <p:spPr bwMode="auto">
          <a:xfrm>
            <a:off x="8029575" y="1320105"/>
            <a:ext cx="344805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  <a:defRPr/>
            </a:pPr>
            <a:r>
              <a:rPr lang="en-US" sz="900" b="1" spc="125">
                <a:solidFill>
                  <a:srgbClr val="67F4E2"/>
                </a:solidFill>
                <a:latin typeface="Inter"/>
                <a:ea typeface="Inter"/>
                <a:cs typeface="Inter"/>
              </a:rPr>
              <a:t>02 — MIDDLE</a:t>
            </a:r>
            <a:endParaRPr lang="en-US" sz="900"/>
          </a:p>
        </p:txBody>
      </p:sp>
      <p:sp>
        <p:nvSpPr>
          <p:cNvPr id="1579303790" name="Text 17"/>
          <p:cNvSpPr txBox="1"/>
          <p:nvPr/>
        </p:nvSpPr>
        <p:spPr bwMode="auto">
          <a:xfrm>
            <a:off x="8029575" y="1577280"/>
            <a:ext cx="3448050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spcAft>
                <a:spcPts val="600"/>
              </a:spcAft>
              <a:buNone/>
              <a:defRPr/>
            </a:pPr>
            <a:r>
              <a:rPr lang="en-US" sz="1150" b="1" spc="-17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Golden Signals</a:t>
            </a:r>
            <a:endParaRPr lang="en-US" sz="1150"/>
          </a:p>
        </p:txBody>
      </p:sp>
      <p:sp>
        <p:nvSpPr>
          <p:cNvPr id="1911717343" name="Text 18"/>
          <p:cNvSpPr txBox="1"/>
          <p:nvPr/>
        </p:nvSpPr>
        <p:spPr bwMode="auto">
          <a:xfrm>
            <a:off x="8029575" y="1827312"/>
            <a:ext cx="3448050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5"/>
              </a:lnSpc>
              <a:buNone/>
              <a:defRPr/>
            </a:pPr>
            <a:r>
              <a:rPr lang="en-US" sz="1000">
                <a:solidFill>
                  <a:srgbClr val="EAEEF2">
                    <a:alpha val="70000"/>
                  </a:srgbClr>
                </a:solidFill>
                <a:latin typeface="Inter"/>
                <a:ea typeface="Inter"/>
                <a:cs typeface="Inter"/>
              </a:rPr>
              <a:t>RED mapping: traffic, errors, duration, saturation</a:t>
            </a:r>
            <a:endParaRPr lang="en-US" sz="1000"/>
          </a:p>
        </p:txBody>
      </p:sp>
      <p:pic>
        <p:nvPicPr>
          <p:cNvPr id="539185479" name="Image 9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8029575" y="2067223"/>
            <a:ext cx="1128117" cy="238125"/>
          </a:xfrm>
          <a:prstGeom prst="rect">
            <a:avLst/>
          </a:prstGeom>
        </p:spPr>
      </p:pic>
      <p:sp>
        <p:nvSpPr>
          <p:cNvPr id="630275023" name="Text 19"/>
          <p:cNvSpPr txBox="1"/>
          <p:nvPr/>
        </p:nvSpPr>
        <p:spPr bwMode="auto">
          <a:xfrm>
            <a:off x="8115300" y="2124373"/>
            <a:ext cx="95666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Traffic request_count</a:t>
            </a:r>
            <a:endParaRPr lang="en-US" sz="750"/>
          </a:p>
        </p:txBody>
      </p:sp>
      <p:pic>
        <p:nvPicPr>
          <p:cNvPr id="1028804030" name="Image 10" descr="preencoded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9214842" y="2067223"/>
            <a:ext cx="989260" cy="238125"/>
          </a:xfrm>
          <a:prstGeom prst="rect">
            <a:avLst/>
          </a:prstGeom>
        </p:spPr>
      </p:pic>
      <p:sp>
        <p:nvSpPr>
          <p:cNvPr id="1791265099" name="Text 20"/>
          <p:cNvSpPr txBox="1"/>
          <p:nvPr/>
        </p:nvSpPr>
        <p:spPr bwMode="auto">
          <a:xfrm>
            <a:off x="9300567" y="2124373"/>
            <a:ext cx="81781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Errors error_count</a:t>
            </a:r>
            <a:endParaRPr lang="en-US" sz="750"/>
          </a:p>
        </p:txBody>
      </p:sp>
      <p:pic>
        <p:nvPicPr>
          <p:cNvPr id="70803997" name="Image 11" descr="preencoded.png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10261253" y="2067223"/>
            <a:ext cx="948928" cy="238125"/>
          </a:xfrm>
          <a:prstGeom prst="rect">
            <a:avLst/>
          </a:prstGeom>
        </p:spPr>
      </p:pic>
      <p:sp>
        <p:nvSpPr>
          <p:cNvPr id="935560368" name="Text 21"/>
          <p:cNvSpPr txBox="1"/>
          <p:nvPr/>
        </p:nvSpPr>
        <p:spPr bwMode="auto">
          <a:xfrm>
            <a:off x="10346978" y="2124373"/>
            <a:ext cx="77747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Latency Avg/Max</a:t>
            </a:r>
            <a:endParaRPr lang="en-US" sz="750"/>
          </a:p>
        </p:txBody>
      </p:sp>
      <p:pic>
        <p:nvPicPr>
          <p:cNvPr id="1476764634" name="Image 12" descr="preencoded.png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8029575" y="2362497"/>
            <a:ext cx="796528" cy="238125"/>
          </a:xfrm>
          <a:prstGeom prst="rect">
            <a:avLst/>
          </a:prstGeom>
        </p:spPr>
      </p:pic>
      <p:sp>
        <p:nvSpPr>
          <p:cNvPr id="1382322585" name="Text 22"/>
          <p:cNvSpPr txBox="1"/>
          <p:nvPr/>
        </p:nvSpPr>
        <p:spPr bwMode="auto">
          <a:xfrm>
            <a:off x="8115300" y="2419648"/>
            <a:ext cx="62507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CPU + Orders</a:t>
            </a:r>
            <a:endParaRPr lang="en-US" sz="750"/>
          </a:p>
        </p:txBody>
      </p:sp>
      <p:pic>
        <p:nvPicPr>
          <p:cNvPr id="267915015" name="Image 13" descr="preencoded.png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3886200" y="3822353"/>
            <a:ext cx="3810000" cy="2540347"/>
          </a:xfrm>
          <a:prstGeom prst="rect">
            <a:avLst/>
          </a:prstGeom>
        </p:spPr>
      </p:pic>
      <p:sp>
        <p:nvSpPr>
          <p:cNvPr id="1769489423" name="Text 23"/>
          <p:cNvSpPr txBox="1"/>
          <p:nvPr/>
        </p:nvSpPr>
        <p:spPr bwMode="auto">
          <a:xfrm>
            <a:off x="3895725" y="3831878"/>
            <a:ext cx="3790949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  <a:defRPr/>
            </a:pPr>
            <a:endParaRPr lang="en-US" sz="1350"/>
          </a:p>
        </p:txBody>
      </p:sp>
      <p:sp>
        <p:nvSpPr>
          <p:cNvPr id="1442168271" name="Text 24"/>
          <p:cNvSpPr txBox="1"/>
          <p:nvPr/>
        </p:nvSpPr>
        <p:spPr bwMode="auto">
          <a:xfrm>
            <a:off x="4067175" y="4012853"/>
            <a:ext cx="344805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  <a:defRPr/>
            </a:pPr>
            <a:r>
              <a:rPr lang="en-US" sz="900" b="1" spc="125">
                <a:solidFill>
                  <a:srgbClr val="67F4E2"/>
                </a:solidFill>
                <a:latin typeface="Inter"/>
                <a:ea typeface="Inter"/>
                <a:cs typeface="Inter"/>
              </a:rPr>
              <a:t>03 — BOTTOM</a:t>
            </a:r>
            <a:endParaRPr lang="en-US" sz="900"/>
          </a:p>
        </p:txBody>
      </p:sp>
      <p:sp>
        <p:nvSpPr>
          <p:cNvPr id="289596808" name="Text 25"/>
          <p:cNvSpPr txBox="1"/>
          <p:nvPr/>
        </p:nvSpPr>
        <p:spPr bwMode="auto">
          <a:xfrm>
            <a:off x="4067175" y="4270028"/>
            <a:ext cx="3448050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spcAft>
                <a:spcPts val="600"/>
              </a:spcAft>
              <a:buNone/>
              <a:defRPr/>
            </a:pPr>
            <a:r>
              <a:rPr lang="en-US" sz="1150" b="1" spc="-17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EC2 USE Resources</a:t>
            </a:r>
            <a:endParaRPr lang="en-US" sz="1150"/>
          </a:p>
        </p:txBody>
      </p:sp>
      <p:sp>
        <p:nvSpPr>
          <p:cNvPr id="279951841" name="Text 26"/>
          <p:cNvSpPr txBox="1"/>
          <p:nvPr/>
        </p:nvSpPr>
        <p:spPr bwMode="auto">
          <a:xfrm>
            <a:off x="4067175" y="4520059"/>
            <a:ext cx="3448050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65"/>
              </a:lnSpc>
              <a:buNone/>
              <a:defRPr/>
            </a:pPr>
            <a:r>
              <a:rPr lang="en-US" sz="1000">
                <a:solidFill>
                  <a:srgbClr val="EAEEF2">
                    <a:alpha val="70000"/>
                  </a:srgbClr>
                </a:solidFill>
                <a:latin typeface="Inter"/>
                <a:ea typeface="Inter"/>
                <a:cs typeface="Inter"/>
              </a:rPr>
              <a:t>Utilization + Saturation. Disk uses SEARCH</a:t>
            </a:r>
            <a:endParaRPr lang="en-US" sz="1000"/>
          </a:p>
        </p:txBody>
      </p:sp>
      <p:pic>
        <p:nvPicPr>
          <p:cNvPr id="1814717937" name="Image 14" descr="preencoded.png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4067175" y="4759970"/>
            <a:ext cx="817811" cy="238125"/>
          </a:xfrm>
          <a:prstGeom prst="rect">
            <a:avLst/>
          </a:prstGeom>
        </p:spPr>
      </p:pic>
      <p:sp>
        <p:nvSpPr>
          <p:cNvPr id="2030693279" name="Text 27"/>
          <p:cNvSpPr txBox="1"/>
          <p:nvPr/>
        </p:nvSpPr>
        <p:spPr bwMode="auto">
          <a:xfrm>
            <a:off x="4152900" y="4817120"/>
            <a:ext cx="64636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CPUUtilization</a:t>
            </a:r>
            <a:endParaRPr lang="en-US" sz="750"/>
          </a:p>
        </p:txBody>
      </p:sp>
      <p:pic>
        <p:nvPicPr>
          <p:cNvPr id="881220573" name="Image 15" descr="preencoded.png"/>
          <p:cNvPicPr>
            <a:picLocks noChangeAspect="1"/>
          </p:cNvPicPr>
          <p:nvPr/>
        </p:nvPicPr>
        <p:blipFill rotWithShape="1">
          <a:blip r:embed="rId17"/>
          <a:stretch/>
        </p:blipFill>
        <p:spPr bwMode="auto">
          <a:xfrm>
            <a:off x="4942135" y="4759970"/>
            <a:ext cx="1049982" cy="238125"/>
          </a:xfrm>
          <a:prstGeom prst="rect">
            <a:avLst/>
          </a:prstGeom>
        </p:spPr>
      </p:pic>
      <p:sp>
        <p:nvSpPr>
          <p:cNvPr id="721272272" name="Text 28"/>
          <p:cNvSpPr txBox="1"/>
          <p:nvPr/>
        </p:nvSpPr>
        <p:spPr bwMode="auto">
          <a:xfrm>
            <a:off x="5027861" y="4817120"/>
            <a:ext cx="87853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mem_used_percent</a:t>
            </a:r>
            <a:endParaRPr lang="en-US" sz="750"/>
          </a:p>
        </p:txBody>
      </p:sp>
      <p:pic>
        <p:nvPicPr>
          <p:cNvPr id="1115189786" name="Image 16" descr="preencoded.png"/>
          <p:cNvPicPr>
            <a:picLocks noChangeAspect="1"/>
          </p:cNvPicPr>
          <p:nvPr/>
        </p:nvPicPr>
        <p:blipFill rotWithShape="1">
          <a:blip r:embed="rId18"/>
          <a:stretch/>
        </p:blipFill>
        <p:spPr bwMode="auto">
          <a:xfrm>
            <a:off x="6049268" y="4759970"/>
            <a:ext cx="857548" cy="238125"/>
          </a:xfrm>
          <a:prstGeom prst="rect">
            <a:avLst/>
          </a:prstGeom>
        </p:spPr>
      </p:pic>
      <p:sp>
        <p:nvSpPr>
          <p:cNvPr id="1001271859" name="Text 29"/>
          <p:cNvSpPr txBox="1"/>
          <p:nvPr/>
        </p:nvSpPr>
        <p:spPr bwMode="auto">
          <a:xfrm>
            <a:off x="6134993" y="4817120"/>
            <a:ext cx="68609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Network In/Out</a:t>
            </a:r>
            <a:endParaRPr lang="en-US" sz="750"/>
          </a:p>
        </p:txBody>
      </p:sp>
      <p:pic>
        <p:nvPicPr>
          <p:cNvPr id="1737750457" name="Image 17" descr="preencoded.png"/>
          <p:cNvPicPr>
            <a:picLocks noChangeAspect="1"/>
          </p:cNvPicPr>
          <p:nvPr/>
        </p:nvPicPr>
        <p:blipFill rotWithShape="1">
          <a:blip r:embed="rId19"/>
          <a:stretch/>
        </p:blipFill>
        <p:spPr bwMode="auto">
          <a:xfrm>
            <a:off x="4067175" y="5055245"/>
            <a:ext cx="1176040" cy="238125"/>
          </a:xfrm>
          <a:prstGeom prst="rect">
            <a:avLst/>
          </a:prstGeom>
        </p:spPr>
      </p:pic>
      <p:sp>
        <p:nvSpPr>
          <p:cNvPr id="1933840840" name="Text 30"/>
          <p:cNvSpPr txBox="1"/>
          <p:nvPr/>
        </p:nvSpPr>
        <p:spPr bwMode="auto">
          <a:xfrm>
            <a:off x="4152900" y="5112395"/>
            <a:ext cx="100459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SEARCH disk% → [[ ]]</a:t>
            </a:r>
            <a:endParaRPr lang="en-US" sz="750"/>
          </a:p>
        </p:txBody>
      </p:sp>
      <p:pic>
        <p:nvPicPr>
          <p:cNvPr id="809598808" name="Image 18" descr="preencoded.png"/>
          <p:cNvPicPr>
            <a:picLocks noChangeAspect="1"/>
          </p:cNvPicPr>
          <p:nvPr/>
        </p:nvPicPr>
        <p:blipFill rotWithShape="1">
          <a:blip r:embed="rId20"/>
          <a:stretch/>
        </p:blipFill>
        <p:spPr bwMode="auto">
          <a:xfrm>
            <a:off x="7848600" y="3822353"/>
            <a:ext cx="3810000" cy="2540347"/>
          </a:xfrm>
          <a:prstGeom prst="rect">
            <a:avLst/>
          </a:prstGeom>
        </p:spPr>
      </p:pic>
      <p:sp>
        <p:nvSpPr>
          <p:cNvPr id="1545796896" name="Text 31"/>
          <p:cNvSpPr txBox="1"/>
          <p:nvPr/>
        </p:nvSpPr>
        <p:spPr bwMode="auto">
          <a:xfrm>
            <a:off x="7858125" y="3831878"/>
            <a:ext cx="3790949" cy="19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  <a:defRPr/>
            </a:pPr>
            <a:endParaRPr lang="en-US" sz="1350"/>
          </a:p>
        </p:txBody>
      </p:sp>
      <p:sp>
        <p:nvSpPr>
          <p:cNvPr id="266717566" name="Text 32"/>
          <p:cNvSpPr txBox="1"/>
          <p:nvPr/>
        </p:nvSpPr>
        <p:spPr bwMode="auto">
          <a:xfrm>
            <a:off x="8029575" y="4012853"/>
            <a:ext cx="3448050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  <a:defRPr/>
            </a:pPr>
            <a:r>
              <a:rPr lang="en-US" sz="900" b="1" spc="125">
                <a:solidFill>
                  <a:srgbClr val="67F4E2"/>
                </a:solidFill>
                <a:latin typeface="Inter"/>
                <a:ea typeface="Inter"/>
                <a:cs typeface="Inter"/>
              </a:rPr>
              <a:t>04 — CORRELATION</a:t>
            </a:r>
            <a:endParaRPr lang="en-US" sz="900"/>
          </a:p>
        </p:txBody>
      </p:sp>
      <p:sp>
        <p:nvSpPr>
          <p:cNvPr id="32347352" name="Text 33"/>
          <p:cNvSpPr txBox="1"/>
          <p:nvPr/>
        </p:nvSpPr>
        <p:spPr bwMode="auto">
          <a:xfrm>
            <a:off x="8029575" y="4270028"/>
            <a:ext cx="3448050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4"/>
              </a:lnSpc>
              <a:spcAft>
                <a:spcPts val="600"/>
              </a:spcAft>
              <a:buNone/>
              <a:defRPr/>
            </a:pPr>
            <a:r>
              <a:rPr lang="en-US" sz="1150" b="1" spc="-17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Latency vs Traffic vs Errors vs CPU</a:t>
            </a:r>
            <a:endParaRPr lang="en-US" sz="1150"/>
          </a:p>
        </p:txBody>
      </p:sp>
      <p:sp>
        <p:nvSpPr>
          <p:cNvPr id="710236542" name="Text 34"/>
          <p:cNvSpPr txBox="1"/>
          <p:nvPr/>
        </p:nvSpPr>
        <p:spPr bwMode="auto">
          <a:xfrm>
            <a:off x="8029575" y="4520059"/>
            <a:ext cx="3448050" cy="3369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  <a:defRPr/>
            </a:pPr>
            <a:r>
              <a:rPr lang="en-US" sz="1000">
                <a:solidFill>
                  <a:srgbClr val="EAEEF2">
                    <a:alpha val="70000"/>
                  </a:srgbClr>
                </a:solidFill>
                <a:latin typeface="Inter"/>
                <a:ea typeface="Inter"/>
                <a:cs typeface="Inter"/>
              </a:rPr>
              <a:t>Overlay all in one graph. When /fail injected: Error spikes, Latency flat, CPU flat → app error not infra</a:t>
            </a:r>
            <a:endParaRPr lang="en-US" sz="1000"/>
          </a:p>
        </p:txBody>
      </p:sp>
      <p:pic>
        <p:nvPicPr>
          <p:cNvPr id="1055575703" name="Image 19" descr="preencoded.png"/>
          <p:cNvPicPr>
            <a:picLocks noChangeAspect="1"/>
          </p:cNvPicPr>
          <p:nvPr/>
        </p:nvPicPr>
        <p:blipFill rotWithShape="1">
          <a:blip r:embed="rId21"/>
          <a:stretch/>
        </p:blipFill>
        <p:spPr bwMode="auto">
          <a:xfrm>
            <a:off x="8029575" y="4933206"/>
            <a:ext cx="677763" cy="238125"/>
          </a:xfrm>
          <a:prstGeom prst="rect">
            <a:avLst/>
          </a:prstGeom>
        </p:spPr>
      </p:pic>
      <p:sp>
        <p:nvSpPr>
          <p:cNvPr id="1419275361" name="Text 35"/>
          <p:cNvSpPr txBox="1"/>
          <p:nvPr/>
        </p:nvSpPr>
        <p:spPr bwMode="auto">
          <a:xfrm>
            <a:off x="8115300" y="4990356"/>
            <a:ext cx="50631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api_latency</a:t>
            </a:r>
            <a:endParaRPr lang="en-US" sz="750"/>
          </a:p>
        </p:txBody>
      </p:sp>
      <p:pic>
        <p:nvPicPr>
          <p:cNvPr id="1982808340" name="Image 20" descr="preencoded.png"/>
          <p:cNvPicPr>
            <a:picLocks noChangeAspect="1"/>
          </p:cNvPicPr>
          <p:nvPr/>
        </p:nvPicPr>
        <p:blipFill rotWithShape="1">
          <a:blip r:embed="rId22"/>
          <a:stretch/>
        </p:blipFill>
        <p:spPr bwMode="auto">
          <a:xfrm>
            <a:off x="8764488" y="4933206"/>
            <a:ext cx="811709" cy="238125"/>
          </a:xfrm>
          <a:prstGeom prst="rect">
            <a:avLst/>
          </a:prstGeom>
        </p:spPr>
      </p:pic>
      <p:sp>
        <p:nvSpPr>
          <p:cNvPr id="639219271" name="Text 36"/>
          <p:cNvSpPr txBox="1"/>
          <p:nvPr/>
        </p:nvSpPr>
        <p:spPr bwMode="auto">
          <a:xfrm>
            <a:off x="8850213" y="4990356"/>
            <a:ext cx="64025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request_count</a:t>
            </a:r>
            <a:endParaRPr lang="en-US" sz="750"/>
          </a:p>
        </p:txBody>
      </p:sp>
      <p:pic>
        <p:nvPicPr>
          <p:cNvPr id="1458293291" name="Image 21" descr="preencoded.png"/>
          <p:cNvPicPr>
            <a:picLocks noChangeAspect="1"/>
          </p:cNvPicPr>
          <p:nvPr/>
        </p:nvPicPr>
        <p:blipFill rotWithShape="1">
          <a:blip r:embed="rId23"/>
          <a:stretch/>
        </p:blipFill>
        <p:spPr bwMode="auto">
          <a:xfrm>
            <a:off x="9633347" y="4933206"/>
            <a:ext cx="690414" cy="238125"/>
          </a:xfrm>
          <a:prstGeom prst="rect">
            <a:avLst/>
          </a:prstGeom>
        </p:spPr>
      </p:pic>
      <p:sp>
        <p:nvSpPr>
          <p:cNvPr id="1040358410" name="Text 37"/>
          <p:cNvSpPr txBox="1"/>
          <p:nvPr/>
        </p:nvSpPr>
        <p:spPr bwMode="auto">
          <a:xfrm>
            <a:off x="9719072" y="4990356"/>
            <a:ext cx="51896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error_count</a:t>
            </a:r>
            <a:endParaRPr lang="en-US" sz="750"/>
          </a:p>
        </p:txBody>
      </p:sp>
      <p:pic>
        <p:nvPicPr>
          <p:cNvPr id="331435353" name="Image 22" descr="preencoded.png"/>
          <p:cNvPicPr>
            <a:picLocks noChangeAspect="1"/>
          </p:cNvPicPr>
          <p:nvPr/>
        </p:nvPicPr>
        <p:blipFill rotWithShape="1">
          <a:blip r:embed="rId24"/>
          <a:stretch/>
        </p:blipFill>
        <p:spPr bwMode="auto">
          <a:xfrm>
            <a:off x="10380911" y="4933206"/>
            <a:ext cx="493068" cy="238125"/>
          </a:xfrm>
          <a:prstGeom prst="rect">
            <a:avLst/>
          </a:prstGeom>
        </p:spPr>
      </p:pic>
      <p:sp>
        <p:nvSpPr>
          <p:cNvPr id="1061290240" name="Text 38"/>
          <p:cNvSpPr txBox="1"/>
          <p:nvPr/>
        </p:nvSpPr>
        <p:spPr bwMode="auto">
          <a:xfrm>
            <a:off x="10466636" y="4990356"/>
            <a:ext cx="32161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  <a:defRPr/>
            </a:pPr>
            <a:r>
              <a:rPr lang="en-US" sz="750">
                <a:solidFill>
                  <a:srgbClr val="EAEFF2">
                    <a:alpha val="85000"/>
                  </a:srgbClr>
                </a:solidFill>
                <a:latin typeface="Inter"/>
                <a:ea typeface="Inter"/>
                <a:cs typeface="Inter"/>
              </a:rPr>
              <a:t>CPU %</a:t>
            </a:r>
            <a:endParaRPr lang="en-US" sz="7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1816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002429" name="Text 0"/>
          <p:cNvSpPr txBox="1"/>
          <p:nvPr/>
        </p:nvSpPr>
        <p:spPr bwMode="auto">
          <a:xfrm>
            <a:off x="533400" y="457200"/>
            <a:ext cx="11125200" cy="4256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>
              <a:buNone/>
              <a:defRPr/>
            </a:pPr>
            <a:r>
              <a:rPr lang="en-US" sz="3450" b="1" spc="-69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What Would I Do </a:t>
            </a:r>
            <a:r>
              <a:rPr lang="en-US" sz="3450" b="1" spc="-69">
                <a:solidFill>
                  <a:srgbClr val="67F4E2"/>
                </a:solidFill>
                <a:latin typeface="Inter"/>
                <a:ea typeface="Inter"/>
                <a:cs typeface="Inter"/>
              </a:rPr>
              <a:t>Differently?</a:t>
            </a:r>
            <a:endParaRPr lang="en-US" sz="3450"/>
          </a:p>
        </p:txBody>
      </p:sp>
      <p:pic>
        <p:nvPicPr>
          <p:cNvPr id="8104198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3400" y="1073348"/>
            <a:ext cx="5486400" cy="2587526"/>
          </a:xfrm>
          <a:prstGeom prst="rect">
            <a:avLst/>
          </a:prstGeom>
        </p:spPr>
      </p:pic>
      <p:sp>
        <p:nvSpPr>
          <p:cNvPr id="892441824" name="Text 1"/>
          <p:cNvSpPr txBox="1"/>
          <p:nvPr/>
        </p:nvSpPr>
        <p:spPr bwMode="auto">
          <a:xfrm>
            <a:off x="752475" y="1273373"/>
            <a:ext cx="504825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  <a:defRPr/>
            </a:pPr>
            <a:r>
              <a:rPr lang="en-US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01 — INSTRUMENTATION</a:t>
            </a:r>
            <a:endParaRPr lang="en-US" sz="850"/>
          </a:p>
        </p:txBody>
      </p:sp>
      <p:sp>
        <p:nvSpPr>
          <p:cNvPr id="1408696317" name="Text 2"/>
          <p:cNvSpPr txBox="1"/>
          <p:nvPr/>
        </p:nvSpPr>
        <p:spPr bwMode="auto">
          <a:xfrm>
            <a:off x="752475" y="1494234"/>
            <a:ext cx="5048250" cy="1970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2"/>
              </a:lnSpc>
              <a:buNone/>
              <a:defRPr/>
            </a:pPr>
            <a:r>
              <a:rPr lang="en-US" sz="1350" b="1" spc="-20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Use OpenTelemetry SDK, not manual boto3 put_metric_data</a:t>
            </a:r>
            <a:endParaRPr lang="en-US" sz="1350"/>
          </a:p>
        </p:txBody>
      </p:sp>
      <p:sp>
        <p:nvSpPr>
          <p:cNvPr id="1534062045" name="Text 3"/>
          <p:cNvSpPr txBox="1"/>
          <p:nvPr/>
        </p:nvSpPr>
        <p:spPr bwMode="auto">
          <a:xfrm>
            <a:off x="752475" y="1796058"/>
            <a:ext cx="504825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4"/>
              </a:lnSpc>
              <a:buNone/>
              <a:defRPr/>
            </a:pPr>
            <a:r>
              <a:rPr lang="en-US" sz="1000">
                <a:solidFill>
                  <a:srgbClr val="EAEEF2">
                    <a:alpha val="76000"/>
                  </a:srgbClr>
                </a:solidFill>
                <a:latin typeface="Inter"/>
                <a:ea typeface="Inter"/>
                <a:cs typeface="Inter"/>
              </a:rPr>
              <a:t>Dimensions out of the box, context propagation, no try/except hand-rolled. OTEL → CloudWatch exporter keeps native but adds trace id.</a:t>
            </a:r>
            <a:endParaRPr lang="en-US" sz="1000"/>
          </a:p>
        </p:txBody>
      </p:sp>
      <p:pic>
        <p:nvPicPr>
          <p:cNvPr id="827588544" name="Image 2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172200" y="1073348"/>
            <a:ext cx="5486400" cy="2587526"/>
          </a:xfrm>
          <a:prstGeom prst="rect">
            <a:avLst/>
          </a:prstGeom>
        </p:spPr>
      </p:pic>
      <p:sp>
        <p:nvSpPr>
          <p:cNvPr id="175033739" name="Text 5"/>
          <p:cNvSpPr txBox="1"/>
          <p:nvPr/>
        </p:nvSpPr>
        <p:spPr bwMode="auto">
          <a:xfrm>
            <a:off x="6391274" y="1273372"/>
            <a:ext cx="1426582" cy="13281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  <a:defRPr/>
            </a:pPr>
            <a:r>
              <a:rPr lang="en-US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02 — </a:t>
            </a:r>
            <a:r>
              <a:rPr lang="de-DE" sz="850" b="1" spc="99">
                <a:solidFill>
                  <a:srgbClr val="67F4E2"/>
                </a:solidFill>
                <a:latin typeface="Space Grotesk"/>
                <a:ea typeface="Space Grotesk"/>
                <a:cs typeface="Space Grotesk"/>
              </a:rPr>
              <a:t>USING GRAFANA </a:t>
            </a:r>
            <a:endParaRPr lang="en-US" sz="850"/>
          </a:p>
        </p:txBody>
      </p:sp>
      <p:sp>
        <p:nvSpPr>
          <p:cNvPr id="526571442" name="Text 6"/>
          <p:cNvSpPr txBox="1"/>
          <p:nvPr/>
        </p:nvSpPr>
        <p:spPr bwMode="auto">
          <a:xfrm>
            <a:off x="6391274" y="1494234"/>
            <a:ext cx="3468853" cy="2146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2"/>
              </a:lnSpc>
              <a:buNone/>
              <a:defRPr/>
            </a:pPr>
            <a:r>
              <a:rPr lang="de-DE" sz="1350" b="1" spc="-20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Using a third-parthy opensource dashboard</a:t>
            </a:r>
            <a:endParaRPr lang="en-US" sz="1350"/>
          </a:p>
        </p:txBody>
      </p:sp>
      <p:sp>
        <p:nvSpPr>
          <p:cNvPr id="760401870" name="Text 7"/>
          <p:cNvSpPr txBox="1"/>
          <p:nvPr/>
        </p:nvSpPr>
        <p:spPr bwMode="auto">
          <a:xfrm>
            <a:off x="6391275" y="1796058"/>
            <a:ext cx="504825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4"/>
              </a:lnSpc>
              <a:buNone/>
              <a:defRPr/>
            </a:pPr>
            <a:r>
              <a:rPr lang="de-DE" sz="1000">
                <a:solidFill>
                  <a:srgbClr val="EAEEF2">
                    <a:alpha val="76000"/>
                  </a:srgbClr>
                </a:solidFill>
                <a:latin typeface="Inter"/>
                <a:ea typeface="Inter"/>
                <a:cs typeface="Inter"/>
              </a:rPr>
              <a:t>It cloud be a good practice for multi-cloud environmet with no dependency on Cloudwatch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18162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49127" name="Text 0"/>
          <p:cNvSpPr txBox="1"/>
          <p:nvPr/>
        </p:nvSpPr>
        <p:spPr bwMode="auto">
          <a:xfrm>
            <a:off x="609600" y="1148358"/>
            <a:ext cx="10972800" cy="11406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4800" b="1" spc="-95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Thank You </a:t>
            </a:r>
            <a:endParaRPr lang="en-US" sz="4800"/>
          </a:p>
          <a:p>
            <a:pPr marL="0" indent="0" algn="ctr">
              <a:buNone/>
              <a:defRPr/>
            </a:pPr>
            <a:endParaRPr lang="en-US" sz="4800" b="1" spc="-95">
              <a:solidFill>
                <a:srgbClr val="EAEEF2"/>
              </a:solidFill>
              <a:latin typeface="Space Grotesk"/>
              <a:ea typeface="Space Grotesk"/>
              <a:cs typeface="Space Grotesk"/>
            </a:endParaRPr>
          </a:p>
          <a:p>
            <a:pPr marL="0" indent="0" algn="ctr">
              <a:buNone/>
              <a:defRPr/>
            </a:pPr>
            <a:r>
              <a:rPr lang="en-US" sz="4800" b="1" spc="-95">
                <a:solidFill>
                  <a:srgbClr val="EAEEF2"/>
                </a:solidFill>
                <a:latin typeface="Space Grotesk"/>
                <a:ea typeface="Space Grotesk"/>
                <a:cs typeface="Space Grotesk"/>
              </a:rPr>
              <a:t> </a:t>
            </a:r>
            <a:r>
              <a:rPr lang="de-DE" sz="4800" b="1" spc="-95">
                <a:solidFill>
                  <a:srgbClr val="67F4E2"/>
                </a:solidFill>
                <a:latin typeface="Inter"/>
                <a:ea typeface="Inter"/>
                <a:cs typeface="Inter"/>
              </a:rPr>
              <a:t>Q&amp;A</a:t>
            </a:r>
            <a:endParaRPr lang="en-US" sz="4800"/>
          </a:p>
        </p:txBody>
      </p:sp>
      <p:sp>
        <p:nvSpPr>
          <p:cNvPr id="848734494" name="Shape 11"/>
          <p:cNvSpPr/>
          <p:nvPr/>
        </p:nvSpPr>
        <p:spPr bwMode="auto">
          <a:xfrm>
            <a:off x="1619250" y="5210175"/>
            <a:ext cx="8953500" cy="9525"/>
          </a:xfrm>
          <a:prstGeom prst="rect">
            <a:avLst/>
          </a:prstGeom>
          <a:solidFill>
            <a:srgbClr val="EBEBF5">
              <a:alpha val="10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Proj2-Observability-Deep-Dive</dc:title>
  <dc:subject>PptxGenJS Presentation</dc:subject>
  <dc:creator>PptxGenJS</dc:creator>
  <cp:lastModifiedBy/>
  <cp:revision>3</cp:revision>
  <dcterms:created xsi:type="dcterms:W3CDTF">2026-08-14T09:44:03Z</dcterms:created>
  <dcterms:modified xsi:type="dcterms:W3CDTF">2026-08-18T11:27:49Z</dcterms:modified>
</cp:coreProperties>
</file>