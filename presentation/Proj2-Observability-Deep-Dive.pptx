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png" ContentType="image/png"/>
  <Default Extension="wmf" ContentType="image/x-wmf"/>
  <Override PartName="/ppt/notesMasters/notesMaster1.xml" ContentType="application/vnd.openxmlformats-officedocument.presentationml.notesMaster+xml"/>
  <Override PartName="/ppt/presentation.xml" ContentType="application/vnd.openxmlformats-officedocument.presentationml.presentation.main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docProps/core.xml" ContentType="application/vnd.openxmlformats-package.core-propertie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11.xml" ContentType="application/vnd.openxmlformats-officedocument.presentationml.notesSlide+xml"/>
  <Override PartName="/ppt/notesSlides/notesSlide8.xml" ContentType="application/vnd.openxmlformats-officedocument.presentationml.notes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17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2192000" cy="6858000"/>
  <p:notesSz cx="6858000" cy="12192000"/>
  <p:defaultTextStyle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>
        <p:guide pos="3840"/>
        <p:guide pos="216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 /><Relationship Id="rId19" Type="http://schemas.openxmlformats.org/officeDocument/2006/relationships/tableStyles" Target="tableStyles.xml" /><Relationship Id="rId20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7403219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31416837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370350108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325580508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450412251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02891602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956929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320655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024082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509591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025277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082346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181765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32378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Test note</a:t>
            </a:r>
            <a:endParaRPr lang="en-US"/>
          </a:p>
        </p:txBody>
      </p:sp>
      <p:sp>
        <p:nvSpPr>
          <p:cNvPr id="8438881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581390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764767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198345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64C7331-0136-E50C-3B6B-53C18218AC2D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575796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213082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420749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346688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916980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364123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988478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908813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266258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221614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450374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396325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743769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172760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953050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809237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906267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865219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691802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9029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123617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15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822261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227500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17023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16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193248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27225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804011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17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68626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410241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201346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18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dt="0" ftr="0" hdr="0" sldNum="0"/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5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23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4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30.png"/><Relationship Id="rId9" Type="http://schemas.openxmlformats.org/officeDocument/2006/relationships/image" Target="../media/image31.png"/><Relationship Id="rId10" Type="http://schemas.openxmlformats.org/officeDocument/2006/relationships/image" Target="../media/image32.png"/><Relationship Id="rId11" Type="http://schemas.openxmlformats.org/officeDocument/2006/relationships/image" Target="../media/image33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mage39.png"/><Relationship Id="rId9" Type="http://schemas.openxmlformats.org/officeDocument/2006/relationships/image" Target="../media/image40.png"/><Relationship Id="rId10" Type="http://schemas.openxmlformats.org/officeDocument/2006/relationships/image" Target="../media/image41.png"/><Relationship Id="rId11" Type="http://schemas.openxmlformats.org/officeDocument/2006/relationships/image" Target="../media/image42.png"/><Relationship Id="rId12" Type="http://schemas.openxmlformats.org/officeDocument/2006/relationships/image" Target="../media/image43.png"/><Relationship Id="rId13" Type="http://schemas.openxmlformats.org/officeDocument/2006/relationships/image" Target="../media/image44.png"/><Relationship Id="rId14" Type="http://schemas.openxmlformats.org/officeDocument/2006/relationships/image" Target="../media/image45.png"/><Relationship Id="rId15" Type="http://schemas.openxmlformats.org/officeDocument/2006/relationships/image" Target="../media/image46.png"/><Relationship Id="rId16" Type="http://schemas.openxmlformats.org/officeDocument/2006/relationships/image" Target="../media/image47.png"/><Relationship Id="rId17" Type="http://schemas.openxmlformats.org/officeDocument/2006/relationships/image" Target="../media/image48.png"/><Relationship Id="rId18" Type="http://schemas.openxmlformats.org/officeDocument/2006/relationships/image" Target="../media/image49.png"/><Relationship Id="rId19" Type="http://schemas.openxmlformats.org/officeDocument/2006/relationships/image" Target="../media/image50.png"/><Relationship Id="rId20" Type="http://schemas.openxmlformats.org/officeDocument/2006/relationships/image" Target="../media/image51.png"/><Relationship Id="rId21" Type="http://schemas.openxmlformats.org/officeDocument/2006/relationships/image" Target="../media/image52.png"/><Relationship Id="rId22" Type="http://schemas.openxmlformats.org/officeDocument/2006/relationships/image" Target="../media/image53.png"/><Relationship Id="rId23" Type="http://schemas.openxmlformats.org/officeDocument/2006/relationships/image" Target="../media/image54.png"/><Relationship Id="rId24" Type="http://schemas.openxmlformats.org/officeDocument/2006/relationships/image" Target="../media/image55.png"/><Relationship Id="rId25" Type="http://schemas.openxmlformats.org/officeDocument/2006/relationships/image" Target="../media/image56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7.png"/><Relationship Id="rId4" Type="http://schemas.openxmlformats.org/officeDocument/2006/relationships/image" Target="../media/image58.png"/><Relationship Id="rId5" Type="http://schemas.openxmlformats.org/officeDocument/2006/relationships/image" Target="../media/image59.png"/><Relationship Id="rId6" Type="http://schemas.openxmlformats.org/officeDocument/2006/relationships/image" Target="../media/image60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1.png"/><Relationship Id="rId4" Type="http://schemas.openxmlformats.org/officeDocument/2006/relationships/image" Target="../media/image62.png"/><Relationship Id="rId5" Type="http://schemas.openxmlformats.org/officeDocument/2006/relationships/image" Target="../media/image63.png"/><Relationship Id="rId6" Type="http://schemas.openxmlformats.org/officeDocument/2006/relationships/image" Target="../media/image64.png"/><Relationship Id="rId7" Type="http://schemas.openxmlformats.org/officeDocument/2006/relationships/image" Target="../media/image65.png"/><Relationship Id="rId8" Type="http://schemas.openxmlformats.org/officeDocument/2006/relationships/image" Target="../media/image66.png"/><Relationship Id="rId9" Type="http://schemas.openxmlformats.org/officeDocument/2006/relationships/image" Target="../media/image67.png"/><Relationship Id="rId10" Type="http://schemas.openxmlformats.org/officeDocument/2006/relationships/image" Target="../media/image68.png"/><Relationship Id="rId11" Type="http://schemas.openxmlformats.org/officeDocument/2006/relationships/image" Target="../media/image69.png"/><Relationship Id="rId12" Type="http://schemas.openxmlformats.org/officeDocument/2006/relationships/image" Target="../media/image70.png"/><Relationship Id="rId13" Type="http://schemas.openxmlformats.org/officeDocument/2006/relationships/image" Target="../media/image71.png"/><Relationship Id="rId14" Type="http://schemas.openxmlformats.org/officeDocument/2006/relationships/image" Target="../media/image72.png"/><Relationship Id="rId15" Type="http://schemas.openxmlformats.org/officeDocument/2006/relationships/image" Target="../media/image73.png"/><Relationship Id="rId16" Type="http://schemas.openxmlformats.org/officeDocument/2006/relationships/image" Target="../media/image74.png"/><Relationship Id="rId17" Type="http://schemas.openxmlformats.org/officeDocument/2006/relationships/image" Target="../media/image75.png"/><Relationship Id="rId18" Type="http://schemas.openxmlformats.org/officeDocument/2006/relationships/image" Target="../media/image76.png"/><Relationship Id="rId19" Type="http://schemas.openxmlformats.org/officeDocument/2006/relationships/image" Target="../media/image77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8.png"/><Relationship Id="rId4" Type="http://schemas.openxmlformats.org/officeDocument/2006/relationships/image" Target="../media/image79.png"/><Relationship Id="rId5" Type="http://schemas.openxmlformats.org/officeDocument/2006/relationships/image" Target="../media/image80.png"/><Relationship Id="rId6" Type="http://schemas.openxmlformats.org/officeDocument/2006/relationships/image" Target="../media/image81.png"/><Relationship Id="rId7" Type="http://schemas.openxmlformats.org/officeDocument/2006/relationships/image" Target="../media/image82.png"/><Relationship Id="rId8" Type="http://schemas.openxmlformats.org/officeDocument/2006/relationships/image" Target="../media/image83.png"/><Relationship Id="rId9" Type="http://schemas.openxmlformats.org/officeDocument/2006/relationships/image" Target="../media/image84.png"/><Relationship Id="rId10" Type="http://schemas.openxmlformats.org/officeDocument/2006/relationships/image" Target="../media/image85.png"/><Relationship Id="rId11" Type="http://schemas.openxmlformats.org/officeDocument/2006/relationships/image" Target="../media/image86.png"/><Relationship Id="rId12" Type="http://schemas.openxmlformats.org/officeDocument/2006/relationships/image" Target="../media/image87.png"/><Relationship Id="rId13" Type="http://schemas.openxmlformats.org/officeDocument/2006/relationships/image" Target="../media/image88.png"/><Relationship Id="rId14" Type="http://schemas.openxmlformats.org/officeDocument/2006/relationships/image" Target="../media/image89.png"/><Relationship Id="rId15" Type="http://schemas.openxmlformats.org/officeDocument/2006/relationships/image" Target="../media/image90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1.png"/><Relationship Id="rId4" Type="http://schemas.openxmlformats.org/officeDocument/2006/relationships/image" Target="../media/image92.png"/><Relationship Id="rId5" Type="http://schemas.openxmlformats.org/officeDocument/2006/relationships/image" Target="../media/image93.png"/><Relationship Id="rId6" Type="http://schemas.openxmlformats.org/officeDocument/2006/relationships/image" Target="../media/image94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5.png"/><Relationship Id="rId4" Type="http://schemas.openxmlformats.org/officeDocument/2006/relationships/image" Target="../media/image96.png"/><Relationship Id="rId5" Type="http://schemas.openxmlformats.org/officeDocument/2006/relationships/image" Target="../media/image97.png"/><Relationship Id="rId6" Type="http://schemas.openxmlformats.org/officeDocument/2006/relationships/image" Target="../media/image98.png"/><Relationship Id="rId7" Type="http://schemas.openxmlformats.org/officeDocument/2006/relationships/image" Target="../media/image99.png"/><Relationship Id="rId8" Type="http://schemas.openxmlformats.org/officeDocument/2006/relationships/image" Target="../media/image100.png"/><Relationship Id="rId9" Type="http://schemas.openxmlformats.org/officeDocument/2006/relationships/image" Target="../media/image101.png"/><Relationship Id="rId10" Type="http://schemas.openxmlformats.org/officeDocument/2006/relationships/image" Target="../media/image102.png"/><Relationship Id="rId11" Type="http://schemas.openxmlformats.org/officeDocument/2006/relationships/image" Target="../media/image103.png"/><Relationship Id="rId12" Type="http://schemas.openxmlformats.org/officeDocument/2006/relationships/image" Target="../media/image104.png"/><Relationship Id="rId13" Type="http://schemas.openxmlformats.org/officeDocument/2006/relationships/image" Target="../media/image105.png"/><Relationship Id="rId14" Type="http://schemas.openxmlformats.org/officeDocument/2006/relationships/image" Target="../media/image106.png"/><Relationship Id="rId15" Type="http://schemas.openxmlformats.org/officeDocument/2006/relationships/image" Target="../media/image107.png"/><Relationship Id="rId16" Type="http://schemas.openxmlformats.org/officeDocument/2006/relationships/image" Target="../media/image108.png"/><Relationship Id="rId17" Type="http://schemas.openxmlformats.org/officeDocument/2006/relationships/image" Target="../media/image109.png"/><Relationship Id="rId18" Type="http://schemas.openxmlformats.org/officeDocument/2006/relationships/image" Target="../media/image110.png"/><Relationship Id="rId19" Type="http://schemas.openxmlformats.org/officeDocument/2006/relationships/image" Target="../media/image111.png"/><Relationship Id="rId20" Type="http://schemas.openxmlformats.org/officeDocument/2006/relationships/image" Target="../media/image112.png"/><Relationship Id="rId21" Type="http://schemas.openxmlformats.org/officeDocument/2006/relationships/image" Target="../media/image113.png"/><Relationship Id="rId22" Type="http://schemas.openxmlformats.org/officeDocument/2006/relationships/image" Target="../media/image114.png"/><Relationship Id="rId23" Type="http://schemas.openxmlformats.org/officeDocument/2006/relationships/image" Target="../media/image115.png"/><Relationship Id="rId24" Type="http://schemas.openxmlformats.org/officeDocument/2006/relationships/image" Target="../media/image116.png"/><Relationship Id="rId25" Type="http://schemas.openxmlformats.org/officeDocument/2006/relationships/image" Target="../media/image117.png"/><Relationship Id="rId26" Type="http://schemas.openxmlformats.org/officeDocument/2006/relationships/image" Target="../media/image118.png"/><Relationship Id="rId27" Type="http://schemas.openxmlformats.org/officeDocument/2006/relationships/image" Target="../media/image119.png"/><Relationship Id="rId28" Type="http://schemas.openxmlformats.org/officeDocument/2006/relationships/image" Target="../media/image120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">
    <p:bg>
      <p:bgPr shadeToTitle="0">
        <a:solidFill>
          <a:srgbClr val="18162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0373969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0" y="0"/>
            <a:ext cx="6827490" cy="6858000"/>
          </a:xfrm>
          <a:prstGeom prst="rect">
            <a:avLst/>
          </a:prstGeom>
        </p:spPr>
      </p:pic>
      <p:sp>
        <p:nvSpPr>
          <p:cNvPr id="59902952" name="Text 0"/>
          <p:cNvSpPr txBox="1"/>
          <p:nvPr/>
        </p:nvSpPr>
        <p:spPr bwMode="auto">
          <a:xfrm>
            <a:off x="0" y="0"/>
            <a:ext cx="6827491" cy="685800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25"/>
              </a:lnSpc>
              <a:buNone/>
              <a:defRPr/>
            </a:pPr>
            <a:endParaRPr lang="en-US" sz="1350"/>
          </a:p>
        </p:txBody>
      </p:sp>
      <p:sp>
        <p:nvSpPr>
          <p:cNvPr id="576258674" name="Shape 1"/>
          <p:cNvSpPr/>
          <p:nvPr/>
        </p:nvSpPr>
        <p:spPr bwMode="auto">
          <a:xfrm>
            <a:off x="6829425" y="0"/>
            <a:ext cx="5362575" cy="6858000"/>
          </a:xfrm>
          <a:prstGeom prst="rect">
            <a:avLst/>
          </a:prstGeom>
          <a:solidFill>
            <a:srgbClr val="181622"/>
          </a:solidFill>
          <a:ln/>
        </p:spPr>
      </p:sp>
      <p:sp>
        <p:nvSpPr>
          <p:cNvPr id="380039504" name="Text 2"/>
          <p:cNvSpPr txBox="1"/>
          <p:nvPr/>
        </p:nvSpPr>
        <p:spPr bwMode="auto">
          <a:xfrm flipH="0" flipV="0">
            <a:off x="7284690" y="2313383"/>
            <a:ext cx="4432931" cy="36194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marR="0" indent="0" algn="l">
              <a:lnSpc>
                <a:spcPts val="1459"/>
              </a:lnSpc>
              <a:spcBef>
                <a:spcPts val="0"/>
              </a:spcBef>
              <a:spcAft>
                <a:spcPts val="1499"/>
              </a:spcAft>
              <a:buNone/>
              <a:defRPr/>
            </a:pPr>
            <a:r>
              <a:rPr sz="1400" b="1" i="0" u="none" strike="noStrike" cap="none" spc="136">
                <a:solidFill>
                  <a:srgbClr val="67F4E2"/>
                </a:solidFill>
                <a:latin typeface="Inter"/>
                <a:ea typeface="Inter"/>
                <a:cs typeface="Inter"/>
              </a:rPr>
              <a:t>Instrume</a:t>
            </a:r>
            <a:r>
              <a:rPr sz="1400" b="1" i="0" u="none" strike="noStrike" cap="none" spc="136">
                <a:solidFill>
                  <a:srgbClr val="67F4E2"/>
                </a:solidFill>
                <a:latin typeface="Inter"/>
                <a:ea typeface="Inter"/>
                <a:cs typeface="Inter"/>
              </a:rPr>
              <a:t>nted </a:t>
            </a:r>
            <a:r>
              <a:rPr sz="1400" b="1" i="0" u="none" strike="noStrike" cap="none" spc="136">
                <a:solidFill>
                  <a:srgbClr val="67F4E2"/>
                </a:solidFill>
                <a:latin typeface="Inter"/>
                <a:ea typeface="Inter"/>
                <a:cs typeface="Inter"/>
              </a:rPr>
              <a:t>&amp; Monitored Cloud Service</a:t>
            </a:r>
            <a:endParaRPr sz="1400"/>
          </a:p>
        </p:txBody>
      </p:sp>
      <p:sp>
        <p:nvSpPr>
          <p:cNvPr id="1750381933" name="Text 3"/>
          <p:cNvSpPr txBox="1"/>
          <p:nvPr/>
        </p:nvSpPr>
        <p:spPr bwMode="auto">
          <a:xfrm>
            <a:off x="7284690" y="2865834"/>
            <a:ext cx="3704593" cy="1134693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00"/>
              </a:lnSpc>
              <a:buNone/>
              <a:defRPr/>
            </a:pPr>
            <a:r>
              <a:rPr lang="en-US" sz="4800" b="1" spc="-95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Observability</a:t>
            </a:r>
            <a:endParaRPr lang="en-US" sz="4800"/>
          </a:p>
          <a:p>
            <a:pPr marL="0" indent="0" algn="l">
              <a:lnSpc>
                <a:spcPts val="4800"/>
              </a:lnSpc>
              <a:buNone/>
              <a:defRPr/>
            </a:pPr>
            <a:r>
              <a:rPr lang="de-DE" sz="4800" b="1" spc="-95">
                <a:solidFill>
                  <a:srgbClr val="67F4E2"/>
                </a:solidFill>
                <a:latin typeface="Inter"/>
                <a:ea typeface="Inter"/>
                <a:cs typeface="Inter"/>
              </a:rPr>
              <a:t>Monitoring</a:t>
            </a:r>
            <a:endParaRPr lang="en-US" sz="4800"/>
          </a:p>
        </p:txBody>
      </p:sp>
      <p:pic>
        <p:nvPicPr>
          <p:cNvPr id="1422865658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7284690" y="4263628"/>
            <a:ext cx="1913186" cy="290513"/>
          </a:xfrm>
          <a:prstGeom prst="rect">
            <a:avLst/>
          </a:prstGeom>
        </p:spPr>
      </p:pic>
      <p:sp>
        <p:nvSpPr>
          <p:cNvPr id="1911879052" name="Text 4"/>
          <p:cNvSpPr txBox="1"/>
          <p:nvPr/>
        </p:nvSpPr>
        <p:spPr bwMode="auto">
          <a:xfrm>
            <a:off x="7408514" y="4339827"/>
            <a:ext cx="1773236" cy="158077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>
              <a:defRPr/>
            </a:pPr>
            <a:r>
              <a:rPr lang="de-DE" sz="850" b="1" i="0" u="none" strike="noStrike" cap="none" spc="136">
                <a:solidFill>
                  <a:srgbClr val="67F4E2"/>
                </a:solidFill>
                <a:latin typeface="Inter"/>
                <a:ea typeface="Inter"/>
                <a:cs typeface="Inter"/>
              </a:rPr>
              <a:t>Cloud Engineer</a:t>
            </a:r>
            <a:r>
              <a:rPr lang="de-DE" sz="850" b="1" i="0" u="none" strike="noStrike" cap="none" spc="136">
                <a:solidFill>
                  <a:srgbClr val="67F4E2"/>
                </a:solidFill>
                <a:latin typeface="Inter"/>
                <a:ea typeface="Inter"/>
                <a:cs typeface="Inter"/>
              </a:rPr>
              <a:t> / Ironhack</a:t>
            </a:r>
            <a:endParaRPr lang="de-DE" sz="850" b="1" i="0" u="none" strike="noStrike" cap="none" spc="136">
              <a:solidFill>
                <a:srgbClr val="67F4E2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/>
          </a:p>
        </p:txBody>
      </p:sp>
      <p:pic>
        <p:nvPicPr>
          <p:cNvPr id="64962028" name="Image 2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9312175" y="4263627"/>
            <a:ext cx="1869085" cy="290512"/>
          </a:xfrm>
          <a:prstGeom prst="rect">
            <a:avLst/>
          </a:prstGeom>
        </p:spPr>
      </p:pic>
      <p:sp>
        <p:nvSpPr>
          <p:cNvPr id="1672965335" name="Text 5"/>
          <p:cNvSpPr txBox="1"/>
          <p:nvPr/>
        </p:nvSpPr>
        <p:spPr bwMode="auto">
          <a:xfrm>
            <a:off x="9436000" y="4335065"/>
            <a:ext cx="1650776" cy="172477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  <a:defRPr/>
            </a:pPr>
            <a:r>
              <a:rPr lang="de-DE" sz="850">
                <a:solidFill>
                  <a:srgbClr val="EAEEF2"/>
                </a:solidFill>
                <a:latin typeface="Inter"/>
                <a:ea typeface="Inter"/>
                <a:cs typeface="Inter"/>
              </a:rPr>
              <a:t>Faramarz Karamizadeh, Aug.2026</a:t>
            </a:r>
            <a:endParaRPr lang="en-US" sz="8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">
    <p:bg>
      <p:bgPr shadeToTitle="0">
        <a:solidFill>
          <a:srgbClr val="18162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6125961" name="Text 0"/>
          <p:cNvSpPr txBox="1"/>
          <p:nvPr/>
        </p:nvSpPr>
        <p:spPr bwMode="auto">
          <a:xfrm>
            <a:off x="533399" y="533399"/>
            <a:ext cx="1757541" cy="49565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900"/>
              </a:lnSpc>
              <a:buNone/>
              <a:defRPr/>
            </a:pPr>
            <a:r>
              <a:rPr lang="en-US" sz="3900" b="1" spc="-77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Agenda </a:t>
            </a:r>
            <a:endParaRPr lang="en-US" sz="3900"/>
          </a:p>
        </p:txBody>
      </p:sp>
      <p:pic>
        <p:nvPicPr>
          <p:cNvPr id="2008756829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33400" y="1914525"/>
            <a:ext cx="7048500" cy="514350"/>
          </a:xfrm>
          <a:prstGeom prst="rect">
            <a:avLst/>
          </a:prstGeom>
        </p:spPr>
      </p:pic>
      <p:sp>
        <p:nvSpPr>
          <p:cNvPr id="1921647167" name="Text 1"/>
          <p:cNvSpPr txBox="1"/>
          <p:nvPr/>
        </p:nvSpPr>
        <p:spPr bwMode="auto">
          <a:xfrm>
            <a:off x="714375" y="2095500"/>
            <a:ext cx="800100" cy="1619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  <a:defRPr/>
            </a:pPr>
            <a:r>
              <a:rPr lang="en-US" sz="900" b="1" spc="72">
                <a:solidFill>
                  <a:srgbClr val="67F4E2"/>
                </a:solidFill>
                <a:latin typeface="Inter"/>
                <a:ea typeface="Inter"/>
                <a:cs typeface="Inter"/>
              </a:rPr>
              <a:t>05 MIN</a:t>
            </a:r>
            <a:endParaRPr lang="en-US" sz="900"/>
          </a:p>
        </p:txBody>
      </p:sp>
      <p:sp>
        <p:nvSpPr>
          <p:cNvPr id="1490921302" name="Text 2"/>
          <p:cNvSpPr txBox="1"/>
          <p:nvPr/>
        </p:nvSpPr>
        <p:spPr bwMode="auto">
          <a:xfrm>
            <a:off x="1666875" y="2076450"/>
            <a:ext cx="4972050" cy="2095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  <a:defRPr/>
            </a:pPr>
            <a:r>
              <a:rPr lang="en-US" sz="12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1. Architecture &amp; Instrumentation</a:t>
            </a:r>
            <a:endParaRPr lang="en-US" sz="1200"/>
          </a:p>
        </p:txBody>
      </p:sp>
      <p:pic>
        <p:nvPicPr>
          <p:cNvPr id="1361678424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533400" y="2562225"/>
            <a:ext cx="7048500" cy="514350"/>
          </a:xfrm>
          <a:prstGeom prst="rect">
            <a:avLst/>
          </a:prstGeom>
        </p:spPr>
      </p:pic>
      <p:sp>
        <p:nvSpPr>
          <p:cNvPr id="214382379" name="Text 4"/>
          <p:cNvSpPr txBox="1"/>
          <p:nvPr/>
        </p:nvSpPr>
        <p:spPr bwMode="auto">
          <a:xfrm>
            <a:off x="714375" y="2743200"/>
            <a:ext cx="800100" cy="1619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  <a:defRPr/>
            </a:pPr>
            <a:r>
              <a:rPr lang="en-US" sz="900" b="1" spc="72">
                <a:solidFill>
                  <a:srgbClr val="67F4E2"/>
                </a:solidFill>
                <a:latin typeface="Inter"/>
                <a:ea typeface="Inter"/>
                <a:cs typeface="Inter"/>
              </a:rPr>
              <a:t>05 MIN</a:t>
            </a:r>
            <a:endParaRPr lang="en-US" sz="900"/>
          </a:p>
        </p:txBody>
      </p:sp>
      <p:sp>
        <p:nvSpPr>
          <p:cNvPr id="1846002410" name="Text 5"/>
          <p:cNvSpPr txBox="1"/>
          <p:nvPr/>
        </p:nvSpPr>
        <p:spPr bwMode="auto">
          <a:xfrm>
            <a:off x="1666875" y="2724150"/>
            <a:ext cx="4972050" cy="2095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  <a:defRPr/>
            </a:pPr>
            <a:r>
              <a:rPr lang="en-US" sz="12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2. Live Demo — Dashboard &amp; Monitoring</a:t>
            </a:r>
            <a:endParaRPr lang="en-US" sz="1200"/>
          </a:p>
        </p:txBody>
      </p:sp>
      <p:pic>
        <p:nvPicPr>
          <p:cNvPr id="1259725124" name="Image 2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533400" y="3209925"/>
            <a:ext cx="7048500" cy="514350"/>
          </a:xfrm>
          <a:prstGeom prst="rect">
            <a:avLst/>
          </a:prstGeom>
        </p:spPr>
      </p:pic>
      <p:sp>
        <p:nvSpPr>
          <p:cNvPr id="1484411573" name="Text 7"/>
          <p:cNvSpPr txBox="1"/>
          <p:nvPr/>
        </p:nvSpPr>
        <p:spPr bwMode="auto">
          <a:xfrm>
            <a:off x="714375" y="3390900"/>
            <a:ext cx="800100" cy="1619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  <a:defRPr/>
            </a:pPr>
            <a:r>
              <a:rPr lang="en-US" sz="900" b="1" spc="72">
                <a:solidFill>
                  <a:srgbClr val="67F4E2"/>
                </a:solidFill>
                <a:latin typeface="Inter"/>
                <a:ea typeface="Inter"/>
                <a:cs typeface="Inter"/>
              </a:rPr>
              <a:t>05 MIN</a:t>
            </a:r>
            <a:endParaRPr lang="en-US" sz="900"/>
          </a:p>
        </p:txBody>
      </p:sp>
      <p:sp>
        <p:nvSpPr>
          <p:cNvPr id="1218340037" name="Text 8"/>
          <p:cNvSpPr txBox="1"/>
          <p:nvPr/>
        </p:nvSpPr>
        <p:spPr bwMode="auto">
          <a:xfrm>
            <a:off x="1666875" y="3371850"/>
            <a:ext cx="4972050" cy="2095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  <a:defRPr/>
            </a:pPr>
            <a:r>
              <a:rPr lang="en-US" sz="12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3. Incident Response Simulation</a:t>
            </a:r>
            <a:endParaRPr lang="en-US" sz="1200"/>
          </a:p>
        </p:txBody>
      </p:sp>
      <p:pic>
        <p:nvPicPr>
          <p:cNvPr id="1279822846" name="Image 3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533400" y="3857625"/>
            <a:ext cx="7048500" cy="514350"/>
          </a:xfrm>
          <a:prstGeom prst="rect">
            <a:avLst/>
          </a:prstGeom>
        </p:spPr>
      </p:pic>
      <p:sp>
        <p:nvSpPr>
          <p:cNvPr id="1371205084" name="Text 10"/>
          <p:cNvSpPr txBox="1"/>
          <p:nvPr/>
        </p:nvSpPr>
        <p:spPr bwMode="auto">
          <a:xfrm>
            <a:off x="714375" y="4038600"/>
            <a:ext cx="800100" cy="1619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  <a:defRPr/>
            </a:pPr>
            <a:r>
              <a:rPr lang="en-US" sz="900" b="1" spc="72">
                <a:solidFill>
                  <a:srgbClr val="67F4E2"/>
                </a:solidFill>
                <a:latin typeface="Inter"/>
                <a:ea typeface="Inter"/>
                <a:cs typeface="Inter"/>
              </a:rPr>
              <a:t>02 MIN</a:t>
            </a:r>
            <a:endParaRPr lang="en-US" sz="900"/>
          </a:p>
        </p:txBody>
      </p:sp>
      <p:sp>
        <p:nvSpPr>
          <p:cNvPr id="753771284" name="Text 11"/>
          <p:cNvSpPr txBox="1"/>
          <p:nvPr/>
        </p:nvSpPr>
        <p:spPr bwMode="auto">
          <a:xfrm>
            <a:off x="1666875" y="4019550"/>
            <a:ext cx="4972050" cy="2095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  <a:defRPr/>
            </a:pPr>
            <a:r>
              <a:rPr lang="en-US" sz="12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4. Alerting &amp; Response</a:t>
            </a:r>
            <a:endParaRPr lang="en-US" sz="1200"/>
          </a:p>
        </p:txBody>
      </p:sp>
      <p:pic>
        <p:nvPicPr>
          <p:cNvPr id="1109803093" name="Image 4" descr="preencoded.png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533400" y="4505325"/>
            <a:ext cx="7048500" cy="514350"/>
          </a:xfrm>
          <a:prstGeom prst="rect">
            <a:avLst/>
          </a:prstGeom>
        </p:spPr>
      </p:pic>
      <p:sp>
        <p:nvSpPr>
          <p:cNvPr id="469856077" name="Text 13"/>
          <p:cNvSpPr txBox="1"/>
          <p:nvPr/>
        </p:nvSpPr>
        <p:spPr bwMode="auto">
          <a:xfrm>
            <a:off x="714375" y="4686300"/>
            <a:ext cx="800100" cy="1619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  <a:defRPr/>
            </a:pPr>
            <a:r>
              <a:rPr lang="en-US" sz="900" b="1" spc="72">
                <a:solidFill>
                  <a:srgbClr val="67F4E2"/>
                </a:solidFill>
                <a:latin typeface="Inter"/>
                <a:ea typeface="Inter"/>
                <a:cs typeface="Inter"/>
              </a:rPr>
              <a:t>03 MIN</a:t>
            </a:r>
            <a:endParaRPr lang="en-US" sz="900"/>
          </a:p>
        </p:txBody>
      </p:sp>
      <p:sp>
        <p:nvSpPr>
          <p:cNvPr id="597231274" name="Text 14"/>
          <p:cNvSpPr txBox="1"/>
          <p:nvPr/>
        </p:nvSpPr>
        <p:spPr bwMode="auto">
          <a:xfrm>
            <a:off x="1666875" y="4667250"/>
            <a:ext cx="4972050" cy="2095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  <a:defRPr/>
            </a:pPr>
            <a:r>
              <a:rPr lang="en-US" sz="12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5. Learnings &amp; Improvements</a:t>
            </a:r>
            <a:endParaRPr lang="en-US" sz="1200"/>
          </a:p>
        </p:txBody>
      </p:sp>
      <p:pic>
        <p:nvPicPr>
          <p:cNvPr id="577429949" name="Image 5" descr="preencoded.png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533400" y="5153024"/>
            <a:ext cx="7048500" cy="514350"/>
          </a:xfrm>
          <a:prstGeom prst="rect">
            <a:avLst/>
          </a:prstGeom>
        </p:spPr>
      </p:pic>
      <p:sp>
        <p:nvSpPr>
          <p:cNvPr id="1390470243" name="Text 16"/>
          <p:cNvSpPr txBox="1"/>
          <p:nvPr/>
        </p:nvSpPr>
        <p:spPr bwMode="auto">
          <a:xfrm>
            <a:off x="714375" y="5334000"/>
            <a:ext cx="800100" cy="1619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  <a:defRPr/>
            </a:pPr>
            <a:r>
              <a:rPr lang="en-US" sz="900" b="1" spc="72">
                <a:solidFill>
                  <a:srgbClr val="67F4E2"/>
                </a:solidFill>
                <a:latin typeface="Inter"/>
                <a:ea typeface="Inter"/>
                <a:cs typeface="Inter"/>
              </a:rPr>
              <a:t>05 MIN</a:t>
            </a:r>
            <a:endParaRPr lang="en-US" sz="900"/>
          </a:p>
        </p:txBody>
      </p:sp>
      <p:sp>
        <p:nvSpPr>
          <p:cNvPr id="144423657" name="Text 17"/>
          <p:cNvSpPr txBox="1"/>
          <p:nvPr/>
        </p:nvSpPr>
        <p:spPr bwMode="auto">
          <a:xfrm>
            <a:off x="1666874" y="5314949"/>
            <a:ext cx="508813" cy="20990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  <a:defRPr/>
            </a:pPr>
            <a:r>
              <a:rPr lang="en-US" sz="12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6. Q&amp;A </a:t>
            </a:r>
            <a:endParaRPr lang="en-US" sz="1200"/>
          </a:p>
        </p:txBody>
      </p:sp>
      <p:pic>
        <p:nvPicPr>
          <p:cNvPr id="2095779524" name="Image 6" descr="preencoded.png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>
            <a:off x="8039100" y="1257300"/>
            <a:ext cx="3619500" cy="5067300"/>
          </a:xfrm>
          <a:prstGeom prst="rect">
            <a:avLst/>
          </a:prstGeom>
        </p:spPr>
      </p:pic>
      <p:sp>
        <p:nvSpPr>
          <p:cNvPr id="1192022928" name="Text 19"/>
          <p:cNvSpPr txBox="1"/>
          <p:nvPr/>
        </p:nvSpPr>
        <p:spPr bwMode="auto">
          <a:xfrm>
            <a:off x="8277224" y="2581423"/>
            <a:ext cx="1753882" cy="34362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  <a:defRPr/>
            </a:pPr>
            <a:r>
              <a:rPr lang="en-US" sz="2700" b="1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1</a:t>
            </a:r>
            <a:r>
              <a:rPr lang="de-DE" sz="2700" b="1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6</a:t>
            </a:r>
            <a:r>
              <a:rPr lang="en-US" sz="2700" b="1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 widgets</a:t>
            </a:r>
            <a:endParaRPr lang="en-US" sz="2700"/>
          </a:p>
        </p:txBody>
      </p:sp>
      <p:sp>
        <p:nvSpPr>
          <p:cNvPr id="899896802" name="Text 20"/>
          <p:cNvSpPr txBox="1"/>
          <p:nvPr/>
        </p:nvSpPr>
        <p:spPr bwMode="auto">
          <a:xfrm>
            <a:off x="8277225" y="2981474"/>
            <a:ext cx="3143250" cy="297061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buNone/>
              <a:defRPr/>
            </a:pPr>
            <a:r>
              <a:rPr lang="en-US" sz="900">
                <a:solidFill>
                  <a:srgbClr val="EAEEF2">
                    <a:alpha val="70000"/>
                  </a:srgbClr>
                </a:solidFill>
                <a:latin typeface="Inter"/>
                <a:ea typeface="Inter"/>
                <a:cs typeface="Inter"/>
              </a:rPr>
              <a:t> • Period 60s • SingleValue + Golden Signals + Correlation</a:t>
            </a:r>
            <a:endParaRPr lang="en-US" sz="900"/>
          </a:p>
        </p:txBody>
      </p:sp>
      <p:sp>
        <p:nvSpPr>
          <p:cNvPr id="1748727749" name="Shape 21"/>
          <p:cNvSpPr/>
          <p:nvPr/>
        </p:nvSpPr>
        <p:spPr bwMode="auto">
          <a:xfrm>
            <a:off x="8277225" y="3448050"/>
            <a:ext cx="3143250" cy="9525"/>
          </a:xfrm>
          <a:prstGeom prst="rect">
            <a:avLst/>
          </a:prstGeom>
          <a:solidFill>
            <a:srgbClr val="E6EFEF">
              <a:alpha val="12000"/>
            </a:srgbClr>
          </a:solidFill>
          <a:ln/>
        </p:spPr>
      </p:sp>
      <p:sp>
        <p:nvSpPr>
          <p:cNvPr id="1620112719" name="Text 22"/>
          <p:cNvSpPr txBox="1"/>
          <p:nvPr/>
        </p:nvSpPr>
        <p:spPr bwMode="auto">
          <a:xfrm>
            <a:off x="8277224" y="3630960"/>
            <a:ext cx="2878179" cy="34793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  <a:defRPr/>
            </a:pPr>
            <a:r>
              <a:rPr lang="en-US" sz="2700" b="1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5 </a:t>
            </a:r>
            <a:r>
              <a:rPr lang="de-DE" sz="2700" b="1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Custom metrics</a:t>
            </a:r>
            <a:endParaRPr lang="en-US" sz="2700"/>
          </a:p>
        </p:txBody>
      </p:sp>
      <p:sp>
        <p:nvSpPr>
          <p:cNvPr id="1018349988" name="Text 23"/>
          <p:cNvSpPr txBox="1"/>
          <p:nvPr/>
        </p:nvSpPr>
        <p:spPr bwMode="auto">
          <a:xfrm>
            <a:off x="8277225" y="4031010"/>
            <a:ext cx="3143250" cy="297061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buNone/>
              <a:defRPr/>
            </a:pPr>
            <a:r>
              <a:rPr lang="en-US" sz="900">
                <a:solidFill>
                  <a:srgbClr val="EAEEF2">
                    <a:alpha val="70000"/>
                  </a:srgbClr>
                </a:solidFill>
                <a:latin typeface="Inter"/>
                <a:ea typeface="Inter"/>
                <a:cs typeface="Inter"/>
              </a:rPr>
              <a:t>request_count • api_latency • error_count • orders_per_minute • order_value</a:t>
            </a:r>
            <a:endParaRPr lang="en-US" sz="900"/>
          </a:p>
        </p:txBody>
      </p:sp>
      <p:sp>
        <p:nvSpPr>
          <p:cNvPr id="1677171242" name="Shape 24"/>
          <p:cNvSpPr/>
          <p:nvPr/>
        </p:nvSpPr>
        <p:spPr bwMode="auto">
          <a:xfrm>
            <a:off x="8277225" y="4495800"/>
            <a:ext cx="3143250" cy="9525"/>
          </a:xfrm>
          <a:prstGeom prst="rect">
            <a:avLst/>
          </a:prstGeom>
          <a:solidFill>
            <a:srgbClr val="E6EFEF">
              <a:alpha val="12000"/>
            </a:srgbClr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:randomBar dir="horz"/>
      </p:transition>
    </mc:Choice>
    <mc:Fallback>
      <p:transition spd="fast" advClick="1">
        <p:randomBar dir="horz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87568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1647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0921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16784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382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60024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725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44115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340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98228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12050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3771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98030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98560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7231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74299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0470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4236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57795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20229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98968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87277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01127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83499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7171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3">
    <p:bg>
      <p:bgPr shadeToTitle="0">
        <a:solidFill>
          <a:srgbClr val="18162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81901954" name=""/>
          <p:cNvPicPr>
            <a:picLocks noChangeAspect="1"/>
          </p:cNvPicPr>
          <p:nvPr/>
        </p:nvPicPr>
        <p:blipFill rotWithShape="1">
          <a:blip r:embed="rId3"/>
          <a:srcRect l="0" t="8961" r="0" b="5476"/>
          <a:stretch/>
        </p:blipFill>
        <p:spPr bwMode="auto">
          <a:xfrm flipH="0" flipV="0">
            <a:off x="326879" y="1870149"/>
            <a:ext cx="11618857" cy="4856389"/>
          </a:xfrm>
          <a:prstGeom prst="rect">
            <a:avLst/>
          </a:prstGeom>
        </p:spPr>
      </p:pic>
      <p:sp>
        <p:nvSpPr>
          <p:cNvPr id="2082069294" name="Text 0"/>
          <p:cNvSpPr txBox="1"/>
          <p:nvPr/>
        </p:nvSpPr>
        <p:spPr bwMode="auto">
          <a:xfrm>
            <a:off x="255972" y="24783"/>
            <a:ext cx="1536819" cy="8700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600"/>
              </a:lnSpc>
              <a:buNone/>
              <a:defRPr/>
            </a:pPr>
            <a:r>
              <a:rPr lang="en-US" sz="2200" b="1" spc="-72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Architecture</a:t>
            </a:r>
            <a:endParaRPr sz="2200"/>
          </a:p>
          <a:p>
            <a:pPr marL="0" indent="0" algn="l">
              <a:lnSpc>
                <a:spcPts val="3600"/>
              </a:lnSpc>
              <a:buNone/>
              <a:defRPr/>
            </a:pPr>
            <a:endParaRPr lang="en-US" sz="3600"/>
          </a:p>
        </p:txBody>
      </p:sp>
      <p:pic>
        <p:nvPicPr>
          <p:cNvPr id="497035819" name="Image 0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1397329" y="841826"/>
            <a:ext cx="3357800" cy="1111550"/>
          </a:xfrm>
          <a:prstGeom prst="rect">
            <a:avLst/>
          </a:prstGeom>
        </p:spPr>
      </p:pic>
      <p:sp>
        <p:nvSpPr>
          <p:cNvPr id="1315820238" name="Text 1"/>
          <p:cNvSpPr txBox="1"/>
          <p:nvPr/>
        </p:nvSpPr>
        <p:spPr bwMode="auto">
          <a:xfrm flipH="0" flipV="0">
            <a:off x="1465962" y="957513"/>
            <a:ext cx="3108192" cy="12561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90"/>
              </a:lnSpc>
              <a:spcAft>
                <a:spcPts val="600"/>
              </a:spcAft>
              <a:buNone/>
              <a:defRPr/>
            </a:pPr>
            <a:r>
              <a:rPr lang="en-US" sz="850" b="1" spc="99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INSTANCE</a:t>
            </a:r>
            <a:endParaRPr lang="en-US" sz="850"/>
          </a:p>
        </p:txBody>
      </p:sp>
      <p:sp>
        <p:nvSpPr>
          <p:cNvPr id="398676568" name="Text 2"/>
          <p:cNvSpPr txBox="1"/>
          <p:nvPr/>
        </p:nvSpPr>
        <p:spPr bwMode="auto">
          <a:xfrm flipH="0" flipV="0">
            <a:off x="1465962" y="1168850"/>
            <a:ext cx="3108192" cy="37712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i-01b042962afdf4a30 (10.0.1.221:5000)</a:t>
            </a:r>
            <a:r>
              <a:rPr lang="en-US" sz="10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 • us-east-1 • role proj2-ec2-role • myapp.service • Flask + Gunicorn 2 sync workers</a:t>
            </a:r>
            <a:r>
              <a:rPr lang="de-DE" sz="1050">
                <a:solidFill>
                  <a:schemeClr val="bg1"/>
                </a:solidFill>
              </a:rPr>
              <a:t>. Systemd service</a:t>
            </a:r>
            <a:endParaRPr lang="en-US" sz="1050"/>
          </a:p>
        </p:txBody>
      </p:sp>
      <p:pic>
        <p:nvPicPr>
          <p:cNvPr id="813018095" name="Image 1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8268276" y="884315"/>
            <a:ext cx="3168843" cy="1069061"/>
          </a:xfrm>
          <a:prstGeom prst="rect">
            <a:avLst/>
          </a:prstGeom>
        </p:spPr>
      </p:pic>
      <p:sp>
        <p:nvSpPr>
          <p:cNvPr id="603346169" name="Text 3"/>
          <p:cNvSpPr txBox="1"/>
          <p:nvPr/>
        </p:nvSpPr>
        <p:spPr bwMode="auto">
          <a:xfrm flipH="0" flipV="0">
            <a:off x="8322863" y="1046240"/>
            <a:ext cx="2933282" cy="12561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90"/>
              </a:lnSpc>
              <a:spcAft>
                <a:spcPts val="600"/>
              </a:spcAft>
              <a:buNone/>
              <a:defRPr/>
            </a:pPr>
            <a:r>
              <a:rPr lang="en-US" sz="850" b="1" spc="99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LOGGING PIPELINE</a:t>
            </a:r>
            <a:endParaRPr lang="en-US" sz="850"/>
          </a:p>
        </p:txBody>
      </p:sp>
      <p:sp>
        <p:nvSpPr>
          <p:cNvPr id="975801646" name="Text 4"/>
          <p:cNvSpPr txBox="1"/>
          <p:nvPr/>
        </p:nvSpPr>
        <p:spPr bwMode="auto">
          <a:xfrm flipH="0" flipV="0">
            <a:off x="8322863" y="1257576"/>
            <a:ext cx="2933282" cy="37712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systemd StandardOutput → </a:t>
            </a:r>
            <a:r>
              <a:rPr lang="en-US" sz="105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app.log JSON only</a:t>
            </a:r>
            <a:r>
              <a:rPr lang="en-US" sz="10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 • access.log separate • gunicorn-error.log • CWAgent → </a:t>
            </a:r>
            <a:r>
              <a:rPr lang="en-US" sz="105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proj2-logs</a:t>
            </a:r>
            <a:r>
              <a:rPr lang="en-US" sz="10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 log group</a:t>
            </a:r>
            <a:endParaRPr lang="en-US" sz="1050"/>
          </a:p>
        </p:txBody>
      </p:sp>
      <p:pic>
        <p:nvPicPr>
          <p:cNvPr id="1483245235" name="Image 2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4939150" y="871735"/>
            <a:ext cx="3168843" cy="1081641"/>
          </a:xfrm>
          <a:prstGeom prst="rect">
            <a:avLst/>
          </a:prstGeom>
        </p:spPr>
      </p:pic>
      <p:sp>
        <p:nvSpPr>
          <p:cNvPr id="627505113" name="Text 5"/>
          <p:cNvSpPr txBox="1"/>
          <p:nvPr/>
        </p:nvSpPr>
        <p:spPr bwMode="auto">
          <a:xfrm flipH="0" flipV="0">
            <a:off x="4993736" y="1033660"/>
            <a:ext cx="2933282" cy="12561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90"/>
              </a:lnSpc>
              <a:spcAft>
                <a:spcPts val="600"/>
              </a:spcAft>
              <a:buNone/>
              <a:defRPr/>
            </a:pPr>
            <a:r>
              <a:rPr lang="en-US" sz="850" b="1" spc="99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METRICS</a:t>
            </a:r>
            <a:endParaRPr lang="en-US" sz="850"/>
          </a:p>
        </p:txBody>
      </p:sp>
      <p:sp>
        <p:nvSpPr>
          <p:cNvPr id="871306802" name="Text 6"/>
          <p:cNvSpPr txBox="1"/>
          <p:nvPr/>
        </p:nvSpPr>
        <p:spPr bwMode="auto">
          <a:xfrm flipH="0" flipV="0">
            <a:off x="4993736" y="1244996"/>
            <a:ext cx="2933282" cy="37712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Namespaces: </a:t>
            </a:r>
            <a:r>
              <a:rPr lang="en-US" sz="105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Proj2/MyApp</a:t>
            </a:r>
            <a:r>
              <a:rPr lang="en-US" sz="10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 (custom) + CWAgent (mem/disk) + AWS/EC2 (CPU/Network) • boto3 put_metric_data • period 60s</a:t>
            </a:r>
            <a:endParaRPr lang="en-US" sz="10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3">
    <p:bg>
      <p:bgPr shadeToTitle="0">
        <a:solidFill>
          <a:srgbClr val="18162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84641470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413515" y="745566"/>
            <a:ext cx="2949677" cy="6112433"/>
          </a:xfrm>
          <a:prstGeom prst="rect">
            <a:avLst/>
          </a:prstGeom>
        </p:spPr>
      </p:pic>
      <p:sp>
        <p:nvSpPr>
          <p:cNvPr id="2067726744" name="TextBox 1"/>
          <p:cNvSpPr txBox="1"/>
          <p:nvPr/>
        </p:nvSpPr>
        <p:spPr bwMode="auto">
          <a:xfrm>
            <a:off x="457200" y="44166"/>
            <a:ext cx="10987919" cy="701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EAEEF2"/>
                </a:solidFill>
                <a:latin typeface="Space Grotesk"/>
              </a:defRPr>
            </a:pPr>
            <a:r>
              <a:rPr/>
              <a:t>Project Highlights</a:t>
            </a:r>
            <a:endParaRPr/>
          </a:p>
          <a:p>
            <a:pPr>
              <a:defRPr sz="2800" b="1">
                <a:solidFill>
                  <a:srgbClr val="EAEEF2"/>
                </a:solidFill>
                <a:latin typeface="Space Grotesk"/>
              </a:defRPr>
            </a:pPr>
            <a:r>
              <a:rPr/>
              <a:t> </a:t>
            </a:r>
            <a:r>
              <a:rPr sz="1200">
                <a:solidFill>
                  <a:srgbClr val="67F4E2"/>
                </a:solidFill>
              </a:rPr>
              <a:t>  100% IaC • Terraform + Ansible </a:t>
            </a:r>
            <a:endParaRPr/>
          </a:p>
        </p:txBody>
      </p:sp>
      <p:sp>
        <p:nvSpPr>
          <p:cNvPr id="1864283036" name="Rectangle 2"/>
          <p:cNvSpPr/>
          <p:nvPr/>
        </p:nvSpPr>
        <p:spPr bwMode="auto">
          <a:xfrm flipH="0" flipV="0">
            <a:off x="4202466" y="128356"/>
            <a:ext cx="3474720" cy="1134455"/>
          </a:xfrm>
          <a:prstGeom prst="rect">
            <a:avLst/>
          </a:prstGeom>
          <a:solidFill>
            <a:srgbClr val="232130"/>
          </a:solidFill>
          <a:ln w="12700">
            <a:solidFill>
              <a:srgbClr val="3C3C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67F4E2"/>
                </a:solidFill>
                <a:latin typeface="JetBrains Mono"/>
              </a:defRPr>
            </a:pPr>
            <a:r>
              <a:rPr/>
              <a:t>Infra as Code 100%</a:t>
            </a:r>
            <a:endParaRPr/>
          </a:p>
          <a:p>
            <a:pPr algn="ctr">
              <a:spcBef>
                <a:spcPts val="399"/>
              </a:spcBef>
              <a:defRPr sz="1200" b="1">
                <a:solidFill>
                  <a:srgbClr val="EAEEF2"/>
                </a:solidFill>
              </a:defRPr>
            </a:pPr>
            <a:r>
              <a:rPr/>
              <a:t>Terraform</a:t>
            </a:r>
            <a:r>
              <a:rPr lang="de-DE"/>
              <a:t> modular</a:t>
            </a:r>
            <a:r>
              <a:rPr/>
              <a:t> + Ansible full stack</a:t>
            </a:r>
            <a:endParaRPr/>
          </a:p>
          <a:p>
            <a:pPr algn="ctr">
              <a:spcBef>
                <a:spcPts val="399"/>
              </a:spcBef>
              <a:defRPr sz="900">
                <a:solidFill>
                  <a:srgbClr val="B4B4BE"/>
                </a:solidFill>
              </a:defRPr>
            </a:pPr>
            <a:r>
              <a:rPr/>
              <a:t>VPC, EC2 i-01b04296, SG, IAM proj2-ec2-role, CWAgent, myapp.service. Reproducible.</a:t>
            </a:r>
            <a:endParaRPr/>
          </a:p>
        </p:txBody>
      </p:sp>
      <p:sp>
        <p:nvSpPr>
          <p:cNvPr id="1872891199" name="Rectangle 3"/>
          <p:cNvSpPr/>
          <p:nvPr/>
        </p:nvSpPr>
        <p:spPr bwMode="auto">
          <a:xfrm flipH="0" flipV="0">
            <a:off x="4206240" y="1376778"/>
            <a:ext cx="3474720" cy="1268026"/>
          </a:xfrm>
          <a:prstGeom prst="rect">
            <a:avLst/>
          </a:prstGeom>
          <a:solidFill>
            <a:srgbClr val="232130"/>
          </a:solidFill>
          <a:ln w="12700">
            <a:solidFill>
              <a:srgbClr val="3C3C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67F4E2"/>
                </a:solidFill>
                <a:latin typeface="JetBrains Mono"/>
              </a:defRPr>
            </a:pPr>
            <a:r>
              <a:rPr/>
              <a:t>5 Custom Metrics [Business]</a:t>
            </a:r>
            <a:endParaRPr/>
          </a:p>
          <a:p>
            <a:pPr algn="ctr">
              <a:spcBef>
                <a:spcPts val="399"/>
              </a:spcBef>
              <a:defRPr sz="1200" b="1">
                <a:solidFill>
                  <a:srgbClr val="EAEEF2"/>
                </a:solidFill>
              </a:defRPr>
            </a:pPr>
            <a:r>
              <a:rPr/>
              <a:t>orders_per_minute + order_value</a:t>
            </a:r>
            <a:endParaRPr/>
          </a:p>
          <a:p>
            <a:pPr algn="ctr">
              <a:spcBef>
                <a:spcPts val="399"/>
              </a:spcBef>
              <a:defRPr sz="900">
                <a:solidFill>
                  <a:srgbClr val="B4B4BE"/>
                </a:solidFill>
              </a:defRPr>
            </a:pPr>
            <a:r>
              <a:rPr/>
              <a:t>request_count api_latency error_count + biz orders_per_minute order_value via boto3.</a:t>
            </a:r>
            <a:endParaRPr/>
          </a:p>
        </p:txBody>
      </p:sp>
      <p:sp>
        <p:nvSpPr>
          <p:cNvPr id="823743348" name="Rectangle 4"/>
          <p:cNvSpPr/>
          <p:nvPr/>
        </p:nvSpPr>
        <p:spPr bwMode="auto">
          <a:xfrm flipH="0" flipV="0">
            <a:off x="8556370" y="82118"/>
            <a:ext cx="3474720" cy="1110818"/>
          </a:xfrm>
          <a:prstGeom prst="rect">
            <a:avLst/>
          </a:prstGeom>
          <a:solidFill>
            <a:srgbClr val="232130"/>
          </a:solidFill>
          <a:ln w="12700">
            <a:solidFill>
              <a:srgbClr val="3C3C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67F4E2"/>
                </a:solidFill>
                <a:latin typeface="JetBrains Mono"/>
              </a:defRPr>
            </a:pPr>
            <a:r>
              <a:rPr/>
              <a:t>Memory Anomaly</a:t>
            </a:r>
            <a:r>
              <a:rPr lang="de-DE"/>
              <a:t> alarm and dashboard</a:t>
            </a:r>
            <a:r>
              <a:rPr/>
              <a:t> [USE]</a:t>
            </a:r>
            <a:endParaRPr/>
          </a:p>
          <a:p>
            <a:pPr algn="ctr">
              <a:spcBef>
                <a:spcPts val="399"/>
              </a:spcBef>
              <a:defRPr sz="1200" b="1">
                <a:solidFill>
                  <a:srgbClr val="EAEEF2"/>
                </a:solidFill>
              </a:defRPr>
            </a:pPr>
            <a:r>
              <a:rPr/>
              <a:t>mem_used_percent detection</a:t>
            </a:r>
            <a:endParaRPr/>
          </a:p>
          <a:p>
            <a:pPr algn="ctr">
              <a:spcBef>
                <a:spcPts val="399"/>
              </a:spcBef>
              <a:defRPr sz="900">
                <a:solidFill>
                  <a:srgbClr val="B4B4BE"/>
                </a:solidFill>
              </a:defRPr>
            </a:pPr>
            <a:r>
              <a:rPr/>
              <a:t>Infra saturation signal from CWAgent. SingleValue widget + anomaly band vs latency.</a:t>
            </a:r>
            <a:endParaRPr/>
          </a:p>
        </p:txBody>
      </p:sp>
      <p:sp>
        <p:nvSpPr>
          <p:cNvPr id="698737520" name="Rectangle 5"/>
          <p:cNvSpPr/>
          <p:nvPr/>
        </p:nvSpPr>
        <p:spPr bwMode="auto">
          <a:xfrm flipH="0" flipV="0">
            <a:off x="8548826" y="5345096"/>
            <a:ext cx="3474720" cy="1299616"/>
          </a:xfrm>
          <a:prstGeom prst="rect">
            <a:avLst/>
          </a:prstGeom>
          <a:solidFill>
            <a:srgbClr val="232130"/>
          </a:solidFill>
          <a:ln w="12700">
            <a:solidFill>
              <a:srgbClr val="3C3C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67F4E2"/>
                </a:solidFill>
                <a:latin typeface="JetBrains Mono"/>
              </a:defRPr>
            </a:pPr>
            <a:r>
              <a:rPr/>
              <a:t>Correlation Dashboard</a:t>
            </a:r>
            <a:endParaRPr/>
          </a:p>
          <a:p>
            <a:pPr algn="ctr">
              <a:spcBef>
                <a:spcPts val="399"/>
              </a:spcBef>
              <a:defRPr sz="1200" b="1">
                <a:solidFill>
                  <a:srgbClr val="EAEEF2"/>
                </a:solidFill>
              </a:defRPr>
            </a:pPr>
            <a:r>
              <a:rPr/>
              <a:t>Latency vs Traffic vs Errors vs CPU</a:t>
            </a:r>
            <a:endParaRPr/>
          </a:p>
          <a:p>
            <a:pPr algn="ctr">
              <a:spcBef>
                <a:spcPts val="399"/>
              </a:spcBef>
              <a:defRPr sz="900">
                <a:solidFill>
                  <a:srgbClr val="B4B4BE"/>
                </a:solidFill>
              </a:defRPr>
            </a:pPr>
            <a:r>
              <a:rPr/>
              <a:t>One view: P95 latency ↔ request_count ↔ error_count ↔ CPU. Golden + USE.</a:t>
            </a:r>
            <a:endParaRPr/>
          </a:p>
        </p:txBody>
      </p:sp>
      <p:sp>
        <p:nvSpPr>
          <p:cNvPr id="150027515" name="Rectangle 6"/>
          <p:cNvSpPr/>
          <p:nvPr/>
        </p:nvSpPr>
        <p:spPr bwMode="auto">
          <a:xfrm flipH="0" flipV="0">
            <a:off x="4206240" y="2792544"/>
            <a:ext cx="3474720" cy="1194416"/>
          </a:xfrm>
          <a:prstGeom prst="rect">
            <a:avLst/>
          </a:prstGeom>
          <a:solidFill>
            <a:srgbClr val="232130"/>
          </a:solidFill>
          <a:ln w="12700">
            <a:solidFill>
              <a:srgbClr val="3C3C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67F4E2"/>
                </a:solidFill>
                <a:latin typeface="JetBrains Mono"/>
              </a:defRPr>
            </a:pPr>
            <a:r>
              <a:rPr lang="de-DE"/>
              <a:t>6 Warn / Critical</a:t>
            </a:r>
            <a:r>
              <a:rPr/>
              <a:t> Alarms</a:t>
            </a:r>
            <a:endParaRPr/>
          </a:p>
          <a:p>
            <a:pPr algn="ctr">
              <a:spcBef>
                <a:spcPts val="399"/>
              </a:spcBef>
              <a:defRPr sz="1200" b="1">
                <a:solidFill>
                  <a:srgbClr val="EAEEF2"/>
                </a:solidFill>
              </a:defRPr>
            </a:pPr>
            <a:r>
              <a:rPr/>
              <a:t>high-error, high-latency, no-traffic, high-cpu</a:t>
            </a:r>
            <a:endParaRPr/>
          </a:p>
          <a:p>
            <a:pPr algn="ctr">
              <a:spcBef>
                <a:spcPts val="399"/>
              </a:spcBef>
              <a:defRPr sz="900">
                <a:solidFill>
                  <a:srgbClr val="B4B4BE"/>
                </a:solidFill>
              </a:defRPr>
            </a:pPr>
            <a:r>
              <a:rPr/>
              <a:t>&gt;5 errors /2x60s, P95 &gt;800ms, no traffic 5m, cpu &gt;85% → SNS proj2-alerts.</a:t>
            </a:r>
            <a:endParaRPr/>
          </a:p>
        </p:txBody>
      </p:sp>
      <p:sp>
        <p:nvSpPr>
          <p:cNvPr id="1336812609" name="Rectangle 7"/>
          <p:cNvSpPr/>
          <p:nvPr/>
        </p:nvSpPr>
        <p:spPr bwMode="auto">
          <a:xfrm flipH="0" flipV="0">
            <a:off x="8556370" y="1312933"/>
            <a:ext cx="3474720" cy="1193158"/>
          </a:xfrm>
          <a:prstGeom prst="rect">
            <a:avLst/>
          </a:prstGeom>
          <a:solidFill>
            <a:srgbClr val="232130"/>
          </a:solidFill>
          <a:ln w="12700">
            <a:solidFill>
              <a:srgbClr val="3C3C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67F4E2"/>
                </a:solidFill>
                <a:latin typeface="JetBrains Mono"/>
              </a:defRPr>
            </a:pPr>
            <a:r>
              <a:rPr/>
              <a:t>Service Map</a:t>
            </a:r>
            <a:endParaRPr/>
          </a:p>
          <a:p>
            <a:pPr algn="ctr">
              <a:spcBef>
                <a:spcPts val="399"/>
              </a:spcBef>
              <a:defRPr sz="1200" b="1">
                <a:solidFill>
                  <a:srgbClr val="EAEEF2"/>
                </a:solidFill>
              </a:defRPr>
            </a:pPr>
            <a:r>
              <a:rPr/>
              <a:t>EC2 → Gunicorn → Flask → CWAgent → CW</a:t>
            </a:r>
            <a:endParaRPr/>
          </a:p>
          <a:p>
            <a:pPr algn="ctr">
              <a:spcBef>
                <a:spcPts val="399"/>
              </a:spcBef>
              <a:defRPr sz="900">
                <a:solidFill>
                  <a:srgbClr val="B4B4BE"/>
                </a:solidFill>
              </a:defRPr>
            </a:pPr>
            <a:r>
              <a:rPr/>
              <a:t>EC2 → Gunicorn → Flask → CWAgent → CloudWatch - full traceability</a:t>
            </a:r>
            <a:endParaRPr/>
          </a:p>
        </p:txBody>
      </p:sp>
      <p:sp>
        <p:nvSpPr>
          <p:cNvPr id="995796349" name="Rectangle 8"/>
          <p:cNvSpPr/>
          <p:nvPr/>
        </p:nvSpPr>
        <p:spPr bwMode="auto">
          <a:xfrm flipH="0" flipV="0">
            <a:off x="4202466" y="5456733"/>
            <a:ext cx="3474720" cy="1266251"/>
          </a:xfrm>
          <a:prstGeom prst="rect">
            <a:avLst/>
          </a:prstGeom>
          <a:solidFill>
            <a:srgbClr val="232130"/>
          </a:solidFill>
          <a:ln w="12700">
            <a:solidFill>
              <a:srgbClr val="3C3C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67F4E2"/>
                </a:solidFill>
                <a:latin typeface="JetBrains Mono"/>
              </a:defRPr>
            </a:pPr>
            <a:r>
              <a:rPr/>
              <a:t>Custom Widgets</a:t>
            </a:r>
            <a:endParaRPr/>
          </a:p>
          <a:p>
            <a:pPr algn="ctr">
              <a:spcBef>
                <a:spcPts val="399"/>
              </a:spcBef>
              <a:defRPr sz="1200" b="1">
                <a:solidFill>
                  <a:srgbClr val="EAEEF2"/>
                </a:solidFill>
              </a:defRPr>
            </a:pPr>
            <a:r>
              <a:rPr/>
              <a:t>SingleValue Golden + USE</a:t>
            </a:r>
            <a:endParaRPr/>
          </a:p>
          <a:p>
            <a:pPr algn="ctr">
              <a:spcBef>
                <a:spcPts val="399"/>
              </a:spcBef>
              <a:defRPr sz="900">
                <a:solidFill>
                  <a:srgbClr val="B4B4BE"/>
                </a:solidFill>
              </a:defRPr>
            </a:pPr>
            <a:r>
              <a:rPr/>
              <a:t>SEARCH([...],60) period 60s. Rate, Duration, Errors, Saturation unified.</a:t>
            </a:r>
            <a:endParaRPr/>
          </a:p>
        </p:txBody>
      </p:sp>
      <p:sp>
        <p:nvSpPr>
          <p:cNvPr id="1139524759" name="Rectangle 9"/>
          <p:cNvSpPr/>
          <p:nvPr/>
        </p:nvSpPr>
        <p:spPr bwMode="auto">
          <a:xfrm flipH="0" flipV="0">
            <a:off x="4206240" y="4115835"/>
            <a:ext cx="3474720" cy="1229261"/>
          </a:xfrm>
          <a:prstGeom prst="rect">
            <a:avLst/>
          </a:prstGeom>
          <a:solidFill>
            <a:srgbClr val="232130"/>
          </a:solidFill>
          <a:ln w="12700">
            <a:solidFill>
              <a:srgbClr val="3C3C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67F4E2"/>
                </a:solidFill>
                <a:latin typeface="JetBrains Mono"/>
              </a:defRPr>
            </a:pPr>
            <a:r>
              <a:rPr/>
              <a:t>Structured Logging</a:t>
            </a:r>
            <a:endParaRPr/>
          </a:p>
          <a:p>
            <a:pPr algn="ctr">
              <a:spcBef>
                <a:spcPts val="399"/>
              </a:spcBef>
              <a:defRPr sz="1200" b="1">
                <a:solidFill>
                  <a:srgbClr val="EAEEF2"/>
                </a:solidFill>
              </a:defRPr>
            </a:pPr>
            <a:r>
              <a:rPr/>
              <a:t>correlation_id • level • latency_ms</a:t>
            </a:r>
            <a:endParaRPr/>
          </a:p>
          <a:p>
            <a:pPr algn="ctr">
              <a:spcBef>
                <a:spcPts val="399"/>
              </a:spcBef>
              <a:defRPr sz="900">
                <a:solidFill>
                  <a:srgbClr val="B4B4BE"/>
                </a:solidFill>
              </a:defRPr>
            </a:pPr>
            <a:r>
              <a:rPr/>
              <a:t>structlog JSON → 20+ fields. X-Corr-ID 51e9ef29 → filter correlation_id='demo-123'.</a:t>
            </a:r>
            <a:endParaRPr/>
          </a:p>
        </p:txBody>
      </p:sp>
      <p:sp>
        <p:nvSpPr>
          <p:cNvPr id="516201969" name="Rectangle 10"/>
          <p:cNvSpPr/>
          <p:nvPr/>
        </p:nvSpPr>
        <p:spPr bwMode="auto">
          <a:xfrm flipH="0" flipV="0">
            <a:off x="8556370" y="2589986"/>
            <a:ext cx="3474720" cy="1284746"/>
          </a:xfrm>
          <a:prstGeom prst="rect">
            <a:avLst/>
          </a:prstGeom>
          <a:solidFill>
            <a:srgbClr val="232130"/>
          </a:solidFill>
          <a:ln w="12700">
            <a:solidFill>
              <a:srgbClr val="3C3C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67F4E2"/>
                </a:solidFill>
                <a:latin typeface="JetBrains Mono"/>
              </a:defRPr>
            </a:pPr>
            <a:r>
              <a:rPr lang="de-DE"/>
              <a:t>Systemd service </a:t>
            </a:r>
            <a:r>
              <a:rPr lang="de-DE"/>
              <a:t>+ Gunicorn</a:t>
            </a:r>
            <a:endParaRPr/>
          </a:p>
          <a:p>
            <a:pPr marL="0" marR="0" indent="0" algn="ctr">
              <a:lnSpc>
                <a:spcPct val="100000"/>
              </a:lnSpc>
              <a:spcBef>
                <a:spcPts val="399"/>
              </a:spcBef>
              <a:spcAft>
                <a:spcPts val="0"/>
              </a:spcAft>
              <a:defRPr sz="900">
                <a:solidFill>
                  <a:srgbClr val="B4B4BE"/>
                </a:solidFill>
              </a:defRPr>
            </a:pPr>
            <a:r>
              <a:rPr lang="en-US" sz="1200" b="1" i="0" u="none" strike="noStrike" cap="none" spc="0">
                <a:solidFill>
                  <a:srgbClr val="EAEEF2"/>
                </a:solidFill>
                <a:latin typeface="Calibri"/>
                <a:ea typeface="Calibri"/>
                <a:cs typeface="Calibri"/>
              </a:rPr>
              <a:t>Gunicorn handles concurrent requests (2 workers), systemd handles lifecycle, auto-restart and log routing</a:t>
            </a:r>
            <a:endParaRPr/>
          </a:p>
        </p:txBody>
      </p:sp>
      <p:sp>
        <p:nvSpPr>
          <p:cNvPr id="78732900" name="Rectangle 9"/>
          <p:cNvSpPr/>
          <p:nvPr/>
        </p:nvSpPr>
        <p:spPr bwMode="auto">
          <a:xfrm flipH="0" flipV="0">
            <a:off x="8556370" y="4007823"/>
            <a:ext cx="3474720" cy="1217054"/>
          </a:xfrm>
          <a:prstGeom prst="rect">
            <a:avLst/>
          </a:prstGeom>
          <a:solidFill>
            <a:srgbClr val="232130"/>
          </a:solidFill>
          <a:ln w="12700">
            <a:solidFill>
              <a:srgbClr val="3C3C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EAEEF2"/>
                </a:solidFill>
              </a:defRPr>
            </a:pPr>
            <a:r>
              <a:rPr lang="en-US" sz="900" b="1" i="0" u="none" strike="noStrike" cap="none" spc="0">
                <a:solidFill>
                  <a:srgbClr val="67F4E2"/>
                </a:solidFill>
                <a:latin typeface="JetBrains Mono"/>
                <a:ea typeface="JetBrains Mono"/>
                <a:cs typeface="JetBrains Mono"/>
              </a:rPr>
              <a:t>Composite alarms </a:t>
            </a:r>
            <a:endParaRPr/>
          </a:p>
          <a:p>
            <a:pPr marL="0" marR="0" indent="0" algn="ctr">
              <a:lnSpc>
                <a:spcPct val="100000"/>
              </a:lnSpc>
              <a:spcBef>
                <a:spcPts val="399"/>
              </a:spcBef>
              <a:spcAft>
                <a:spcPts val="0"/>
              </a:spcAft>
              <a:defRPr sz="900">
                <a:solidFill>
                  <a:srgbClr val="B4B4BE"/>
                </a:solidFill>
              </a:defRPr>
            </a:pPr>
            <a:r>
              <a:rPr lang="en-US" sz="1200" b="1" i="0" u="none" strike="noStrike" cap="none" spc="0">
                <a:solidFill>
                  <a:srgbClr val="EAEEF2"/>
                </a:solidFill>
                <a:latin typeface="Calibri"/>
                <a:ea typeface="Calibri"/>
                <a:cs typeface="Calibri"/>
              </a:rPr>
              <a:t>combining multiple conditions</a:t>
            </a:r>
            <a:endParaRPr lang="en-US" sz="1200" b="1" i="0" u="none" strike="noStrike" cap="none" spc="0">
              <a:solidFill>
                <a:srgbClr val="EAEEF2"/>
              </a:solidFill>
              <a:latin typeface="Times New Roman"/>
              <a:cs typeface="Times New Roman"/>
            </a:endParaRPr>
          </a:p>
          <a:p>
            <a:pPr marL="0" marR="0" indent="0" algn="ctr">
              <a:lnSpc>
                <a:spcPct val="100000"/>
              </a:lnSpc>
              <a:spcBef>
                <a:spcPts val="399"/>
              </a:spcBef>
              <a:spcAft>
                <a:spcPts val="0"/>
              </a:spcAft>
              <a:defRPr sz="900">
                <a:solidFill>
                  <a:srgbClr val="B4B4BE"/>
                </a:solidFill>
              </a:defRPr>
            </a:pPr>
            <a:r>
              <a:rPr lang="en-US" sz="900" b="0" i="0" strike="noStrike" cap="none" spc="0">
                <a:latin typeface="Calibri"/>
                <a:ea typeface="Calibri"/>
                <a:cs typeface="Calibri"/>
              </a:rPr>
              <a:t>mem-use-anomaly-</a:t>
            </a:r>
            <a:r>
              <a:rPr lang="en-US" sz="900" b="0" i="0" strike="noStrike" cap="none" spc="0">
                <a:latin typeface="Calibri"/>
                <a:ea typeface="Calibri"/>
                <a:cs typeface="Calibri"/>
              </a:rPr>
              <a:t>detection</a:t>
            </a:r>
            <a:r>
              <a:rPr lang="en-US" sz="900" b="0" i="0" u="none" strike="noStrike" cap="none" spc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900" b="0" i="0" u="none" strike="noStrike" cap="none" spc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&amp; </a:t>
            </a:r>
            <a:r>
              <a:rPr lang="en-US" sz="900" b="0" i="0" strike="noStrike" cap="none" spc="0">
                <a:latin typeface="Calibri"/>
                <a:ea typeface="Calibri"/>
                <a:cs typeface="Calibri"/>
              </a:rPr>
              <a:t>high-</a:t>
            </a:r>
            <a:r>
              <a:rPr lang="en-US" sz="900" b="0" i="0" strike="noStrike" cap="none" spc="0">
                <a:latin typeface="Calibri"/>
                <a:ea typeface="Calibri"/>
                <a:cs typeface="Calibri"/>
              </a:rPr>
              <a:t>latency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4">
    <p:bg>
      <p:bgPr shadeToTitle="0">
        <a:solidFill>
          <a:srgbClr val="18162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6112222" name="Text 0"/>
          <p:cNvSpPr txBox="1"/>
          <p:nvPr/>
        </p:nvSpPr>
        <p:spPr bwMode="auto">
          <a:xfrm>
            <a:off x="533399" y="457200"/>
            <a:ext cx="6618767" cy="422242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50"/>
              </a:lnSpc>
              <a:buNone/>
              <a:defRPr/>
            </a:pPr>
            <a:r>
              <a:rPr lang="en-US" sz="3450" b="1" spc="-69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Instrumentation — </a:t>
            </a:r>
            <a:r>
              <a:rPr lang="de-DE" sz="3450" b="1" spc="-68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Key Decitions</a:t>
            </a:r>
            <a:endParaRPr lang="en-US" sz="3450"/>
          </a:p>
        </p:txBody>
      </p:sp>
      <p:pic>
        <p:nvPicPr>
          <p:cNvPr id="745602918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33400" y="1082873"/>
            <a:ext cx="5476875" cy="2496592"/>
          </a:xfrm>
          <a:prstGeom prst="rect">
            <a:avLst/>
          </a:prstGeom>
        </p:spPr>
      </p:pic>
      <p:sp>
        <p:nvSpPr>
          <p:cNvPr id="1826254807" name="Text 1"/>
          <p:cNvSpPr txBox="1"/>
          <p:nvPr/>
        </p:nvSpPr>
        <p:spPr bwMode="auto">
          <a:xfrm>
            <a:off x="752475" y="1282898"/>
            <a:ext cx="5038725" cy="12561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buNone/>
              <a:defRPr/>
            </a:pPr>
            <a:r>
              <a:rPr lang="en-US" sz="850" b="1" spc="99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STRUCTURED LOGGING</a:t>
            </a:r>
            <a:endParaRPr lang="en-US" sz="850"/>
          </a:p>
        </p:txBody>
      </p:sp>
      <p:sp>
        <p:nvSpPr>
          <p:cNvPr id="849075499" name="Text 2"/>
          <p:cNvSpPr txBox="1"/>
          <p:nvPr/>
        </p:nvSpPr>
        <p:spPr bwMode="auto">
          <a:xfrm>
            <a:off x="752475" y="1503758"/>
            <a:ext cx="5038725" cy="2095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  <a:defRPr/>
            </a:pPr>
            <a:r>
              <a:rPr lang="en-US" sz="1500" b="1" spc="-22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structlog JSONRenderer + TimeStamper ISO</a:t>
            </a:r>
            <a:endParaRPr lang="en-US" sz="1500"/>
          </a:p>
        </p:txBody>
      </p:sp>
      <p:pic>
        <p:nvPicPr>
          <p:cNvPr id="919986390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752475" y="1808559"/>
            <a:ext cx="5038725" cy="362843"/>
          </a:xfrm>
          <a:prstGeom prst="rect">
            <a:avLst/>
          </a:prstGeom>
        </p:spPr>
      </p:pic>
      <p:sp>
        <p:nvSpPr>
          <p:cNvPr id="1366399084" name="Text 3"/>
          <p:cNvSpPr txBox="1"/>
          <p:nvPr/>
        </p:nvSpPr>
        <p:spPr bwMode="auto">
          <a:xfrm>
            <a:off x="876299" y="1922859"/>
            <a:ext cx="4791075" cy="14376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08"/>
              </a:lnSpc>
              <a:buNone/>
              <a:defRPr/>
            </a:pPr>
            <a:r>
              <a:rPr lang="en-US" sz="850">
                <a:solidFill>
                  <a:srgbClr val="EAEEF2"/>
                </a:solidFill>
                <a:latin typeface="Inter"/>
                <a:ea typeface="Inter"/>
                <a:cs typeface="Inter"/>
              </a:rPr>
              <a:t>log.info("request_completed", correlation_id, method, path, status_code, latency_ms, level)</a:t>
            </a:r>
            <a:endParaRPr lang="en-US" sz="850"/>
          </a:p>
        </p:txBody>
      </p:sp>
      <p:sp>
        <p:nvSpPr>
          <p:cNvPr id="397013133" name="Text 4"/>
          <p:cNvSpPr txBox="1"/>
          <p:nvPr/>
        </p:nvSpPr>
        <p:spPr bwMode="auto">
          <a:xfrm>
            <a:off x="752475" y="2276177"/>
            <a:ext cx="5038725" cy="382191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0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Decision:</a:t>
            </a:r>
            <a:r>
              <a:rPr lang="en-US" sz="1000">
                <a:solidFill>
                  <a:srgbClr val="EAEDF2">
                    <a:alpha val="80000"/>
                  </a:srgbClr>
                </a:solidFill>
                <a:latin typeface="Inter"/>
                <a:ea typeface="Inter"/>
                <a:cs typeface="Inter"/>
              </a:rPr>
              <a:t> CloudWatch Logs Insights auto-parses JSON → 20+ fields vs 11 Apache. Before: only </a:t>
            </a:r>
            <a:r>
              <a:rPr lang="en-US" sz="1000">
                <a:solidFill>
                  <a:srgbClr val="EAEDF2">
                    <a:alpha val="80000"/>
                  </a:srgbClr>
                </a:solidFill>
                <a:latin typeface="monospace"/>
                <a:ea typeface="monospace"/>
                <a:cs typeface="monospace"/>
              </a:rPr>
              <a:t>91.0.60.169 - - [13/Aug]</a:t>
            </a:r>
            <a:endParaRPr lang="en-US" sz="1000"/>
          </a:p>
        </p:txBody>
      </p:sp>
      <p:pic>
        <p:nvPicPr>
          <p:cNvPr id="2105788143" name="Image 2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6181725" y="1082873"/>
            <a:ext cx="5476875" cy="2496592"/>
          </a:xfrm>
          <a:prstGeom prst="rect">
            <a:avLst/>
          </a:prstGeom>
        </p:spPr>
      </p:pic>
      <p:sp>
        <p:nvSpPr>
          <p:cNvPr id="662670603" name="Text 5"/>
          <p:cNvSpPr txBox="1"/>
          <p:nvPr/>
        </p:nvSpPr>
        <p:spPr bwMode="auto">
          <a:xfrm>
            <a:off x="6400800" y="1282898"/>
            <a:ext cx="5038725" cy="12561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buNone/>
              <a:defRPr/>
            </a:pPr>
            <a:r>
              <a:rPr lang="en-US" sz="850" b="1" spc="99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CORRELATION</a:t>
            </a:r>
            <a:endParaRPr lang="en-US" sz="850"/>
          </a:p>
        </p:txBody>
      </p:sp>
      <p:sp>
        <p:nvSpPr>
          <p:cNvPr id="296634902" name="Text 6"/>
          <p:cNvSpPr txBox="1"/>
          <p:nvPr/>
        </p:nvSpPr>
        <p:spPr bwMode="auto">
          <a:xfrm>
            <a:off x="6400800" y="1503758"/>
            <a:ext cx="5038725" cy="2095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  <a:defRPr/>
            </a:pPr>
            <a:r>
              <a:rPr lang="en-US" sz="1500" b="1" spc="-22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before_request → correlation_id</a:t>
            </a:r>
            <a:endParaRPr lang="en-US" sz="1500"/>
          </a:p>
        </p:txBody>
      </p:sp>
      <p:pic>
        <p:nvPicPr>
          <p:cNvPr id="158373138" name="Image 3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6400800" y="1808559"/>
            <a:ext cx="5038725" cy="516136"/>
          </a:xfrm>
          <a:prstGeom prst="rect">
            <a:avLst/>
          </a:prstGeom>
        </p:spPr>
      </p:pic>
      <p:sp>
        <p:nvSpPr>
          <p:cNvPr id="1870368983" name="Text 7"/>
          <p:cNvSpPr txBox="1"/>
          <p:nvPr/>
        </p:nvSpPr>
        <p:spPr bwMode="auto">
          <a:xfrm>
            <a:off x="6524625" y="1922859"/>
            <a:ext cx="4791075" cy="29706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08"/>
              </a:lnSpc>
              <a:buNone/>
              <a:defRPr/>
            </a:pPr>
            <a:r>
              <a:rPr lang="en-US" sz="850">
                <a:solidFill>
                  <a:srgbClr val="EAEEF2"/>
                </a:solidFill>
                <a:latin typeface="Inter"/>
                <a:ea typeface="Inter"/>
                <a:cs typeface="Inter"/>
              </a:rPr>
              <a:t>g.correlation_id = request.headers.get("X-Correlation-ID", uuid4())</a:t>
            </a:r>
            <a:endParaRPr lang="en-US" sz="850"/>
          </a:p>
          <a:p>
            <a:pPr marL="0" indent="0" algn="l">
              <a:lnSpc>
                <a:spcPts val="1208"/>
              </a:lnSpc>
              <a:buNone/>
              <a:defRPr/>
            </a:pPr>
            <a:r>
              <a:rPr lang="en-US" sz="850">
                <a:solidFill>
                  <a:srgbClr val="EAEEF2"/>
                </a:solidFill>
                <a:latin typeface="Inter"/>
                <a:ea typeface="Inter"/>
                <a:cs typeface="Inter"/>
              </a:rPr>
              <a:t>g.start_time = time()</a:t>
            </a:r>
            <a:endParaRPr lang="en-US" sz="850"/>
          </a:p>
        </p:txBody>
      </p:sp>
      <p:sp>
        <p:nvSpPr>
          <p:cNvPr id="1142921752" name="Text 8"/>
          <p:cNvSpPr txBox="1"/>
          <p:nvPr/>
        </p:nvSpPr>
        <p:spPr bwMode="auto">
          <a:xfrm>
            <a:off x="6400800" y="2429470"/>
            <a:ext cx="5038725" cy="36314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EAEDF2">
                    <a:alpha val="80000"/>
                  </a:srgbClr>
                </a:solidFill>
                <a:latin typeface="Inter"/>
                <a:ea typeface="Inter"/>
                <a:cs typeface="Inter"/>
              </a:rPr>
              <a:t>Tracing without X-Ray. Every log line carries same ID → </a:t>
            </a:r>
            <a:r>
              <a:rPr lang="en-US" sz="1000">
                <a:solidFill>
                  <a:srgbClr val="38BDF8"/>
                </a:solidFill>
                <a:latin typeface="Inter"/>
                <a:ea typeface="Inter"/>
                <a:cs typeface="Inter"/>
              </a:rPr>
              <a:t>filter correlation_id="demo-123"</a:t>
            </a:r>
            <a:r>
              <a:rPr lang="en-US" sz="1000">
                <a:solidFill>
                  <a:srgbClr val="EAEDF2">
                    <a:alpha val="80000"/>
                  </a:srgbClr>
                </a:solidFill>
                <a:latin typeface="Inter"/>
                <a:ea typeface="Inter"/>
                <a:cs typeface="Inter"/>
              </a:rPr>
              <a:t> finds full flow.</a:t>
            </a:r>
            <a:endParaRPr lang="en-US" sz="1000"/>
          </a:p>
        </p:txBody>
      </p:sp>
      <p:pic>
        <p:nvPicPr>
          <p:cNvPr id="996868278" name="Image 4" descr="preencoded.png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533400" y="3750915"/>
            <a:ext cx="5476875" cy="2649885"/>
          </a:xfrm>
          <a:prstGeom prst="rect">
            <a:avLst/>
          </a:prstGeom>
        </p:spPr>
      </p:pic>
      <p:sp>
        <p:nvSpPr>
          <p:cNvPr id="2001647989" name="Text 9"/>
          <p:cNvSpPr txBox="1"/>
          <p:nvPr/>
        </p:nvSpPr>
        <p:spPr bwMode="auto">
          <a:xfrm>
            <a:off x="752475" y="3950940"/>
            <a:ext cx="5038725" cy="12561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buNone/>
              <a:defRPr/>
            </a:pPr>
            <a:r>
              <a:rPr lang="en-US" sz="850" b="1" spc="99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CUSTOM METRICS</a:t>
            </a:r>
            <a:endParaRPr lang="en-US" sz="850"/>
          </a:p>
        </p:txBody>
      </p:sp>
      <p:sp>
        <p:nvSpPr>
          <p:cNvPr id="1947872097" name="Text 10"/>
          <p:cNvSpPr txBox="1"/>
          <p:nvPr/>
        </p:nvSpPr>
        <p:spPr bwMode="auto">
          <a:xfrm>
            <a:off x="752475" y="4171801"/>
            <a:ext cx="5038725" cy="2095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  <a:defRPr/>
            </a:pPr>
            <a:r>
              <a:rPr lang="en-US" sz="1500" b="1" spc="-22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boto3 put_metric_data • Namespace Proj2/MyApp</a:t>
            </a:r>
            <a:endParaRPr lang="en-US" sz="1500"/>
          </a:p>
        </p:txBody>
      </p:sp>
      <p:pic>
        <p:nvPicPr>
          <p:cNvPr id="1946608894" name="Image 5" descr="preencoded.png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752475" y="4476601"/>
            <a:ext cx="5038725" cy="669429"/>
          </a:xfrm>
          <a:prstGeom prst="rect">
            <a:avLst/>
          </a:prstGeom>
        </p:spPr>
      </p:pic>
      <p:sp>
        <p:nvSpPr>
          <p:cNvPr id="495435487" name="Text 11"/>
          <p:cNvSpPr txBox="1"/>
          <p:nvPr/>
        </p:nvSpPr>
        <p:spPr bwMode="auto">
          <a:xfrm>
            <a:off x="876299" y="4590901"/>
            <a:ext cx="4791075" cy="45035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08"/>
              </a:lnSpc>
              <a:buNone/>
              <a:defRPr/>
            </a:pPr>
            <a:r>
              <a:rPr lang="en-US" sz="850">
                <a:solidFill>
                  <a:srgbClr val="EAEEF2"/>
                </a:solidFill>
                <a:latin typeface="Inter"/>
                <a:ea typeface="Inter"/>
                <a:cs typeface="Inter"/>
              </a:rPr>
              <a:t>cloudwatch.put_metric_data(</a:t>
            </a:r>
            <a:endParaRPr lang="en-US" sz="850"/>
          </a:p>
          <a:p>
            <a:pPr marL="0" indent="0" algn="l">
              <a:lnSpc>
                <a:spcPts val="1208"/>
              </a:lnSpc>
              <a:buNone/>
              <a:defRPr/>
            </a:pPr>
            <a:r>
              <a:rPr lang="en-US" sz="850">
                <a:solidFill>
                  <a:srgbClr val="EAEEF2"/>
                </a:solidFill>
                <a:latin typeface="Inter"/>
                <a:ea typeface="Inter"/>
                <a:cs typeface="Inter"/>
              </a:rPr>
              <a:t> Namespace="Proj2/MyApp",</a:t>
            </a:r>
            <a:endParaRPr lang="en-US" sz="850"/>
          </a:p>
          <a:p>
            <a:pPr marL="0" indent="0" algn="l">
              <a:lnSpc>
                <a:spcPts val="1208"/>
              </a:lnSpc>
              <a:buNone/>
              <a:defRPr/>
            </a:pPr>
            <a:r>
              <a:rPr lang="en-US" sz="850">
                <a:solidFill>
                  <a:srgbClr val="EAEEF2"/>
                </a:solidFill>
                <a:latin typeface="Inter"/>
                <a:ea typeface="Inter"/>
                <a:cs typeface="Inter"/>
              </a:rPr>
              <a:t> MetricData=[{Name: "request_count", Value:1, Timestamp:utcnow()}])</a:t>
            </a:r>
            <a:endParaRPr lang="en-US" sz="850"/>
          </a:p>
        </p:txBody>
      </p:sp>
      <p:sp>
        <p:nvSpPr>
          <p:cNvPr id="618712314" name="Text 12"/>
          <p:cNvSpPr txBox="1"/>
          <p:nvPr/>
        </p:nvSpPr>
        <p:spPr bwMode="auto">
          <a:xfrm>
            <a:off x="752475" y="5250805"/>
            <a:ext cx="5038725" cy="36314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EAEDF2">
                    <a:alpha val="80000"/>
                  </a:srgbClr>
                </a:solidFill>
                <a:latin typeface="Inter"/>
                <a:ea typeface="Inter"/>
                <a:cs typeface="Inter"/>
              </a:rPr>
              <a:t>5 signals in after_request + business hook. try/except → </a:t>
            </a:r>
            <a:r>
              <a:rPr lang="en-US" sz="1000" b="1">
                <a:solidFill>
                  <a:srgbClr val="EAEDF2">
                    <a:alpha val="80000"/>
                  </a:srgbClr>
                </a:solidFill>
                <a:latin typeface="Inter"/>
                <a:ea typeface="Inter"/>
                <a:cs typeface="Inter"/>
              </a:rPr>
              <a:t>never crash app</a:t>
            </a:r>
            <a:r>
              <a:rPr lang="en-US" sz="1000">
                <a:solidFill>
                  <a:srgbClr val="EAEDF2">
                    <a:alpha val="80000"/>
                  </a:srgbClr>
                </a:solidFill>
                <a:latin typeface="Inter"/>
                <a:ea typeface="Inter"/>
                <a:cs typeface="Inter"/>
              </a:rPr>
              <a:t> on metric failure.</a:t>
            </a:r>
            <a:endParaRPr lang="en-US" sz="1000"/>
          </a:p>
        </p:txBody>
      </p:sp>
      <p:pic>
        <p:nvPicPr>
          <p:cNvPr id="620426453" name="Image 6" descr="preencoded.png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>
            <a:off x="6181725" y="3750915"/>
            <a:ext cx="5476875" cy="2649885"/>
          </a:xfrm>
          <a:prstGeom prst="rect">
            <a:avLst/>
          </a:prstGeom>
        </p:spPr>
      </p:pic>
      <p:sp>
        <p:nvSpPr>
          <p:cNvPr id="1166162274" name="Text 13"/>
          <p:cNvSpPr txBox="1"/>
          <p:nvPr/>
        </p:nvSpPr>
        <p:spPr bwMode="auto">
          <a:xfrm>
            <a:off x="6400800" y="3950940"/>
            <a:ext cx="5038725" cy="12561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buNone/>
              <a:defRPr/>
            </a:pPr>
            <a:r>
              <a:rPr lang="en-US" sz="850" b="1" spc="99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WHY NOT PROMETHEUS?</a:t>
            </a:r>
            <a:endParaRPr lang="en-US" sz="850"/>
          </a:p>
        </p:txBody>
      </p:sp>
      <p:sp>
        <p:nvSpPr>
          <p:cNvPr id="183792730" name="Text 14"/>
          <p:cNvSpPr txBox="1"/>
          <p:nvPr/>
        </p:nvSpPr>
        <p:spPr bwMode="auto">
          <a:xfrm>
            <a:off x="6400800" y="4171801"/>
            <a:ext cx="5038725" cy="2095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  <a:defRPr/>
            </a:pPr>
            <a:r>
              <a:rPr lang="en-US" sz="1500" b="1" spc="-22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CloudWatch native, no extra infra</a:t>
            </a:r>
            <a:endParaRPr lang="en-US" sz="1500"/>
          </a:p>
        </p:txBody>
      </p:sp>
      <p:sp>
        <p:nvSpPr>
          <p:cNvPr id="1084133428" name="Text 15"/>
          <p:cNvSpPr txBox="1"/>
          <p:nvPr/>
        </p:nvSpPr>
        <p:spPr bwMode="auto">
          <a:xfrm>
            <a:off x="6400800" y="4486126"/>
            <a:ext cx="5038725" cy="54947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EAEDF2">
                    <a:alpha val="80000"/>
                  </a:srgbClr>
                </a:solidFill>
                <a:latin typeface="Inter"/>
                <a:ea typeface="Inter"/>
                <a:cs typeface="Inter"/>
              </a:rPr>
              <a:t>Project constraint No ALB + CloudWatch focus. No sidecar, no scrape config. Logs + metrics in </a:t>
            </a:r>
            <a:r>
              <a:rPr lang="en-US" sz="1000" b="1">
                <a:solidFill>
                  <a:srgbClr val="EAEDF2">
                    <a:alpha val="80000"/>
                  </a:srgbClr>
                </a:solidFill>
                <a:latin typeface="Inter"/>
                <a:ea typeface="Inter"/>
                <a:cs typeface="Inter"/>
              </a:rPr>
              <a:t>one place</a:t>
            </a:r>
            <a:r>
              <a:rPr lang="en-US" sz="1000">
                <a:solidFill>
                  <a:srgbClr val="EAEDF2">
                    <a:alpha val="80000"/>
                  </a:srgbClr>
                </a:solidFill>
                <a:latin typeface="Inter"/>
                <a:ea typeface="Inter"/>
                <a:cs typeface="Inter"/>
              </a:rPr>
              <a:t> for Logs Insights correlation. Cost: standard resolution 60s vs High-Res 10 costs more.</a:t>
            </a:r>
            <a:endParaRPr lang="en-US" sz="1000"/>
          </a:p>
        </p:txBody>
      </p:sp>
      <p:pic>
        <p:nvPicPr>
          <p:cNvPr id="1979447936" name="Image 7" descr="preencoded.png"/>
          <p:cNvPicPr>
            <a:picLocks noChangeAspect="1"/>
          </p:cNvPicPr>
          <p:nvPr/>
        </p:nvPicPr>
        <p:blipFill rotWithShape="1">
          <a:blip r:embed="rId10"/>
          <a:stretch/>
        </p:blipFill>
        <p:spPr bwMode="auto">
          <a:xfrm>
            <a:off x="6400800" y="5130850"/>
            <a:ext cx="5038725" cy="219074"/>
          </a:xfrm>
          <a:prstGeom prst="rect">
            <a:avLst/>
          </a:prstGeom>
        </p:spPr>
      </p:pic>
      <p:sp>
        <p:nvSpPr>
          <p:cNvPr id="743838979" name="Text 16"/>
          <p:cNvSpPr txBox="1"/>
          <p:nvPr/>
        </p:nvSpPr>
        <p:spPr bwMode="auto">
          <a:xfrm>
            <a:off x="6477000" y="5178475"/>
            <a:ext cx="4886325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 b="1" spc="45">
                <a:solidFill>
                  <a:srgbClr val="38BDF8"/>
                </a:solidFill>
                <a:latin typeface="Inter"/>
                <a:ea typeface="Inter"/>
                <a:cs typeface="Inter"/>
              </a:rPr>
              <a:t>EXAM ALIGNED • LEAST PRIVILEGE • SIMPLE</a:t>
            </a:r>
            <a:endParaRPr lang="en-US" sz="7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5">
    <p:bg>
      <p:bgPr shadeToTitle="0">
        <a:solidFill>
          <a:srgbClr val="18162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9248501" name="Text 0"/>
          <p:cNvSpPr txBox="1"/>
          <p:nvPr/>
        </p:nvSpPr>
        <p:spPr bwMode="auto">
          <a:xfrm>
            <a:off x="533399" y="457200"/>
            <a:ext cx="3907618" cy="416482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50"/>
              </a:lnSpc>
              <a:buNone/>
              <a:defRPr/>
            </a:pPr>
            <a:r>
              <a:rPr lang="en-US" sz="3450" b="1" spc="-69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Structured Logging </a:t>
            </a:r>
            <a:endParaRPr lang="en-US" sz="3450"/>
          </a:p>
        </p:txBody>
      </p:sp>
      <p:sp>
        <p:nvSpPr>
          <p:cNvPr id="936802513" name="Text 3"/>
          <p:cNvSpPr txBox="1"/>
          <p:nvPr/>
        </p:nvSpPr>
        <p:spPr bwMode="auto">
          <a:xfrm>
            <a:off x="533399" y="4416622"/>
            <a:ext cx="756" cy="17359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65"/>
              </a:lnSpc>
              <a:buNone/>
              <a:defRPr/>
            </a:pPr>
            <a:endParaRPr lang="en-US" sz="1000"/>
          </a:p>
        </p:txBody>
      </p:sp>
      <p:sp>
        <p:nvSpPr>
          <p:cNvPr id="36340668" name="Text 8"/>
          <p:cNvSpPr txBox="1"/>
          <p:nvPr/>
        </p:nvSpPr>
        <p:spPr bwMode="auto">
          <a:xfrm>
            <a:off x="3490019" y="1325661"/>
            <a:ext cx="5211961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850" b="1" spc="99">
                <a:solidFill>
                  <a:srgbClr val="67F4E2"/>
                </a:solidFill>
                <a:latin typeface="Inter"/>
                <a:ea typeface="Inter"/>
                <a:cs typeface="Inter"/>
              </a:rPr>
              <a:t>OUTPUT — app.log / journalctl -u myapp</a:t>
            </a:r>
            <a:endParaRPr lang="en-US" sz="850"/>
          </a:p>
        </p:txBody>
      </p:sp>
      <p:pic>
        <p:nvPicPr>
          <p:cNvPr id="1025292807" name="Image 1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775203" y="1847849"/>
            <a:ext cx="5211961" cy="3152775"/>
          </a:xfrm>
          <a:prstGeom prst="rect">
            <a:avLst/>
          </a:prstGeom>
        </p:spPr>
      </p:pic>
      <p:sp>
        <p:nvSpPr>
          <p:cNvPr id="1642771472" name="Text 9"/>
          <p:cNvSpPr txBox="1"/>
          <p:nvPr/>
        </p:nvSpPr>
        <p:spPr bwMode="auto">
          <a:xfrm>
            <a:off x="2956178" y="2019299"/>
            <a:ext cx="4850011" cy="281940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850">
                <a:solidFill>
                  <a:srgbClr val="EAEEF2"/>
                </a:solidFill>
                <a:latin typeface="Inter"/>
                <a:ea typeface="Inter"/>
                <a:cs typeface="Inter"/>
              </a:rPr>
              <a:t> {</a:t>
            </a:r>
            <a:endParaRPr lang="en-US" sz="850"/>
          </a:p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850">
                <a:solidFill>
                  <a:srgbClr val="EAEEF2"/>
                </a:solidFill>
                <a:latin typeface="Inter"/>
                <a:ea typeface="Inter"/>
                <a:cs typeface="Inter"/>
              </a:rPr>
              <a:t> "event": "order_created",</a:t>
            </a:r>
            <a:endParaRPr lang="en-US" sz="850"/>
          </a:p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850">
                <a:solidFill>
                  <a:srgbClr val="EAEEF2"/>
                </a:solidFill>
                <a:latin typeface="Inter"/>
                <a:ea typeface="Inter"/>
                <a:cs typeface="Inter"/>
              </a:rPr>
              <a:t> "order_id": "09bcdd18-fd61-48b5-94a8...",</a:t>
            </a:r>
            <a:endParaRPr lang="en-US" sz="850"/>
          </a:p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850">
                <a:solidFill>
                  <a:srgbClr val="EAEEF2"/>
                </a:solidFill>
                <a:latin typeface="Inter"/>
                <a:ea typeface="Inter"/>
                <a:cs typeface="Inter"/>
              </a:rPr>
              <a:t> "amount": 150,</a:t>
            </a:r>
            <a:endParaRPr lang="en-US" sz="850"/>
          </a:p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850">
                <a:solidFill>
                  <a:srgbClr val="EAEEF2"/>
                </a:solidFill>
                <a:latin typeface="Inter"/>
                <a:ea typeface="Inter"/>
                <a:cs typeface="Inter"/>
              </a:rPr>
              <a:t> "correlation_id": "51e9ef29-4528-4582-a712...",</a:t>
            </a:r>
            <a:endParaRPr lang="en-US" sz="850"/>
          </a:p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850">
                <a:solidFill>
                  <a:srgbClr val="EAEEF2"/>
                </a:solidFill>
                <a:latin typeface="Inter"/>
                <a:ea typeface="Inter"/>
                <a:cs typeface="Inter"/>
              </a:rPr>
              <a:t> "timestamp": "2026-08-13T12:58:26.558Z"</a:t>
            </a:r>
            <a:endParaRPr lang="en-US" sz="850"/>
          </a:p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850">
                <a:solidFill>
                  <a:srgbClr val="EAEEF2"/>
                </a:solidFill>
                <a:latin typeface="Inter"/>
                <a:ea typeface="Inter"/>
                <a:cs typeface="Inter"/>
              </a:rPr>
              <a:t> }</a:t>
            </a:r>
            <a:endParaRPr lang="en-US" sz="850"/>
          </a:p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850">
                <a:solidFill>
                  <a:srgbClr val="EAEEF2"/>
                </a:solidFill>
                <a:latin typeface="Inter"/>
                <a:ea typeface="Inter"/>
                <a:cs typeface="Inter"/>
              </a:rPr>
              <a:t> {</a:t>
            </a:r>
            <a:endParaRPr lang="en-US" sz="850"/>
          </a:p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850">
                <a:solidFill>
                  <a:srgbClr val="EAEEF2"/>
                </a:solidFill>
                <a:latin typeface="Inter"/>
                <a:ea typeface="Inter"/>
                <a:cs typeface="Inter"/>
              </a:rPr>
              <a:t> "event": "request_completed",</a:t>
            </a:r>
            <a:endParaRPr lang="en-US" sz="850"/>
          </a:p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850">
                <a:solidFill>
                  <a:srgbClr val="EAEEF2"/>
                </a:solidFill>
                <a:latin typeface="Inter"/>
                <a:ea typeface="Inter"/>
                <a:cs typeface="Inter"/>
              </a:rPr>
              <a:t> "correlation_id": "51e9ef29...",</a:t>
            </a:r>
            <a:endParaRPr lang="en-US" sz="850"/>
          </a:p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850">
                <a:solidFill>
                  <a:srgbClr val="EAEEF2"/>
                </a:solidFill>
                <a:latin typeface="Inter"/>
                <a:ea typeface="Inter"/>
                <a:cs typeface="Inter"/>
              </a:rPr>
              <a:t> "method": "POST",</a:t>
            </a:r>
            <a:endParaRPr lang="en-US" sz="850"/>
          </a:p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850">
                <a:solidFill>
                  <a:srgbClr val="EAEEF2"/>
                </a:solidFill>
                <a:latin typeface="Inter"/>
                <a:ea typeface="Inter"/>
                <a:cs typeface="Inter"/>
              </a:rPr>
              <a:t> "path": "/orders",</a:t>
            </a:r>
            <a:endParaRPr lang="en-US" sz="850"/>
          </a:p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850">
                <a:solidFill>
                  <a:srgbClr val="EAEEF2"/>
                </a:solidFill>
                <a:latin typeface="Inter"/>
                <a:ea typeface="Inter"/>
                <a:cs typeface="Inter"/>
              </a:rPr>
              <a:t> "status_code": 201,</a:t>
            </a:r>
            <a:endParaRPr lang="en-US" sz="850"/>
          </a:p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850">
                <a:solidFill>
                  <a:srgbClr val="EAEEF2"/>
                </a:solidFill>
                <a:latin typeface="Inter"/>
                <a:ea typeface="Inter"/>
                <a:cs typeface="Inter"/>
              </a:rPr>
              <a:t> "latency_ms": 41,</a:t>
            </a:r>
            <a:endParaRPr lang="en-US" sz="850"/>
          </a:p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850">
                <a:solidFill>
                  <a:srgbClr val="EAEEF2"/>
                </a:solidFill>
                <a:latin typeface="Inter"/>
                <a:ea typeface="Inter"/>
                <a:cs typeface="Inter"/>
              </a:rPr>
              <a:t> "level": "INFO",</a:t>
            </a:r>
            <a:endParaRPr lang="en-US" sz="850"/>
          </a:p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850">
                <a:solidFill>
                  <a:srgbClr val="EAEEF2"/>
                </a:solidFill>
                <a:latin typeface="Inter"/>
                <a:ea typeface="Inter"/>
                <a:cs typeface="Inter"/>
              </a:rPr>
              <a:t> "timestamp": "2026-08-13T12:58:26.599Z"</a:t>
            </a:r>
            <a:endParaRPr lang="en-US" sz="850"/>
          </a:p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850">
                <a:solidFill>
                  <a:srgbClr val="EAEEF2"/>
                </a:solidFill>
                <a:latin typeface="Inter"/>
                <a:ea typeface="Inter"/>
                <a:cs typeface="Inter"/>
              </a:rPr>
              <a:t> } </a:t>
            </a:r>
            <a:endParaRPr lang="en-US" sz="8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6">
    <p:bg>
      <p:bgPr shadeToTitle="0">
        <a:solidFill>
          <a:srgbClr val="18162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7156187" name="Text 0"/>
          <p:cNvSpPr txBox="1"/>
          <p:nvPr/>
        </p:nvSpPr>
        <p:spPr bwMode="auto">
          <a:xfrm>
            <a:off x="533400" y="1418332"/>
            <a:ext cx="11125200" cy="950416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3900" b="1" spc="-77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Custom Metrics — </a:t>
            </a:r>
            <a:r>
              <a:rPr lang="en-US" sz="3900" b="1" spc="-77">
                <a:solidFill>
                  <a:srgbClr val="67F4E2"/>
                </a:solidFill>
                <a:latin typeface="Inter"/>
                <a:ea typeface="Inter"/>
                <a:cs typeface="Inter"/>
              </a:rPr>
              <a:t>5 signals</a:t>
            </a:r>
            <a:r>
              <a:rPr lang="en-US" sz="3900" b="1" spc="-77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 via boto3 put_metric_data</a:t>
            </a:r>
            <a:endParaRPr lang="en-US" sz="3900"/>
          </a:p>
        </p:txBody>
      </p:sp>
      <p:pic>
        <p:nvPicPr>
          <p:cNvPr id="1454868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33400" y="2635448"/>
            <a:ext cx="3619500" cy="1167705"/>
          </a:xfrm>
          <a:prstGeom prst="rect">
            <a:avLst/>
          </a:prstGeom>
        </p:spPr>
      </p:pic>
      <p:sp>
        <p:nvSpPr>
          <p:cNvPr id="1500259802" name="Text 1"/>
          <p:cNvSpPr txBox="1"/>
          <p:nvPr/>
        </p:nvSpPr>
        <p:spPr bwMode="auto">
          <a:xfrm>
            <a:off x="857250" y="2806898"/>
            <a:ext cx="3114675" cy="20478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88"/>
              </a:lnSpc>
              <a:buNone/>
              <a:defRPr/>
            </a:pPr>
            <a:r>
              <a:rPr lang="en-US" sz="1150" b="1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request_count</a:t>
            </a:r>
            <a:endParaRPr lang="en-US" sz="1150"/>
          </a:p>
        </p:txBody>
      </p:sp>
      <p:pic>
        <p:nvPicPr>
          <p:cNvPr id="1878408952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714375" y="2871192"/>
            <a:ext cx="66675" cy="66675"/>
          </a:xfrm>
          <a:prstGeom prst="rect">
            <a:avLst/>
          </a:prstGeom>
        </p:spPr>
      </p:pic>
      <p:sp>
        <p:nvSpPr>
          <p:cNvPr id="484905423" name="Text 2"/>
          <p:cNvSpPr txBox="1"/>
          <p:nvPr/>
        </p:nvSpPr>
        <p:spPr bwMode="auto">
          <a:xfrm>
            <a:off x="714375" y="2867025"/>
            <a:ext cx="66675" cy="66675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endParaRPr lang="en-US"/>
          </a:p>
        </p:txBody>
      </p:sp>
      <p:sp>
        <p:nvSpPr>
          <p:cNvPr id="38014991" name="Text 3"/>
          <p:cNvSpPr txBox="1"/>
          <p:nvPr/>
        </p:nvSpPr>
        <p:spPr bwMode="auto">
          <a:xfrm>
            <a:off x="714375" y="3097411"/>
            <a:ext cx="3257550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850" b="1" spc="66">
                <a:solidFill>
                  <a:srgbClr val="67F4E2"/>
                </a:solidFill>
                <a:latin typeface="Inter"/>
                <a:ea typeface="Inter"/>
                <a:cs typeface="Inter"/>
              </a:rPr>
              <a:t>COUNT • Sum • after_request</a:t>
            </a:r>
            <a:endParaRPr lang="en-US" sz="850"/>
          </a:p>
        </p:txBody>
      </p:sp>
      <p:sp>
        <p:nvSpPr>
          <p:cNvPr id="1760440647" name="Text 4"/>
          <p:cNvSpPr txBox="1"/>
          <p:nvPr/>
        </p:nvSpPr>
        <p:spPr bwMode="auto">
          <a:xfrm>
            <a:off x="714375" y="3321248"/>
            <a:ext cx="3257550" cy="31998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  <a:defRPr/>
            </a:pPr>
            <a:r>
              <a:rPr lang="en-US" sz="900">
                <a:solidFill>
                  <a:srgbClr val="EAEEF2">
                    <a:alpha val="75000"/>
                  </a:srgbClr>
                </a:solidFill>
                <a:latin typeface="Inter"/>
                <a:ea typeface="Inter"/>
                <a:cs typeface="Inter"/>
              </a:rPr>
              <a:t>Every request increments. Fuels Rate &amp; health. Never rely on ALB logs.</a:t>
            </a:r>
            <a:endParaRPr lang="en-US" sz="900"/>
          </a:p>
        </p:txBody>
      </p:sp>
      <p:pic>
        <p:nvPicPr>
          <p:cNvPr id="991081917" name="Image 2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4286250" y="2635448"/>
            <a:ext cx="3619500" cy="1167705"/>
          </a:xfrm>
          <a:prstGeom prst="rect">
            <a:avLst/>
          </a:prstGeom>
        </p:spPr>
      </p:pic>
      <p:sp>
        <p:nvSpPr>
          <p:cNvPr id="262280437" name="Text 5"/>
          <p:cNvSpPr txBox="1"/>
          <p:nvPr/>
        </p:nvSpPr>
        <p:spPr bwMode="auto">
          <a:xfrm>
            <a:off x="4610100" y="2806898"/>
            <a:ext cx="3114675" cy="20478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88"/>
              </a:lnSpc>
              <a:buNone/>
              <a:defRPr/>
            </a:pPr>
            <a:r>
              <a:rPr lang="en-US" sz="1150" b="1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api_latency</a:t>
            </a:r>
            <a:endParaRPr lang="en-US" sz="1150"/>
          </a:p>
        </p:txBody>
      </p:sp>
      <p:pic>
        <p:nvPicPr>
          <p:cNvPr id="105555443" name="Image 3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4467225" y="2871192"/>
            <a:ext cx="66675" cy="66675"/>
          </a:xfrm>
          <a:prstGeom prst="rect">
            <a:avLst/>
          </a:prstGeom>
        </p:spPr>
      </p:pic>
      <p:sp>
        <p:nvSpPr>
          <p:cNvPr id="1361882263" name="Text 6"/>
          <p:cNvSpPr txBox="1"/>
          <p:nvPr/>
        </p:nvSpPr>
        <p:spPr bwMode="auto">
          <a:xfrm>
            <a:off x="4467225" y="2867025"/>
            <a:ext cx="66675" cy="66675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endParaRPr lang="en-US"/>
          </a:p>
        </p:txBody>
      </p:sp>
      <p:sp>
        <p:nvSpPr>
          <p:cNvPr id="650751685" name="Text 7"/>
          <p:cNvSpPr txBox="1"/>
          <p:nvPr/>
        </p:nvSpPr>
        <p:spPr bwMode="auto">
          <a:xfrm>
            <a:off x="4467225" y="3097411"/>
            <a:ext cx="3257550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850" b="1" spc="66">
                <a:solidFill>
                  <a:srgbClr val="67F4E2"/>
                </a:solidFill>
                <a:latin typeface="Inter"/>
                <a:ea typeface="Inter"/>
                <a:cs typeface="Inter"/>
              </a:rPr>
              <a:t>MILLISECONDS • Avg/Max/P95</a:t>
            </a:r>
            <a:endParaRPr lang="en-US" sz="850"/>
          </a:p>
        </p:txBody>
      </p:sp>
      <p:sp>
        <p:nvSpPr>
          <p:cNvPr id="1778867169" name="Text 8"/>
          <p:cNvSpPr txBox="1"/>
          <p:nvPr/>
        </p:nvSpPr>
        <p:spPr bwMode="auto">
          <a:xfrm>
            <a:off x="4467225" y="3321248"/>
            <a:ext cx="3257550" cy="15999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0"/>
              </a:lnSpc>
              <a:buNone/>
              <a:defRPr/>
            </a:pPr>
            <a:r>
              <a:rPr lang="en-US" sz="900">
                <a:solidFill>
                  <a:srgbClr val="EAEEF2">
                    <a:alpha val="75000"/>
                  </a:srgbClr>
                </a:solidFill>
                <a:latin typeface="Inter"/>
                <a:ea typeface="Inter"/>
                <a:cs typeface="Inter"/>
              </a:rPr>
              <a:t>latency_ms = (now - g.start)*1000. Duration golden signal.</a:t>
            </a:r>
            <a:endParaRPr lang="en-US" sz="900"/>
          </a:p>
        </p:txBody>
      </p:sp>
      <p:pic>
        <p:nvPicPr>
          <p:cNvPr id="893502966" name="Image 4" descr="preencoded.png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8039100" y="2635448"/>
            <a:ext cx="3619500" cy="1167705"/>
          </a:xfrm>
          <a:prstGeom prst="rect">
            <a:avLst/>
          </a:prstGeom>
        </p:spPr>
      </p:pic>
      <p:sp>
        <p:nvSpPr>
          <p:cNvPr id="1698927148" name="Text 9"/>
          <p:cNvSpPr txBox="1"/>
          <p:nvPr/>
        </p:nvSpPr>
        <p:spPr bwMode="auto">
          <a:xfrm>
            <a:off x="8362950" y="2806898"/>
            <a:ext cx="3114675" cy="20478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88"/>
              </a:lnSpc>
              <a:buNone/>
              <a:defRPr/>
            </a:pPr>
            <a:r>
              <a:rPr lang="en-US" sz="1150" b="1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error_count</a:t>
            </a:r>
            <a:endParaRPr lang="en-US" sz="1150"/>
          </a:p>
        </p:txBody>
      </p:sp>
      <p:pic>
        <p:nvPicPr>
          <p:cNvPr id="327889450" name="Image 5" descr="preencoded.png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8220075" y="2871192"/>
            <a:ext cx="66675" cy="66675"/>
          </a:xfrm>
          <a:prstGeom prst="rect">
            <a:avLst/>
          </a:prstGeom>
        </p:spPr>
      </p:pic>
      <p:sp>
        <p:nvSpPr>
          <p:cNvPr id="1509191607" name="Text 10"/>
          <p:cNvSpPr txBox="1"/>
          <p:nvPr/>
        </p:nvSpPr>
        <p:spPr bwMode="auto">
          <a:xfrm>
            <a:off x="8220075" y="2867025"/>
            <a:ext cx="66675" cy="66675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endParaRPr lang="en-US"/>
          </a:p>
        </p:txBody>
      </p:sp>
      <p:sp>
        <p:nvSpPr>
          <p:cNvPr id="951196033" name="Text 11"/>
          <p:cNvSpPr txBox="1"/>
          <p:nvPr/>
        </p:nvSpPr>
        <p:spPr bwMode="auto">
          <a:xfrm>
            <a:off x="8220075" y="3097411"/>
            <a:ext cx="3257550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850" b="1" spc="66">
                <a:solidFill>
                  <a:srgbClr val="67F4E2"/>
                </a:solidFill>
                <a:latin typeface="Inter"/>
                <a:ea typeface="Inter"/>
                <a:cs typeface="Inter"/>
              </a:rPr>
              <a:t>COUNT • Sum • if status &gt;=400</a:t>
            </a:r>
            <a:endParaRPr lang="en-US" sz="850"/>
          </a:p>
        </p:txBody>
      </p:sp>
      <p:sp>
        <p:nvSpPr>
          <p:cNvPr id="1774474690" name="Text 12"/>
          <p:cNvSpPr txBox="1"/>
          <p:nvPr/>
        </p:nvSpPr>
        <p:spPr bwMode="auto">
          <a:xfrm>
            <a:off x="8220075" y="3321248"/>
            <a:ext cx="3257550" cy="31998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  <a:defRPr/>
            </a:pPr>
            <a:r>
              <a:rPr lang="en-US" sz="900">
                <a:solidFill>
                  <a:srgbClr val="EAEEF2">
                    <a:alpha val="75000"/>
                  </a:srgbClr>
                </a:solidFill>
                <a:latin typeface="Inter"/>
                <a:ea typeface="Inter"/>
                <a:cs typeface="Inter"/>
              </a:rPr>
              <a:t>Errors golden signal. Triggers high-error alarm when &gt;5 in 2x60s.</a:t>
            </a:r>
            <a:endParaRPr lang="en-US" sz="900"/>
          </a:p>
        </p:txBody>
      </p:sp>
      <p:pic>
        <p:nvPicPr>
          <p:cNvPr id="223737808" name="Image 6" descr="preencoded.png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>
            <a:off x="533400" y="4069854"/>
            <a:ext cx="5495925" cy="736253"/>
          </a:xfrm>
          <a:prstGeom prst="rect">
            <a:avLst/>
          </a:prstGeom>
        </p:spPr>
      </p:pic>
      <p:sp>
        <p:nvSpPr>
          <p:cNvPr id="605130910" name="Text 13"/>
          <p:cNvSpPr txBox="1"/>
          <p:nvPr/>
        </p:nvSpPr>
        <p:spPr bwMode="auto">
          <a:xfrm>
            <a:off x="714375" y="4241304"/>
            <a:ext cx="2353717" cy="20478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88"/>
              </a:lnSpc>
              <a:buNone/>
              <a:defRPr/>
            </a:pPr>
            <a:r>
              <a:rPr lang="en-US" sz="1150" b="1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orders_per_minute</a:t>
            </a:r>
            <a:endParaRPr lang="en-US" sz="1150"/>
          </a:p>
        </p:txBody>
      </p:sp>
      <p:sp>
        <p:nvSpPr>
          <p:cNvPr id="968493560" name="Text 14"/>
          <p:cNvSpPr txBox="1"/>
          <p:nvPr/>
        </p:nvSpPr>
        <p:spPr bwMode="auto">
          <a:xfrm>
            <a:off x="714375" y="4484191"/>
            <a:ext cx="2353717" cy="15999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buNone/>
              <a:defRPr/>
            </a:pPr>
            <a:r>
              <a:rPr lang="en-US" sz="900">
                <a:solidFill>
                  <a:srgbClr val="EAEEF2">
                    <a:alpha val="75000"/>
                  </a:srgbClr>
                </a:solidFill>
                <a:latin typeface="Inter"/>
                <a:ea typeface="Inter"/>
                <a:cs typeface="Inter"/>
              </a:rPr>
              <a:t>Business saturation signal. Sum per minute.</a:t>
            </a:r>
            <a:endParaRPr lang="en-US" sz="900"/>
          </a:p>
        </p:txBody>
      </p:sp>
      <p:sp>
        <p:nvSpPr>
          <p:cNvPr id="1364228328" name="Text 15"/>
          <p:cNvSpPr txBox="1"/>
          <p:nvPr/>
        </p:nvSpPr>
        <p:spPr bwMode="auto">
          <a:xfrm>
            <a:off x="5258692" y="4368850"/>
            <a:ext cx="589657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850" b="1" spc="66">
                <a:solidFill>
                  <a:srgbClr val="67F4E2"/>
                </a:solidFill>
                <a:latin typeface="Inter"/>
                <a:ea typeface="Inter"/>
                <a:cs typeface="Inter"/>
              </a:rPr>
              <a:t>BUSINESS</a:t>
            </a:r>
            <a:endParaRPr lang="en-US" sz="850"/>
          </a:p>
        </p:txBody>
      </p:sp>
      <p:pic>
        <p:nvPicPr>
          <p:cNvPr id="6170282" name="Image 7" descr="preencoded.png"/>
          <p:cNvPicPr>
            <a:picLocks noChangeAspect="1"/>
          </p:cNvPicPr>
          <p:nvPr/>
        </p:nvPicPr>
        <p:blipFill rotWithShape="1">
          <a:blip r:embed="rId10"/>
          <a:stretch/>
        </p:blipFill>
        <p:spPr bwMode="auto">
          <a:xfrm>
            <a:off x="6162675" y="4069854"/>
            <a:ext cx="5495925" cy="736253"/>
          </a:xfrm>
          <a:prstGeom prst="rect">
            <a:avLst/>
          </a:prstGeom>
        </p:spPr>
      </p:pic>
      <p:sp>
        <p:nvSpPr>
          <p:cNvPr id="201304447" name="Text 16"/>
          <p:cNvSpPr txBox="1"/>
          <p:nvPr/>
        </p:nvSpPr>
        <p:spPr bwMode="auto">
          <a:xfrm>
            <a:off x="6343650" y="4241304"/>
            <a:ext cx="2486769" cy="20478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88"/>
              </a:lnSpc>
              <a:buNone/>
              <a:defRPr/>
            </a:pPr>
            <a:r>
              <a:rPr lang="en-US" sz="1150" b="1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order_value</a:t>
            </a:r>
            <a:endParaRPr lang="en-US" sz="1150"/>
          </a:p>
        </p:txBody>
      </p:sp>
      <p:sp>
        <p:nvSpPr>
          <p:cNvPr id="963568593" name="Text 17"/>
          <p:cNvSpPr txBox="1"/>
          <p:nvPr/>
        </p:nvSpPr>
        <p:spPr bwMode="auto">
          <a:xfrm>
            <a:off x="6343650" y="4484191"/>
            <a:ext cx="2486769" cy="15999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buNone/>
              <a:defRPr/>
            </a:pPr>
            <a:r>
              <a:rPr lang="en-US" sz="900">
                <a:solidFill>
                  <a:srgbClr val="EAEEF2">
                    <a:alpha val="75000"/>
                  </a:srgbClr>
                </a:solidFill>
                <a:latin typeface="Inter"/>
                <a:ea typeface="Inter"/>
                <a:cs typeface="Inter"/>
              </a:rPr>
              <a:t>Amount metric. Tracks revenue proxy, no unit.</a:t>
            </a:r>
            <a:endParaRPr lang="en-US" sz="900"/>
          </a:p>
        </p:txBody>
      </p:sp>
      <p:sp>
        <p:nvSpPr>
          <p:cNvPr id="458280895" name="Text 18"/>
          <p:cNvSpPr txBox="1"/>
          <p:nvPr/>
        </p:nvSpPr>
        <p:spPr bwMode="auto">
          <a:xfrm>
            <a:off x="11174611" y="4368850"/>
            <a:ext cx="303014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850" b="1" spc="66">
                <a:solidFill>
                  <a:srgbClr val="67F4E2"/>
                </a:solidFill>
                <a:latin typeface="Inter"/>
                <a:ea typeface="Inter"/>
                <a:cs typeface="Inter"/>
              </a:rPr>
              <a:t>None</a:t>
            </a:r>
            <a:endParaRPr lang="en-US" sz="850"/>
          </a:p>
        </p:txBody>
      </p:sp>
      <p:pic>
        <p:nvPicPr>
          <p:cNvPr id="1034882240" name="Image 8" descr="preencoded.png"/>
          <p:cNvPicPr>
            <a:picLocks noChangeAspect="1"/>
          </p:cNvPicPr>
          <p:nvPr/>
        </p:nvPicPr>
        <p:blipFill rotWithShape="1">
          <a:blip r:embed="rId11"/>
          <a:stretch/>
        </p:blipFill>
        <p:spPr bwMode="auto">
          <a:xfrm>
            <a:off x="533400" y="5072807"/>
            <a:ext cx="11125200" cy="366713"/>
          </a:xfrm>
          <a:prstGeom prst="rect">
            <a:avLst/>
          </a:prstGeom>
        </p:spPr>
      </p:pic>
      <p:sp>
        <p:nvSpPr>
          <p:cNvPr id="297880249" name="Text 19"/>
          <p:cNvSpPr txBox="1"/>
          <p:nvPr/>
        </p:nvSpPr>
        <p:spPr bwMode="auto">
          <a:xfrm>
            <a:off x="676275" y="5187107"/>
            <a:ext cx="10839450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8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Namespace Proj2/MyApp • Timestamp utcnow • try/except so metric failure never crashes app • boto3 client = boto3.client('cloudwatch', region_name='us-east-1')</a:t>
            </a:r>
            <a:endParaRPr lang="en-US" sz="8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7">
    <p:bg>
      <p:bgPr shadeToTitle="0">
        <a:solidFill>
          <a:srgbClr val="18162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18671" name="Text 0"/>
          <p:cNvSpPr txBox="1"/>
          <p:nvPr/>
        </p:nvSpPr>
        <p:spPr bwMode="auto">
          <a:xfrm>
            <a:off x="533400" y="495300"/>
            <a:ext cx="11125200" cy="44380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>
              <a:buNone/>
              <a:defRPr/>
            </a:pPr>
            <a:r>
              <a:rPr lang="en-US" sz="3600" b="1" spc="-72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Live Demo Plan — </a:t>
            </a:r>
            <a:r>
              <a:rPr lang="en-US" sz="3600" b="1" spc="-72">
                <a:solidFill>
                  <a:srgbClr val="67F4E2"/>
                </a:solidFill>
                <a:latin typeface="Inter"/>
                <a:ea typeface="Inter"/>
                <a:cs typeface="Inter"/>
              </a:rPr>
              <a:t>proj2-dashboard</a:t>
            </a:r>
            <a:endParaRPr lang="en-US" sz="3600"/>
          </a:p>
        </p:txBody>
      </p:sp>
      <p:pic>
        <p:nvPicPr>
          <p:cNvPr id="1404461070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33400" y="2217093"/>
            <a:ext cx="3048000" cy="814983"/>
          </a:xfrm>
          <a:prstGeom prst="rect">
            <a:avLst/>
          </a:prstGeom>
        </p:spPr>
      </p:pic>
      <p:sp>
        <p:nvSpPr>
          <p:cNvPr id="735902669" name="Text 1"/>
          <p:cNvSpPr txBox="1"/>
          <p:nvPr/>
        </p:nvSpPr>
        <p:spPr bwMode="auto">
          <a:xfrm>
            <a:off x="695325" y="2359968"/>
            <a:ext cx="2724150" cy="12561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spcAft>
                <a:spcPts val="450"/>
              </a:spcAft>
              <a:buNone/>
              <a:defRPr/>
            </a:pPr>
            <a:r>
              <a:rPr lang="en-US" sz="850" b="1" spc="99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DASHBOARD</a:t>
            </a:r>
            <a:endParaRPr lang="en-US" sz="850"/>
          </a:p>
        </p:txBody>
      </p:sp>
      <p:sp>
        <p:nvSpPr>
          <p:cNvPr id="2089585554" name="Text 2"/>
          <p:cNvSpPr txBox="1"/>
          <p:nvPr/>
        </p:nvSpPr>
        <p:spPr bwMode="auto">
          <a:xfrm>
            <a:off x="695325" y="2552254"/>
            <a:ext cx="2724150" cy="33694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0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proj2-dashboard</a:t>
            </a:r>
            <a:r>
              <a:rPr lang="en-US" sz="1000">
                <a:solidFill>
                  <a:srgbClr val="EAEDF2">
                    <a:alpha val="80000"/>
                  </a:srgbClr>
                </a:solidFill>
                <a:latin typeface="Inter"/>
                <a:ea typeface="Inter"/>
                <a:cs typeface="Inter"/>
              </a:rPr>
              <a:t> • 12 widgets • Period 60s • Region us-east-1 • Auto-refresh 60s</a:t>
            </a:r>
            <a:endParaRPr lang="en-US" sz="1000"/>
          </a:p>
        </p:txBody>
      </p:sp>
      <p:pic>
        <p:nvPicPr>
          <p:cNvPr id="691083224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533400" y="3165425"/>
            <a:ext cx="3048000" cy="988219"/>
          </a:xfrm>
          <a:prstGeom prst="rect">
            <a:avLst/>
          </a:prstGeom>
        </p:spPr>
      </p:pic>
      <p:sp>
        <p:nvSpPr>
          <p:cNvPr id="1189602982" name="Text 3"/>
          <p:cNvSpPr txBox="1"/>
          <p:nvPr/>
        </p:nvSpPr>
        <p:spPr bwMode="auto">
          <a:xfrm>
            <a:off x="695325" y="3308300"/>
            <a:ext cx="2724150" cy="12561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spcAft>
                <a:spcPts val="450"/>
              </a:spcAft>
              <a:buNone/>
              <a:defRPr/>
            </a:pPr>
            <a:r>
              <a:rPr lang="en-US" sz="850" b="1" spc="99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QUICK STATS</a:t>
            </a:r>
            <a:endParaRPr lang="en-US" sz="850"/>
          </a:p>
        </p:txBody>
      </p:sp>
      <p:sp>
        <p:nvSpPr>
          <p:cNvPr id="671790485" name="Text 4"/>
          <p:cNvSpPr txBox="1"/>
          <p:nvPr/>
        </p:nvSpPr>
        <p:spPr bwMode="auto">
          <a:xfrm>
            <a:off x="695325" y="3500586"/>
            <a:ext cx="2724150" cy="51018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  <a:defRPr/>
            </a:pPr>
            <a:r>
              <a:rPr lang="en-US" sz="1000">
                <a:solidFill>
                  <a:srgbClr val="EAEDF2">
                    <a:alpha val="80000"/>
                  </a:srgbClr>
                </a:solidFill>
                <a:latin typeface="Inter"/>
                <a:ea typeface="Inter"/>
                <a:cs typeface="Inter"/>
              </a:rPr>
              <a:t>SingleValue → timeSeries → correlation. All three namespaces: Proj2/MyApp + CWAgent + AWS/EC2</a:t>
            </a:r>
            <a:endParaRPr lang="en-US" sz="1000"/>
          </a:p>
        </p:txBody>
      </p:sp>
      <p:pic>
        <p:nvPicPr>
          <p:cNvPr id="62040677" name="Image 2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533400" y="4286994"/>
            <a:ext cx="3048000" cy="988219"/>
          </a:xfrm>
          <a:prstGeom prst="rect">
            <a:avLst/>
          </a:prstGeom>
        </p:spPr>
      </p:pic>
      <p:sp>
        <p:nvSpPr>
          <p:cNvPr id="36456986" name="Text 5"/>
          <p:cNvSpPr txBox="1"/>
          <p:nvPr/>
        </p:nvSpPr>
        <p:spPr bwMode="auto">
          <a:xfrm>
            <a:off x="695325" y="4429869"/>
            <a:ext cx="2724150" cy="12561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spcAft>
                <a:spcPts val="450"/>
              </a:spcAft>
              <a:buNone/>
              <a:defRPr/>
            </a:pPr>
            <a:r>
              <a:rPr lang="en-US" sz="850" b="1" spc="99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BACKUP PLAN</a:t>
            </a:r>
            <a:endParaRPr lang="en-US" sz="850"/>
          </a:p>
        </p:txBody>
      </p:sp>
      <p:sp>
        <p:nvSpPr>
          <p:cNvPr id="1103394051" name="Text 6"/>
          <p:cNvSpPr txBox="1"/>
          <p:nvPr/>
        </p:nvSpPr>
        <p:spPr bwMode="auto">
          <a:xfrm>
            <a:off x="695325" y="4622155"/>
            <a:ext cx="2724150" cy="51018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  <a:defRPr/>
            </a:pPr>
            <a:r>
              <a:rPr lang="en-US" sz="1000">
                <a:solidFill>
                  <a:srgbClr val="EAEDF2">
                    <a:alpha val="80000"/>
                  </a:srgbClr>
                </a:solidFill>
                <a:latin typeface="Inter"/>
                <a:ea typeface="Inter"/>
                <a:cs typeface="Inter"/>
              </a:rPr>
              <a:t>Use screenshots if CloudWatch lags. Show pre-generated traffic: curl timestamps + Insights query.</a:t>
            </a:r>
            <a:endParaRPr lang="en-US" sz="1000"/>
          </a:p>
        </p:txBody>
      </p:sp>
      <p:pic>
        <p:nvPicPr>
          <p:cNvPr id="310311317" name="Image 3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3886200" y="1129605"/>
            <a:ext cx="3810000" cy="2540347"/>
          </a:xfrm>
          <a:prstGeom prst="rect">
            <a:avLst/>
          </a:prstGeom>
        </p:spPr>
      </p:pic>
      <p:sp>
        <p:nvSpPr>
          <p:cNvPr id="1250201771" name="Text 7"/>
          <p:cNvSpPr txBox="1"/>
          <p:nvPr/>
        </p:nvSpPr>
        <p:spPr bwMode="auto">
          <a:xfrm>
            <a:off x="3895725" y="1139130"/>
            <a:ext cx="3790949" cy="190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25"/>
              </a:lnSpc>
              <a:buNone/>
              <a:defRPr/>
            </a:pPr>
            <a:endParaRPr lang="en-US" sz="1350"/>
          </a:p>
        </p:txBody>
      </p:sp>
      <p:sp>
        <p:nvSpPr>
          <p:cNvPr id="1453915084" name="Text 8"/>
          <p:cNvSpPr txBox="1"/>
          <p:nvPr/>
        </p:nvSpPr>
        <p:spPr bwMode="auto">
          <a:xfrm>
            <a:off x="4067175" y="1320105"/>
            <a:ext cx="3448050" cy="1619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spcAft>
                <a:spcPts val="750"/>
              </a:spcAft>
              <a:buNone/>
              <a:defRPr/>
            </a:pPr>
            <a:r>
              <a:rPr lang="en-US" sz="900" b="1" spc="125">
                <a:solidFill>
                  <a:srgbClr val="67F4E2"/>
                </a:solidFill>
                <a:latin typeface="Inter"/>
                <a:ea typeface="Inter"/>
                <a:cs typeface="Inter"/>
              </a:rPr>
              <a:t>01 — TOP ROW</a:t>
            </a:r>
            <a:endParaRPr lang="en-US" sz="900"/>
          </a:p>
        </p:txBody>
      </p:sp>
      <p:sp>
        <p:nvSpPr>
          <p:cNvPr id="542473397" name="Text 9"/>
          <p:cNvSpPr txBox="1"/>
          <p:nvPr/>
        </p:nvSpPr>
        <p:spPr bwMode="auto">
          <a:xfrm>
            <a:off x="4067175" y="1577280"/>
            <a:ext cx="3448050" cy="16430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94"/>
              </a:lnSpc>
              <a:spcAft>
                <a:spcPts val="600"/>
              </a:spcAft>
              <a:buNone/>
              <a:defRPr/>
            </a:pPr>
            <a:r>
              <a:rPr lang="en-US" sz="1150" b="1" spc="-17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SingleValue at a glance</a:t>
            </a:r>
            <a:endParaRPr lang="en-US" sz="1150"/>
          </a:p>
        </p:txBody>
      </p:sp>
      <p:sp>
        <p:nvSpPr>
          <p:cNvPr id="838537703" name="Text 10"/>
          <p:cNvSpPr txBox="1"/>
          <p:nvPr/>
        </p:nvSpPr>
        <p:spPr bwMode="auto">
          <a:xfrm>
            <a:off x="4067175" y="1827312"/>
            <a:ext cx="3448050" cy="16371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65"/>
              </a:lnSpc>
              <a:buNone/>
              <a:defRPr/>
            </a:pPr>
            <a:r>
              <a:rPr lang="en-US" sz="1000">
                <a:solidFill>
                  <a:srgbClr val="EAEEF2">
                    <a:alpha val="70000"/>
                  </a:srgbClr>
                </a:solidFill>
                <a:latin typeface="Inter"/>
                <a:ea typeface="Inter"/>
                <a:cs typeface="Inter"/>
              </a:rPr>
              <a:t>Current rate for decision in 3 seconds</a:t>
            </a:r>
            <a:endParaRPr lang="en-US" sz="1000"/>
          </a:p>
        </p:txBody>
      </p:sp>
      <p:pic>
        <p:nvPicPr>
          <p:cNvPr id="1775419114" name="Image 4" descr="preencoded.png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4067175" y="2067223"/>
            <a:ext cx="1039267" cy="238125"/>
          </a:xfrm>
          <a:prstGeom prst="rect">
            <a:avLst/>
          </a:prstGeom>
        </p:spPr>
      </p:pic>
      <p:sp>
        <p:nvSpPr>
          <p:cNvPr id="210956323" name="Text 11"/>
          <p:cNvSpPr txBox="1"/>
          <p:nvPr/>
        </p:nvSpPr>
        <p:spPr bwMode="auto">
          <a:xfrm>
            <a:off x="4152900" y="2124373"/>
            <a:ext cx="867817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request_count Sum</a:t>
            </a:r>
            <a:endParaRPr lang="en-US" sz="750"/>
          </a:p>
        </p:txBody>
      </p:sp>
      <p:pic>
        <p:nvPicPr>
          <p:cNvPr id="1696952408" name="Image 5" descr="preencoded.png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5163592" y="2067223"/>
            <a:ext cx="917972" cy="238125"/>
          </a:xfrm>
          <a:prstGeom prst="rect">
            <a:avLst/>
          </a:prstGeom>
        </p:spPr>
      </p:pic>
      <p:sp>
        <p:nvSpPr>
          <p:cNvPr id="1175018616" name="Text 12"/>
          <p:cNvSpPr txBox="1"/>
          <p:nvPr/>
        </p:nvSpPr>
        <p:spPr bwMode="auto">
          <a:xfrm>
            <a:off x="5249317" y="2124373"/>
            <a:ext cx="746522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error_count Sum</a:t>
            </a:r>
            <a:endParaRPr lang="en-US" sz="750"/>
          </a:p>
        </p:txBody>
      </p:sp>
      <p:pic>
        <p:nvPicPr>
          <p:cNvPr id="1283911862" name="Image 6" descr="preencoded.png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>
            <a:off x="6138714" y="2067223"/>
            <a:ext cx="873919" cy="238125"/>
          </a:xfrm>
          <a:prstGeom prst="rect">
            <a:avLst/>
          </a:prstGeom>
        </p:spPr>
      </p:pic>
      <p:sp>
        <p:nvSpPr>
          <p:cNvPr id="1837099176" name="Text 13"/>
          <p:cNvSpPr txBox="1"/>
          <p:nvPr/>
        </p:nvSpPr>
        <p:spPr bwMode="auto">
          <a:xfrm>
            <a:off x="6224439" y="2124373"/>
            <a:ext cx="702469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api_latency Avg</a:t>
            </a:r>
            <a:endParaRPr lang="en-US" sz="750"/>
          </a:p>
        </p:txBody>
      </p:sp>
      <p:pic>
        <p:nvPicPr>
          <p:cNvPr id="1914604992" name="Image 7" descr="preencoded.png"/>
          <p:cNvPicPr>
            <a:picLocks noChangeAspect="1"/>
          </p:cNvPicPr>
          <p:nvPr/>
        </p:nvPicPr>
        <p:blipFill rotWithShape="1">
          <a:blip r:embed="rId10"/>
          <a:stretch/>
        </p:blipFill>
        <p:spPr bwMode="auto">
          <a:xfrm>
            <a:off x="4067175" y="2362497"/>
            <a:ext cx="887611" cy="238125"/>
          </a:xfrm>
          <a:prstGeom prst="rect">
            <a:avLst/>
          </a:prstGeom>
        </p:spPr>
      </p:pic>
      <p:sp>
        <p:nvSpPr>
          <p:cNvPr id="1467226478" name="Text 14"/>
          <p:cNvSpPr txBox="1"/>
          <p:nvPr/>
        </p:nvSpPr>
        <p:spPr bwMode="auto">
          <a:xfrm>
            <a:off x="4152900" y="2419648"/>
            <a:ext cx="716161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orders/min Sum</a:t>
            </a:r>
            <a:endParaRPr lang="en-US" sz="750"/>
          </a:p>
        </p:txBody>
      </p:sp>
      <p:pic>
        <p:nvPicPr>
          <p:cNvPr id="372780722" name="Image 8" descr="preencoded.png"/>
          <p:cNvPicPr>
            <a:picLocks noChangeAspect="1"/>
          </p:cNvPicPr>
          <p:nvPr/>
        </p:nvPicPr>
        <p:blipFill rotWithShape="1">
          <a:blip r:embed="rId11"/>
          <a:stretch/>
        </p:blipFill>
        <p:spPr bwMode="auto">
          <a:xfrm>
            <a:off x="7848600" y="1129605"/>
            <a:ext cx="3810000" cy="2540347"/>
          </a:xfrm>
          <a:prstGeom prst="rect">
            <a:avLst/>
          </a:prstGeom>
        </p:spPr>
      </p:pic>
      <p:sp>
        <p:nvSpPr>
          <p:cNvPr id="2043680183" name="Text 15"/>
          <p:cNvSpPr txBox="1"/>
          <p:nvPr/>
        </p:nvSpPr>
        <p:spPr bwMode="auto">
          <a:xfrm>
            <a:off x="7858125" y="1139130"/>
            <a:ext cx="3790949" cy="190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25"/>
              </a:lnSpc>
              <a:buNone/>
              <a:defRPr/>
            </a:pPr>
            <a:endParaRPr lang="en-US" sz="1350"/>
          </a:p>
        </p:txBody>
      </p:sp>
      <p:sp>
        <p:nvSpPr>
          <p:cNvPr id="931831039" name="Text 16"/>
          <p:cNvSpPr txBox="1"/>
          <p:nvPr/>
        </p:nvSpPr>
        <p:spPr bwMode="auto">
          <a:xfrm>
            <a:off x="8029575" y="1320105"/>
            <a:ext cx="3448050" cy="1619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spcAft>
                <a:spcPts val="750"/>
              </a:spcAft>
              <a:buNone/>
              <a:defRPr/>
            </a:pPr>
            <a:r>
              <a:rPr lang="en-US" sz="900" b="1" spc="125">
                <a:solidFill>
                  <a:srgbClr val="67F4E2"/>
                </a:solidFill>
                <a:latin typeface="Inter"/>
                <a:ea typeface="Inter"/>
                <a:cs typeface="Inter"/>
              </a:rPr>
              <a:t>02 — MIDDLE</a:t>
            </a:r>
            <a:endParaRPr lang="en-US" sz="900"/>
          </a:p>
        </p:txBody>
      </p:sp>
      <p:sp>
        <p:nvSpPr>
          <p:cNvPr id="640310829" name="Text 17"/>
          <p:cNvSpPr txBox="1"/>
          <p:nvPr/>
        </p:nvSpPr>
        <p:spPr bwMode="auto">
          <a:xfrm>
            <a:off x="8029575" y="1577280"/>
            <a:ext cx="3448050" cy="16430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94"/>
              </a:lnSpc>
              <a:spcAft>
                <a:spcPts val="600"/>
              </a:spcAft>
              <a:buNone/>
              <a:defRPr/>
            </a:pPr>
            <a:r>
              <a:rPr lang="en-US" sz="1150" b="1" spc="-17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Golden Signals</a:t>
            </a:r>
            <a:endParaRPr lang="en-US" sz="1150"/>
          </a:p>
        </p:txBody>
      </p:sp>
      <p:sp>
        <p:nvSpPr>
          <p:cNvPr id="279587581" name="Text 18"/>
          <p:cNvSpPr txBox="1"/>
          <p:nvPr/>
        </p:nvSpPr>
        <p:spPr bwMode="auto">
          <a:xfrm>
            <a:off x="8029575" y="1827312"/>
            <a:ext cx="3448050" cy="16371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65"/>
              </a:lnSpc>
              <a:buNone/>
              <a:defRPr/>
            </a:pPr>
            <a:r>
              <a:rPr lang="en-US" sz="1000">
                <a:solidFill>
                  <a:srgbClr val="EAEEF2">
                    <a:alpha val="70000"/>
                  </a:srgbClr>
                </a:solidFill>
                <a:latin typeface="Inter"/>
                <a:ea typeface="Inter"/>
                <a:cs typeface="Inter"/>
              </a:rPr>
              <a:t>RED mapping: traffic, errors, duration, saturation</a:t>
            </a:r>
            <a:endParaRPr lang="en-US" sz="1000"/>
          </a:p>
        </p:txBody>
      </p:sp>
      <p:pic>
        <p:nvPicPr>
          <p:cNvPr id="275347137" name="Image 9" descr="preencoded.png"/>
          <p:cNvPicPr>
            <a:picLocks noChangeAspect="1"/>
          </p:cNvPicPr>
          <p:nvPr/>
        </p:nvPicPr>
        <p:blipFill rotWithShape="1">
          <a:blip r:embed="rId12"/>
          <a:stretch/>
        </p:blipFill>
        <p:spPr bwMode="auto">
          <a:xfrm>
            <a:off x="8029575" y="2067223"/>
            <a:ext cx="1128117" cy="238125"/>
          </a:xfrm>
          <a:prstGeom prst="rect">
            <a:avLst/>
          </a:prstGeom>
        </p:spPr>
      </p:pic>
      <p:sp>
        <p:nvSpPr>
          <p:cNvPr id="440546146" name="Text 19"/>
          <p:cNvSpPr txBox="1"/>
          <p:nvPr/>
        </p:nvSpPr>
        <p:spPr bwMode="auto">
          <a:xfrm>
            <a:off x="8115300" y="2124373"/>
            <a:ext cx="956667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Traffic request_count</a:t>
            </a:r>
            <a:endParaRPr lang="en-US" sz="750"/>
          </a:p>
        </p:txBody>
      </p:sp>
      <p:pic>
        <p:nvPicPr>
          <p:cNvPr id="859891283" name="Image 10" descr="preencoded.png"/>
          <p:cNvPicPr>
            <a:picLocks noChangeAspect="1"/>
          </p:cNvPicPr>
          <p:nvPr/>
        </p:nvPicPr>
        <p:blipFill rotWithShape="1">
          <a:blip r:embed="rId13"/>
          <a:stretch/>
        </p:blipFill>
        <p:spPr bwMode="auto">
          <a:xfrm>
            <a:off x="9214842" y="2067223"/>
            <a:ext cx="989260" cy="238125"/>
          </a:xfrm>
          <a:prstGeom prst="rect">
            <a:avLst/>
          </a:prstGeom>
        </p:spPr>
      </p:pic>
      <p:sp>
        <p:nvSpPr>
          <p:cNvPr id="1673996619" name="Text 20"/>
          <p:cNvSpPr txBox="1"/>
          <p:nvPr/>
        </p:nvSpPr>
        <p:spPr bwMode="auto">
          <a:xfrm>
            <a:off x="9300567" y="2124373"/>
            <a:ext cx="817811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Errors error_count</a:t>
            </a:r>
            <a:endParaRPr lang="en-US" sz="750"/>
          </a:p>
        </p:txBody>
      </p:sp>
      <p:pic>
        <p:nvPicPr>
          <p:cNvPr id="1156421455" name="Image 11" descr="preencoded.png"/>
          <p:cNvPicPr>
            <a:picLocks noChangeAspect="1"/>
          </p:cNvPicPr>
          <p:nvPr/>
        </p:nvPicPr>
        <p:blipFill rotWithShape="1">
          <a:blip r:embed="rId14"/>
          <a:stretch/>
        </p:blipFill>
        <p:spPr bwMode="auto">
          <a:xfrm>
            <a:off x="10261253" y="2067223"/>
            <a:ext cx="948928" cy="238125"/>
          </a:xfrm>
          <a:prstGeom prst="rect">
            <a:avLst/>
          </a:prstGeom>
        </p:spPr>
      </p:pic>
      <p:sp>
        <p:nvSpPr>
          <p:cNvPr id="1653085997" name="Text 21"/>
          <p:cNvSpPr txBox="1"/>
          <p:nvPr/>
        </p:nvSpPr>
        <p:spPr bwMode="auto">
          <a:xfrm>
            <a:off x="10346978" y="2124373"/>
            <a:ext cx="777478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Latency Avg/Max</a:t>
            </a:r>
            <a:endParaRPr lang="en-US" sz="750"/>
          </a:p>
        </p:txBody>
      </p:sp>
      <p:pic>
        <p:nvPicPr>
          <p:cNvPr id="1468321066" name="Image 12" descr="preencoded.png"/>
          <p:cNvPicPr>
            <a:picLocks noChangeAspect="1"/>
          </p:cNvPicPr>
          <p:nvPr/>
        </p:nvPicPr>
        <p:blipFill rotWithShape="1">
          <a:blip r:embed="rId15"/>
          <a:stretch/>
        </p:blipFill>
        <p:spPr bwMode="auto">
          <a:xfrm>
            <a:off x="8029575" y="2362497"/>
            <a:ext cx="796528" cy="238125"/>
          </a:xfrm>
          <a:prstGeom prst="rect">
            <a:avLst/>
          </a:prstGeom>
        </p:spPr>
      </p:pic>
      <p:sp>
        <p:nvSpPr>
          <p:cNvPr id="636540177" name="Text 22"/>
          <p:cNvSpPr txBox="1"/>
          <p:nvPr/>
        </p:nvSpPr>
        <p:spPr bwMode="auto">
          <a:xfrm>
            <a:off x="8115300" y="2419648"/>
            <a:ext cx="625078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CPU + Orders</a:t>
            </a:r>
            <a:endParaRPr lang="en-US" sz="750"/>
          </a:p>
        </p:txBody>
      </p:sp>
      <p:pic>
        <p:nvPicPr>
          <p:cNvPr id="1713527056" name="Image 13" descr="preencoded.png"/>
          <p:cNvPicPr>
            <a:picLocks noChangeAspect="1"/>
          </p:cNvPicPr>
          <p:nvPr/>
        </p:nvPicPr>
        <p:blipFill rotWithShape="1">
          <a:blip r:embed="rId16"/>
          <a:stretch/>
        </p:blipFill>
        <p:spPr bwMode="auto">
          <a:xfrm>
            <a:off x="3886200" y="3822353"/>
            <a:ext cx="3810000" cy="2540347"/>
          </a:xfrm>
          <a:prstGeom prst="rect">
            <a:avLst/>
          </a:prstGeom>
        </p:spPr>
      </p:pic>
      <p:sp>
        <p:nvSpPr>
          <p:cNvPr id="823927073" name="Text 23"/>
          <p:cNvSpPr txBox="1"/>
          <p:nvPr/>
        </p:nvSpPr>
        <p:spPr bwMode="auto">
          <a:xfrm>
            <a:off x="3895725" y="3831878"/>
            <a:ext cx="3790949" cy="190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25"/>
              </a:lnSpc>
              <a:buNone/>
              <a:defRPr/>
            </a:pPr>
            <a:endParaRPr lang="en-US" sz="1350"/>
          </a:p>
        </p:txBody>
      </p:sp>
      <p:sp>
        <p:nvSpPr>
          <p:cNvPr id="804634978" name="Text 24"/>
          <p:cNvSpPr txBox="1"/>
          <p:nvPr/>
        </p:nvSpPr>
        <p:spPr bwMode="auto">
          <a:xfrm>
            <a:off x="4067175" y="4012853"/>
            <a:ext cx="3448050" cy="1619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spcAft>
                <a:spcPts val="750"/>
              </a:spcAft>
              <a:buNone/>
              <a:defRPr/>
            </a:pPr>
            <a:r>
              <a:rPr lang="en-US" sz="900" b="1" spc="125">
                <a:solidFill>
                  <a:srgbClr val="67F4E2"/>
                </a:solidFill>
                <a:latin typeface="Inter"/>
                <a:ea typeface="Inter"/>
                <a:cs typeface="Inter"/>
              </a:rPr>
              <a:t>03 — BOTTOM</a:t>
            </a:r>
            <a:endParaRPr lang="en-US" sz="900"/>
          </a:p>
        </p:txBody>
      </p:sp>
      <p:sp>
        <p:nvSpPr>
          <p:cNvPr id="738516493" name="Text 25"/>
          <p:cNvSpPr txBox="1"/>
          <p:nvPr/>
        </p:nvSpPr>
        <p:spPr bwMode="auto">
          <a:xfrm>
            <a:off x="4067175" y="4270028"/>
            <a:ext cx="3448050" cy="16430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94"/>
              </a:lnSpc>
              <a:spcAft>
                <a:spcPts val="600"/>
              </a:spcAft>
              <a:buNone/>
              <a:defRPr/>
            </a:pPr>
            <a:r>
              <a:rPr lang="en-US" sz="1150" b="1" spc="-17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EC2 USE Resources</a:t>
            </a:r>
            <a:endParaRPr lang="en-US" sz="1150"/>
          </a:p>
        </p:txBody>
      </p:sp>
      <p:sp>
        <p:nvSpPr>
          <p:cNvPr id="2121923447" name="Text 26"/>
          <p:cNvSpPr txBox="1"/>
          <p:nvPr/>
        </p:nvSpPr>
        <p:spPr bwMode="auto">
          <a:xfrm>
            <a:off x="4067175" y="4520059"/>
            <a:ext cx="3448050" cy="16371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65"/>
              </a:lnSpc>
              <a:buNone/>
              <a:defRPr/>
            </a:pPr>
            <a:r>
              <a:rPr lang="en-US" sz="1000">
                <a:solidFill>
                  <a:srgbClr val="EAEEF2">
                    <a:alpha val="70000"/>
                  </a:srgbClr>
                </a:solidFill>
                <a:latin typeface="Inter"/>
                <a:ea typeface="Inter"/>
                <a:cs typeface="Inter"/>
              </a:rPr>
              <a:t>Utilization + Saturation. Disk uses SEARCH</a:t>
            </a:r>
            <a:endParaRPr lang="en-US" sz="1000"/>
          </a:p>
        </p:txBody>
      </p:sp>
      <p:pic>
        <p:nvPicPr>
          <p:cNvPr id="755023503" name="Image 14" descr="preencoded.png"/>
          <p:cNvPicPr>
            <a:picLocks noChangeAspect="1"/>
          </p:cNvPicPr>
          <p:nvPr/>
        </p:nvPicPr>
        <p:blipFill rotWithShape="1">
          <a:blip r:embed="rId17"/>
          <a:stretch/>
        </p:blipFill>
        <p:spPr bwMode="auto">
          <a:xfrm>
            <a:off x="4067175" y="4759970"/>
            <a:ext cx="817811" cy="238125"/>
          </a:xfrm>
          <a:prstGeom prst="rect">
            <a:avLst/>
          </a:prstGeom>
        </p:spPr>
      </p:pic>
      <p:sp>
        <p:nvSpPr>
          <p:cNvPr id="382150915" name="Text 27"/>
          <p:cNvSpPr txBox="1"/>
          <p:nvPr/>
        </p:nvSpPr>
        <p:spPr bwMode="auto">
          <a:xfrm>
            <a:off x="4152900" y="4817120"/>
            <a:ext cx="646361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CPUUtilization</a:t>
            </a:r>
            <a:endParaRPr lang="en-US" sz="750"/>
          </a:p>
        </p:txBody>
      </p:sp>
      <p:pic>
        <p:nvPicPr>
          <p:cNvPr id="1051058255" name="Image 15" descr="preencoded.png"/>
          <p:cNvPicPr>
            <a:picLocks noChangeAspect="1"/>
          </p:cNvPicPr>
          <p:nvPr/>
        </p:nvPicPr>
        <p:blipFill rotWithShape="1">
          <a:blip r:embed="rId18"/>
          <a:stretch/>
        </p:blipFill>
        <p:spPr bwMode="auto">
          <a:xfrm>
            <a:off x="4942135" y="4759970"/>
            <a:ext cx="1049982" cy="238125"/>
          </a:xfrm>
          <a:prstGeom prst="rect">
            <a:avLst/>
          </a:prstGeom>
        </p:spPr>
      </p:pic>
      <p:sp>
        <p:nvSpPr>
          <p:cNvPr id="867356411" name="Text 28"/>
          <p:cNvSpPr txBox="1"/>
          <p:nvPr/>
        </p:nvSpPr>
        <p:spPr bwMode="auto">
          <a:xfrm>
            <a:off x="5027861" y="4817120"/>
            <a:ext cx="878532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mem_used_percent</a:t>
            </a:r>
            <a:endParaRPr lang="en-US" sz="750"/>
          </a:p>
        </p:txBody>
      </p:sp>
      <p:pic>
        <p:nvPicPr>
          <p:cNvPr id="2015585779" name="Image 16" descr="preencoded.png"/>
          <p:cNvPicPr>
            <a:picLocks noChangeAspect="1"/>
          </p:cNvPicPr>
          <p:nvPr/>
        </p:nvPicPr>
        <p:blipFill rotWithShape="1">
          <a:blip r:embed="rId19"/>
          <a:stretch/>
        </p:blipFill>
        <p:spPr bwMode="auto">
          <a:xfrm>
            <a:off x="6049268" y="4759970"/>
            <a:ext cx="857548" cy="238125"/>
          </a:xfrm>
          <a:prstGeom prst="rect">
            <a:avLst/>
          </a:prstGeom>
        </p:spPr>
      </p:pic>
      <p:sp>
        <p:nvSpPr>
          <p:cNvPr id="1877054017" name="Text 29"/>
          <p:cNvSpPr txBox="1"/>
          <p:nvPr/>
        </p:nvSpPr>
        <p:spPr bwMode="auto">
          <a:xfrm>
            <a:off x="6134993" y="4817120"/>
            <a:ext cx="686098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Network In/Out</a:t>
            </a:r>
            <a:endParaRPr lang="en-US" sz="750"/>
          </a:p>
        </p:txBody>
      </p:sp>
      <p:pic>
        <p:nvPicPr>
          <p:cNvPr id="1144275563" name="Image 17" descr="preencoded.png"/>
          <p:cNvPicPr>
            <a:picLocks noChangeAspect="1"/>
          </p:cNvPicPr>
          <p:nvPr/>
        </p:nvPicPr>
        <p:blipFill rotWithShape="1">
          <a:blip r:embed="rId20"/>
          <a:stretch/>
        </p:blipFill>
        <p:spPr bwMode="auto">
          <a:xfrm>
            <a:off x="4067175" y="5055245"/>
            <a:ext cx="1176040" cy="238125"/>
          </a:xfrm>
          <a:prstGeom prst="rect">
            <a:avLst/>
          </a:prstGeom>
        </p:spPr>
      </p:pic>
      <p:sp>
        <p:nvSpPr>
          <p:cNvPr id="1209850525" name="Text 30"/>
          <p:cNvSpPr txBox="1"/>
          <p:nvPr/>
        </p:nvSpPr>
        <p:spPr bwMode="auto">
          <a:xfrm>
            <a:off x="4152900" y="5112395"/>
            <a:ext cx="1004590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SEARCH disk% → [[ ]]</a:t>
            </a:r>
            <a:endParaRPr lang="en-US" sz="750"/>
          </a:p>
        </p:txBody>
      </p:sp>
      <p:pic>
        <p:nvPicPr>
          <p:cNvPr id="1451375387" name="Image 18" descr="preencoded.png"/>
          <p:cNvPicPr>
            <a:picLocks noChangeAspect="1"/>
          </p:cNvPicPr>
          <p:nvPr/>
        </p:nvPicPr>
        <p:blipFill rotWithShape="1">
          <a:blip r:embed="rId21"/>
          <a:stretch/>
        </p:blipFill>
        <p:spPr bwMode="auto">
          <a:xfrm>
            <a:off x="7848600" y="3822353"/>
            <a:ext cx="3810000" cy="2540347"/>
          </a:xfrm>
          <a:prstGeom prst="rect">
            <a:avLst/>
          </a:prstGeom>
        </p:spPr>
      </p:pic>
      <p:sp>
        <p:nvSpPr>
          <p:cNvPr id="1237428121" name="Text 31"/>
          <p:cNvSpPr txBox="1"/>
          <p:nvPr/>
        </p:nvSpPr>
        <p:spPr bwMode="auto">
          <a:xfrm>
            <a:off x="7858125" y="3831878"/>
            <a:ext cx="3790949" cy="190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25"/>
              </a:lnSpc>
              <a:buNone/>
              <a:defRPr/>
            </a:pPr>
            <a:endParaRPr lang="en-US" sz="1350"/>
          </a:p>
        </p:txBody>
      </p:sp>
      <p:sp>
        <p:nvSpPr>
          <p:cNvPr id="1041873355" name="Text 32"/>
          <p:cNvSpPr txBox="1"/>
          <p:nvPr/>
        </p:nvSpPr>
        <p:spPr bwMode="auto">
          <a:xfrm>
            <a:off x="8029575" y="4012853"/>
            <a:ext cx="3448050" cy="1619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spcAft>
                <a:spcPts val="750"/>
              </a:spcAft>
              <a:buNone/>
              <a:defRPr/>
            </a:pPr>
            <a:r>
              <a:rPr lang="en-US" sz="900" b="1" spc="125">
                <a:solidFill>
                  <a:srgbClr val="67F4E2"/>
                </a:solidFill>
                <a:latin typeface="Inter"/>
                <a:ea typeface="Inter"/>
                <a:cs typeface="Inter"/>
              </a:rPr>
              <a:t>04 — CORRELATION</a:t>
            </a:r>
            <a:endParaRPr lang="en-US" sz="900"/>
          </a:p>
        </p:txBody>
      </p:sp>
      <p:sp>
        <p:nvSpPr>
          <p:cNvPr id="1917053692" name="Text 33"/>
          <p:cNvSpPr txBox="1"/>
          <p:nvPr/>
        </p:nvSpPr>
        <p:spPr bwMode="auto">
          <a:xfrm>
            <a:off x="8029575" y="4270028"/>
            <a:ext cx="3448050" cy="16430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94"/>
              </a:lnSpc>
              <a:spcAft>
                <a:spcPts val="600"/>
              </a:spcAft>
              <a:buNone/>
              <a:defRPr/>
            </a:pPr>
            <a:r>
              <a:rPr lang="en-US" sz="1150" b="1" spc="-17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Latency vs Traffic vs Errors vs CPU</a:t>
            </a:r>
            <a:endParaRPr lang="en-US" sz="1150"/>
          </a:p>
        </p:txBody>
      </p:sp>
      <p:sp>
        <p:nvSpPr>
          <p:cNvPr id="666442471" name="Text 34"/>
          <p:cNvSpPr txBox="1"/>
          <p:nvPr/>
        </p:nvSpPr>
        <p:spPr bwMode="auto">
          <a:xfrm>
            <a:off x="8029575" y="4520059"/>
            <a:ext cx="3448050" cy="33694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  <a:defRPr/>
            </a:pPr>
            <a:r>
              <a:rPr lang="en-US" sz="1000">
                <a:solidFill>
                  <a:srgbClr val="EAEEF2">
                    <a:alpha val="70000"/>
                  </a:srgbClr>
                </a:solidFill>
                <a:latin typeface="Inter"/>
                <a:ea typeface="Inter"/>
                <a:cs typeface="Inter"/>
              </a:rPr>
              <a:t>Overlay all in one graph. When /fail injected: Error spikes, Latency flat, CPU flat → app error not infra</a:t>
            </a:r>
            <a:endParaRPr lang="en-US" sz="1000"/>
          </a:p>
        </p:txBody>
      </p:sp>
      <p:pic>
        <p:nvPicPr>
          <p:cNvPr id="650191279" name="Image 19" descr="preencoded.png"/>
          <p:cNvPicPr>
            <a:picLocks noChangeAspect="1"/>
          </p:cNvPicPr>
          <p:nvPr/>
        </p:nvPicPr>
        <p:blipFill rotWithShape="1">
          <a:blip r:embed="rId22"/>
          <a:stretch/>
        </p:blipFill>
        <p:spPr bwMode="auto">
          <a:xfrm>
            <a:off x="8029575" y="4933206"/>
            <a:ext cx="677763" cy="238125"/>
          </a:xfrm>
          <a:prstGeom prst="rect">
            <a:avLst/>
          </a:prstGeom>
        </p:spPr>
      </p:pic>
      <p:sp>
        <p:nvSpPr>
          <p:cNvPr id="1762117667" name="Text 35"/>
          <p:cNvSpPr txBox="1"/>
          <p:nvPr/>
        </p:nvSpPr>
        <p:spPr bwMode="auto">
          <a:xfrm>
            <a:off x="8115300" y="4990356"/>
            <a:ext cx="506313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api_latency</a:t>
            </a:r>
            <a:endParaRPr lang="en-US" sz="750"/>
          </a:p>
        </p:txBody>
      </p:sp>
      <p:pic>
        <p:nvPicPr>
          <p:cNvPr id="1332332184" name="Image 20" descr="preencoded.png"/>
          <p:cNvPicPr>
            <a:picLocks noChangeAspect="1"/>
          </p:cNvPicPr>
          <p:nvPr/>
        </p:nvPicPr>
        <p:blipFill rotWithShape="1">
          <a:blip r:embed="rId23"/>
          <a:stretch/>
        </p:blipFill>
        <p:spPr bwMode="auto">
          <a:xfrm>
            <a:off x="8764488" y="4933206"/>
            <a:ext cx="811709" cy="238125"/>
          </a:xfrm>
          <a:prstGeom prst="rect">
            <a:avLst/>
          </a:prstGeom>
        </p:spPr>
      </p:pic>
      <p:sp>
        <p:nvSpPr>
          <p:cNvPr id="2114387659" name="Text 36"/>
          <p:cNvSpPr txBox="1"/>
          <p:nvPr/>
        </p:nvSpPr>
        <p:spPr bwMode="auto">
          <a:xfrm>
            <a:off x="8850213" y="4990356"/>
            <a:ext cx="640259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request_count</a:t>
            </a:r>
            <a:endParaRPr lang="en-US" sz="750"/>
          </a:p>
        </p:txBody>
      </p:sp>
      <p:pic>
        <p:nvPicPr>
          <p:cNvPr id="1110456128" name="Image 21" descr="preencoded.png"/>
          <p:cNvPicPr>
            <a:picLocks noChangeAspect="1"/>
          </p:cNvPicPr>
          <p:nvPr/>
        </p:nvPicPr>
        <p:blipFill rotWithShape="1">
          <a:blip r:embed="rId24"/>
          <a:stretch/>
        </p:blipFill>
        <p:spPr bwMode="auto">
          <a:xfrm>
            <a:off x="9633347" y="4933206"/>
            <a:ext cx="690414" cy="238125"/>
          </a:xfrm>
          <a:prstGeom prst="rect">
            <a:avLst/>
          </a:prstGeom>
        </p:spPr>
      </p:pic>
      <p:sp>
        <p:nvSpPr>
          <p:cNvPr id="671182471" name="Text 37"/>
          <p:cNvSpPr txBox="1"/>
          <p:nvPr/>
        </p:nvSpPr>
        <p:spPr bwMode="auto">
          <a:xfrm>
            <a:off x="9719072" y="4990356"/>
            <a:ext cx="518964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error_count</a:t>
            </a:r>
            <a:endParaRPr lang="en-US" sz="750"/>
          </a:p>
        </p:txBody>
      </p:sp>
      <p:pic>
        <p:nvPicPr>
          <p:cNvPr id="337447181" name="Image 22" descr="preencoded.png"/>
          <p:cNvPicPr>
            <a:picLocks noChangeAspect="1"/>
          </p:cNvPicPr>
          <p:nvPr/>
        </p:nvPicPr>
        <p:blipFill rotWithShape="1">
          <a:blip r:embed="rId25"/>
          <a:stretch/>
        </p:blipFill>
        <p:spPr bwMode="auto">
          <a:xfrm>
            <a:off x="10380911" y="4933206"/>
            <a:ext cx="493068" cy="238125"/>
          </a:xfrm>
          <a:prstGeom prst="rect">
            <a:avLst/>
          </a:prstGeom>
        </p:spPr>
      </p:pic>
      <p:sp>
        <p:nvSpPr>
          <p:cNvPr id="1760754325" name="Text 38"/>
          <p:cNvSpPr txBox="1"/>
          <p:nvPr/>
        </p:nvSpPr>
        <p:spPr bwMode="auto">
          <a:xfrm>
            <a:off x="10466636" y="4990356"/>
            <a:ext cx="321618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CPU %</a:t>
            </a:r>
            <a:endParaRPr lang="en-US" sz="7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2">
    <p:bg>
      <p:bgPr shadeToTitle="0">
        <a:solidFill>
          <a:srgbClr val="18162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9084781" name="Text 0"/>
          <p:cNvSpPr txBox="1"/>
          <p:nvPr/>
        </p:nvSpPr>
        <p:spPr bwMode="auto">
          <a:xfrm>
            <a:off x="533400" y="419100"/>
            <a:ext cx="11125200" cy="42564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>
              <a:buNone/>
              <a:defRPr/>
            </a:pPr>
            <a:r>
              <a:rPr lang="en-US" sz="3450" b="1" spc="-69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RED / USE Analysis </a:t>
            </a:r>
            <a:r>
              <a:rPr lang="en-US" sz="3450" b="1" spc="-69">
                <a:solidFill>
                  <a:srgbClr val="67F4E2"/>
                </a:solidFill>
                <a:latin typeface="Inter"/>
                <a:ea typeface="Inter"/>
                <a:cs typeface="Inter"/>
              </a:rPr>
              <a:t>— how we triaged</a:t>
            </a:r>
            <a:endParaRPr lang="en-US" sz="3450"/>
          </a:p>
        </p:txBody>
      </p:sp>
      <p:pic>
        <p:nvPicPr>
          <p:cNvPr id="405061604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33400" y="978098"/>
            <a:ext cx="5972175" cy="5460802"/>
          </a:xfrm>
          <a:prstGeom prst="rect">
            <a:avLst/>
          </a:prstGeom>
        </p:spPr>
      </p:pic>
      <p:sp>
        <p:nvSpPr>
          <p:cNvPr id="1789027018" name="Text 1"/>
          <p:cNvSpPr txBox="1"/>
          <p:nvPr/>
        </p:nvSpPr>
        <p:spPr bwMode="auto">
          <a:xfrm>
            <a:off x="4899422" y="1120973"/>
            <a:ext cx="1253728" cy="14287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 spc="90">
                <a:solidFill>
                  <a:srgbClr val="EAEEF2">
                    <a:alpha val="75000"/>
                  </a:srgbClr>
                </a:solidFill>
                <a:latin typeface="Inter"/>
                <a:ea typeface="Inter"/>
                <a:cs typeface="Inter"/>
              </a:rPr>
              <a:t>DASHBOARD MAPPING</a:t>
            </a:r>
            <a:endParaRPr lang="en-US" sz="750"/>
          </a:p>
        </p:txBody>
      </p:sp>
      <p:pic>
        <p:nvPicPr>
          <p:cNvPr id="877406301" name="Image 2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1266824" y="1809600"/>
            <a:ext cx="4886325" cy="1198513"/>
          </a:xfrm>
          <a:prstGeom prst="rect">
            <a:avLst/>
          </a:prstGeom>
        </p:spPr>
      </p:pic>
      <p:sp>
        <p:nvSpPr>
          <p:cNvPr id="478305526" name="Text 2"/>
          <p:cNvSpPr txBox="1"/>
          <p:nvPr/>
        </p:nvSpPr>
        <p:spPr bwMode="auto">
          <a:xfrm>
            <a:off x="1447799" y="1971525"/>
            <a:ext cx="4524375" cy="12561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spcAft>
                <a:spcPts val="600"/>
              </a:spcAft>
              <a:buNone/>
              <a:defRPr/>
            </a:pPr>
            <a:r>
              <a:rPr lang="en-US" sz="850" b="1" spc="99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RED — SERVICE VIEW</a:t>
            </a:r>
            <a:endParaRPr lang="en-US" sz="850"/>
          </a:p>
        </p:txBody>
      </p:sp>
      <p:sp>
        <p:nvSpPr>
          <p:cNvPr id="403698773" name="Text 3"/>
          <p:cNvSpPr txBox="1"/>
          <p:nvPr/>
        </p:nvSpPr>
        <p:spPr bwMode="auto">
          <a:xfrm>
            <a:off x="1447799" y="2173336"/>
            <a:ext cx="838200" cy="1671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  <a:defRPr/>
            </a:pPr>
            <a:r>
              <a:rPr lang="en-US" sz="10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Rate</a:t>
            </a:r>
            <a:endParaRPr lang="en-US" sz="1000"/>
          </a:p>
        </p:txBody>
      </p:sp>
      <p:sp>
        <p:nvSpPr>
          <p:cNvPr id="1948993400" name="Text 4"/>
          <p:cNvSpPr txBox="1"/>
          <p:nvPr/>
        </p:nvSpPr>
        <p:spPr bwMode="auto">
          <a:xfrm>
            <a:off x="2343150" y="2173336"/>
            <a:ext cx="3629025" cy="1671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64"/>
              </a:lnSpc>
              <a:buNone/>
              <a:defRPr/>
            </a:pPr>
            <a:r>
              <a:rPr lang="en-US" sz="850">
                <a:solidFill>
                  <a:srgbClr val="EAEEF3">
                    <a:alpha val="72000"/>
                  </a:srgbClr>
                </a:solidFill>
                <a:latin typeface="JetBrains Mono"/>
                <a:ea typeface="JetBrains Mono"/>
                <a:cs typeface="JetBrains Mono"/>
              </a:rPr>
              <a:t>request_count Sum • Traffic timeSeries</a:t>
            </a:r>
            <a:endParaRPr lang="en-US" sz="850"/>
          </a:p>
        </p:txBody>
      </p:sp>
      <p:sp>
        <p:nvSpPr>
          <p:cNvPr id="117425899" name="Text 5"/>
          <p:cNvSpPr txBox="1"/>
          <p:nvPr/>
        </p:nvSpPr>
        <p:spPr bwMode="auto">
          <a:xfrm>
            <a:off x="1447799" y="2397620"/>
            <a:ext cx="838200" cy="1671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  <a:defRPr/>
            </a:pPr>
            <a:r>
              <a:rPr lang="en-US" sz="10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Errors</a:t>
            </a:r>
            <a:endParaRPr lang="en-US" sz="1000"/>
          </a:p>
        </p:txBody>
      </p:sp>
      <p:sp>
        <p:nvSpPr>
          <p:cNvPr id="599832973" name="Text 6"/>
          <p:cNvSpPr txBox="1"/>
          <p:nvPr/>
        </p:nvSpPr>
        <p:spPr bwMode="auto">
          <a:xfrm>
            <a:off x="2343150" y="2397620"/>
            <a:ext cx="3629025" cy="1671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64"/>
              </a:lnSpc>
              <a:buNone/>
              <a:defRPr/>
            </a:pPr>
            <a:r>
              <a:rPr lang="en-US" sz="850">
                <a:solidFill>
                  <a:srgbClr val="EAEEF3">
                    <a:alpha val="72000"/>
                  </a:srgbClr>
                </a:solidFill>
                <a:latin typeface="JetBrains Mono"/>
                <a:ea typeface="JetBrains Mono"/>
                <a:cs typeface="JetBrains Mono"/>
              </a:rPr>
              <a:t>error_count Sum • red spike</a:t>
            </a:r>
            <a:endParaRPr lang="en-US" sz="850"/>
          </a:p>
        </p:txBody>
      </p:sp>
      <p:sp>
        <p:nvSpPr>
          <p:cNvPr id="442699278" name="Text 7"/>
          <p:cNvSpPr txBox="1"/>
          <p:nvPr/>
        </p:nvSpPr>
        <p:spPr bwMode="auto">
          <a:xfrm>
            <a:off x="1447799" y="2621904"/>
            <a:ext cx="838200" cy="1671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  <a:defRPr/>
            </a:pPr>
            <a:r>
              <a:rPr lang="en-US" sz="10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Duration</a:t>
            </a:r>
            <a:endParaRPr lang="en-US" sz="1000"/>
          </a:p>
        </p:txBody>
      </p:sp>
      <p:sp>
        <p:nvSpPr>
          <p:cNvPr id="633160016" name="Text 8"/>
          <p:cNvSpPr txBox="1"/>
          <p:nvPr/>
        </p:nvSpPr>
        <p:spPr bwMode="auto">
          <a:xfrm>
            <a:off x="2343150" y="2621904"/>
            <a:ext cx="3629025" cy="1671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64"/>
              </a:lnSpc>
              <a:buNone/>
              <a:defRPr/>
            </a:pPr>
            <a:r>
              <a:rPr lang="en-US" sz="850">
                <a:solidFill>
                  <a:srgbClr val="EAEEF3">
                    <a:alpha val="72000"/>
                  </a:srgbClr>
                </a:solidFill>
                <a:latin typeface="JetBrains Mono"/>
                <a:ea typeface="JetBrains Mono"/>
                <a:cs typeface="JetBrains Mono"/>
              </a:rPr>
              <a:t>api_latency Avg / Max / P95</a:t>
            </a:r>
            <a:endParaRPr lang="en-US" sz="850"/>
          </a:p>
        </p:txBody>
      </p:sp>
      <p:pic>
        <p:nvPicPr>
          <p:cNvPr id="1268115670" name="Image 3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1266824" y="3141463"/>
            <a:ext cx="4886325" cy="1198513"/>
          </a:xfrm>
          <a:prstGeom prst="rect">
            <a:avLst/>
          </a:prstGeom>
        </p:spPr>
      </p:pic>
      <p:sp>
        <p:nvSpPr>
          <p:cNvPr id="1341690798" name="Text 9"/>
          <p:cNvSpPr txBox="1"/>
          <p:nvPr/>
        </p:nvSpPr>
        <p:spPr bwMode="auto">
          <a:xfrm>
            <a:off x="1447799" y="3303388"/>
            <a:ext cx="4524375" cy="12561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spcAft>
                <a:spcPts val="600"/>
              </a:spcAft>
              <a:buNone/>
              <a:defRPr/>
            </a:pPr>
            <a:r>
              <a:rPr lang="en-US" sz="850" b="1" spc="99">
                <a:solidFill>
                  <a:srgbClr val="38BDF8"/>
                </a:solidFill>
                <a:latin typeface="Space Grotesk"/>
                <a:ea typeface="Space Grotesk"/>
                <a:cs typeface="Space Grotesk"/>
              </a:rPr>
              <a:t>USE — RESOURCE VIEW</a:t>
            </a:r>
            <a:endParaRPr lang="en-US" sz="850"/>
          </a:p>
        </p:txBody>
      </p:sp>
      <p:sp>
        <p:nvSpPr>
          <p:cNvPr id="823613206" name="Text 10"/>
          <p:cNvSpPr txBox="1"/>
          <p:nvPr/>
        </p:nvSpPr>
        <p:spPr bwMode="auto">
          <a:xfrm>
            <a:off x="1447799" y="3505199"/>
            <a:ext cx="838200" cy="1671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  <a:defRPr/>
            </a:pPr>
            <a:r>
              <a:rPr lang="en-US" sz="10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Utilization</a:t>
            </a:r>
            <a:endParaRPr lang="en-US" sz="1000"/>
          </a:p>
        </p:txBody>
      </p:sp>
      <p:sp>
        <p:nvSpPr>
          <p:cNvPr id="179183652" name="Text 11"/>
          <p:cNvSpPr txBox="1"/>
          <p:nvPr/>
        </p:nvSpPr>
        <p:spPr bwMode="auto">
          <a:xfrm>
            <a:off x="2343150" y="3505199"/>
            <a:ext cx="3629025" cy="1671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64"/>
              </a:lnSpc>
              <a:buNone/>
              <a:defRPr/>
            </a:pPr>
            <a:r>
              <a:rPr lang="en-US" sz="850">
                <a:solidFill>
                  <a:srgbClr val="EAEEF3">
                    <a:alpha val="72000"/>
                  </a:srgbClr>
                </a:solidFill>
                <a:latin typeface="JetBrains Mono"/>
                <a:ea typeface="JetBrains Mono"/>
                <a:cs typeface="JetBrains Mono"/>
              </a:rPr>
              <a:t>CPUUtilization + mem_used% + disk SEARCH [[ ]]</a:t>
            </a:r>
            <a:endParaRPr lang="en-US" sz="850"/>
          </a:p>
        </p:txBody>
      </p:sp>
      <p:sp>
        <p:nvSpPr>
          <p:cNvPr id="1239112140" name="Text 12"/>
          <p:cNvSpPr txBox="1"/>
          <p:nvPr/>
        </p:nvSpPr>
        <p:spPr bwMode="auto">
          <a:xfrm>
            <a:off x="1447799" y="3729483"/>
            <a:ext cx="838200" cy="1671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  <a:defRPr/>
            </a:pPr>
            <a:r>
              <a:rPr lang="en-US" sz="10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Saturation</a:t>
            </a:r>
            <a:endParaRPr lang="en-US" sz="1000"/>
          </a:p>
        </p:txBody>
      </p:sp>
      <p:sp>
        <p:nvSpPr>
          <p:cNvPr id="251917426" name="Text 13"/>
          <p:cNvSpPr txBox="1"/>
          <p:nvPr/>
        </p:nvSpPr>
        <p:spPr bwMode="auto">
          <a:xfrm>
            <a:off x="2343150" y="3729483"/>
            <a:ext cx="3629025" cy="1671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64"/>
              </a:lnSpc>
              <a:buNone/>
              <a:defRPr/>
            </a:pPr>
            <a:r>
              <a:rPr lang="en-US" sz="850">
                <a:solidFill>
                  <a:srgbClr val="EAEEF3">
                    <a:alpha val="72000"/>
                  </a:srgbClr>
                </a:solidFill>
                <a:latin typeface="JetBrains Mono"/>
                <a:ea typeface="JetBrains Mono"/>
                <a:cs typeface="JetBrains Mono"/>
              </a:rPr>
              <a:t>orders_per_minute • business queue</a:t>
            </a:r>
            <a:endParaRPr lang="en-US" sz="850"/>
          </a:p>
        </p:txBody>
      </p:sp>
      <p:sp>
        <p:nvSpPr>
          <p:cNvPr id="1044838653" name="Text 14"/>
          <p:cNvSpPr txBox="1"/>
          <p:nvPr/>
        </p:nvSpPr>
        <p:spPr bwMode="auto">
          <a:xfrm>
            <a:off x="1447799" y="3953767"/>
            <a:ext cx="838200" cy="1671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  <a:defRPr/>
            </a:pPr>
            <a:r>
              <a:rPr lang="en-US" sz="10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Errors</a:t>
            </a:r>
            <a:endParaRPr lang="en-US" sz="1000"/>
          </a:p>
        </p:txBody>
      </p:sp>
      <p:sp>
        <p:nvSpPr>
          <p:cNvPr id="1341205669" name="Text 15"/>
          <p:cNvSpPr txBox="1"/>
          <p:nvPr/>
        </p:nvSpPr>
        <p:spPr bwMode="auto">
          <a:xfrm>
            <a:off x="2343150" y="3953767"/>
            <a:ext cx="3629025" cy="1671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64"/>
              </a:lnSpc>
              <a:buNone/>
              <a:defRPr/>
            </a:pPr>
            <a:r>
              <a:rPr lang="en-US" sz="850">
                <a:solidFill>
                  <a:srgbClr val="EAEEF3">
                    <a:alpha val="72000"/>
                  </a:srgbClr>
                </a:solidFill>
                <a:latin typeface="JetBrains Mono"/>
                <a:ea typeface="JetBrains Mono"/>
                <a:cs typeface="JetBrains Mono"/>
              </a:rPr>
              <a:t>same error_count • overlay correlation</a:t>
            </a:r>
            <a:endParaRPr lang="en-US" sz="850"/>
          </a:p>
        </p:txBody>
      </p:sp>
      <p:pic>
        <p:nvPicPr>
          <p:cNvPr id="173736988" name="Image 4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1266824" y="4473326"/>
            <a:ext cx="4886325" cy="737146"/>
          </a:xfrm>
          <a:prstGeom prst="rect">
            <a:avLst/>
          </a:prstGeom>
        </p:spPr>
      </p:pic>
      <p:sp>
        <p:nvSpPr>
          <p:cNvPr id="662719013" name="Text 16"/>
          <p:cNvSpPr txBox="1"/>
          <p:nvPr/>
        </p:nvSpPr>
        <p:spPr bwMode="auto">
          <a:xfrm>
            <a:off x="1409699" y="4597151"/>
            <a:ext cx="4600575" cy="489496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EAEEF2">
                    <a:alpha val="82000"/>
                  </a:srgbClr>
                </a:solidFill>
                <a:latin typeface="Inter"/>
                <a:ea typeface="Inter"/>
                <a:cs typeface="Inter"/>
              </a:rPr>
              <a:t> </a:t>
            </a:r>
            <a:r>
              <a:rPr lang="en-US" sz="9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Evidence:</a:t>
            </a:r>
            <a:r>
              <a:rPr lang="en-US" sz="900">
                <a:solidFill>
                  <a:srgbClr val="EAEEF2">
                    <a:alpha val="82000"/>
                  </a:srgbClr>
                </a:solidFill>
                <a:latin typeface="Inter"/>
                <a:ea typeface="Inter"/>
                <a:cs typeface="Inter"/>
              </a:rPr>
              <a:t> Injected </a:t>
            </a:r>
            <a:r>
              <a:rPr lang="en-US" sz="900">
                <a:solidFill>
                  <a:srgbClr val="EAEEF2">
                    <a:alpha val="82000"/>
                  </a:srgbClr>
                </a:solidFill>
                <a:latin typeface="monospace"/>
                <a:ea typeface="monospace"/>
                <a:cs typeface="monospace"/>
              </a:rPr>
              <a:t>/fail</a:t>
            </a:r>
            <a:r>
              <a:rPr lang="en-US" sz="900">
                <a:solidFill>
                  <a:srgbClr val="EAEEF2">
                    <a:alpha val="82000"/>
                  </a:srgbClr>
                </a:solidFill>
                <a:latin typeface="Inter"/>
                <a:ea typeface="Inter"/>
                <a:cs typeface="Inter"/>
              </a:rPr>
              <a:t> 20x → Error Rate ↑ 5+ in 60s, Latency flat 30ms, CPU 8% flat → </a:t>
            </a:r>
            <a:r>
              <a:rPr lang="en-US" sz="9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app error not infra</a:t>
            </a:r>
            <a:r>
              <a:rPr lang="en-US" sz="900">
                <a:solidFill>
                  <a:srgbClr val="EAEEF2">
                    <a:alpha val="82000"/>
                  </a:srgbClr>
                </a:solidFill>
                <a:latin typeface="Inter"/>
                <a:ea typeface="Inter"/>
                <a:cs typeface="Inter"/>
              </a:rPr>
              <a:t>. Top row = RED single value, Middle = Golden Signals, Bottom = USE, Correlation = all overlayed. 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3">
    <p:bg>
      <p:bgPr shadeToTitle="0">
        <a:solidFill>
          <a:srgbClr val="18162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5887807" name="Text 0"/>
          <p:cNvSpPr txBox="1"/>
          <p:nvPr/>
        </p:nvSpPr>
        <p:spPr bwMode="auto">
          <a:xfrm>
            <a:off x="533400" y="457200"/>
            <a:ext cx="11125200" cy="42564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>
              <a:buNone/>
              <a:defRPr/>
            </a:pPr>
            <a:r>
              <a:rPr lang="en-US" sz="3450" b="1" spc="-69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Alerting — </a:t>
            </a:r>
            <a:r>
              <a:rPr lang="en-US" sz="3450" b="1" spc="-69">
                <a:solidFill>
                  <a:srgbClr val="67F4E2"/>
                </a:solidFill>
                <a:latin typeface="Inter"/>
                <a:ea typeface="Inter"/>
                <a:cs typeface="Inter"/>
              </a:rPr>
              <a:t>4 Alarms</a:t>
            </a:r>
            <a:r>
              <a:rPr lang="en-US" sz="3450" b="1" spc="-69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 CloudWatch</a:t>
            </a:r>
            <a:endParaRPr lang="en-US" sz="3450"/>
          </a:p>
        </p:txBody>
      </p:sp>
      <p:sp>
        <p:nvSpPr>
          <p:cNvPr id="647033335" name="Text 1"/>
          <p:cNvSpPr txBox="1"/>
          <p:nvPr/>
        </p:nvSpPr>
        <p:spPr bwMode="auto">
          <a:xfrm>
            <a:off x="533400" y="1063823"/>
            <a:ext cx="7239000" cy="363736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  <a:defRPr/>
            </a:pPr>
            <a:r>
              <a:rPr lang="en-US" sz="1050">
                <a:solidFill>
                  <a:srgbClr val="EAEEF2">
                    <a:alpha val="70000"/>
                  </a:srgbClr>
                </a:solidFill>
                <a:latin typeface="Inter"/>
                <a:ea typeface="Inter"/>
                <a:cs typeface="Inter"/>
              </a:rPr>
              <a:t>Namespace Proj2/MyApp + AWS/EC2 • Period 60s for custom metrics, 300s for no-traffic &amp; CPU. All alarms → SNS topic proj2-alerts (email).</a:t>
            </a:r>
            <a:endParaRPr lang="en-US" sz="1050"/>
          </a:p>
        </p:txBody>
      </p:sp>
      <p:pic>
        <p:nvPicPr>
          <p:cNvPr id="938635607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33400" y="1599009"/>
            <a:ext cx="5495925" cy="1257151"/>
          </a:xfrm>
          <a:prstGeom prst="rect">
            <a:avLst/>
          </a:prstGeom>
        </p:spPr>
      </p:pic>
      <p:sp>
        <p:nvSpPr>
          <p:cNvPr id="1535906321" name="Text 2"/>
          <p:cNvSpPr txBox="1"/>
          <p:nvPr/>
        </p:nvSpPr>
        <p:spPr bwMode="auto">
          <a:xfrm>
            <a:off x="542925" y="1608534"/>
            <a:ext cx="5476875" cy="190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25"/>
              </a:lnSpc>
              <a:buNone/>
              <a:defRPr/>
            </a:pPr>
            <a:endParaRPr lang="en-US" sz="1350"/>
          </a:p>
        </p:txBody>
      </p:sp>
      <p:sp>
        <p:nvSpPr>
          <p:cNvPr id="1350325946" name="Text 3"/>
          <p:cNvSpPr txBox="1"/>
          <p:nvPr/>
        </p:nvSpPr>
        <p:spPr bwMode="auto">
          <a:xfrm>
            <a:off x="714375" y="1760934"/>
            <a:ext cx="5133975" cy="13707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80"/>
              </a:lnSpc>
              <a:buNone/>
              <a:defRPr/>
            </a:pPr>
            <a:r>
              <a:rPr lang="en-US" sz="900" b="1" spc="18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proj2-high-error-rate</a:t>
            </a:r>
            <a:endParaRPr lang="en-US" sz="900"/>
          </a:p>
        </p:txBody>
      </p:sp>
      <p:sp>
        <p:nvSpPr>
          <p:cNvPr id="1017954498" name="Text 4"/>
          <p:cNvSpPr txBox="1"/>
          <p:nvPr/>
        </p:nvSpPr>
        <p:spPr bwMode="auto">
          <a:xfrm>
            <a:off x="714375" y="1983730"/>
            <a:ext cx="5133975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850">
                <a:solidFill>
                  <a:srgbClr val="67F4E2"/>
                </a:solidFill>
                <a:latin typeface="JetBrains Mono"/>
                <a:ea typeface="JetBrains Mono"/>
                <a:cs typeface="JetBrains Mono"/>
              </a:rPr>
              <a:t>error_count • Sum &gt;5 • 2 periods of 60s</a:t>
            </a:r>
            <a:endParaRPr lang="en-US" sz="850"/>
          </a:p>
        </p:txBody>
      </p:sp>
      <p:pic>
        <p:nvPicPr>
          <p:cNvPr id="30162033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714375" y="2226618"/>
            <a:ext cx="657671" cy="238125"/>
          </a:xfrm>
          <a:prstGeom prst="rect">
            <a:avLst/>
          </a:prstGeom>
        </p:spPr>
      </p:pic>
      <p:sp>
        <p:nvSpPr>
          <p:cNvPr id="1868591352" name="Text 5"/>
          <p:cNvSpPr txBox="1"/>
          <p:nvPr/>
        </p:nvSpPr>
        <p:spPr bwMode="auto">
          <a:xfrm>
            <a:off x="800100" y="2283768"/>
            <a:ext cx="486221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EF2"/>
                </a:solidFill>
                <a:highlight>
                  <a:srgbClr val="6BF7DE"/>
                </a:highlight>
                <a:latin typeface="Inter"/>
                <a:ea typeface="Inter"/>
                <a:cs typeface="Inter"/>
              </a:rPr>
              <a:t>RED Errors</a:t>
            </a:r>
            <a:endParaRPr lang="en-US" sz="750"/>
          </a:p>
        </p:txBody>
      </p:sp>
      <p:pic>
        <p:nvPicPr>
          <p:cNvPr id="1683988987" name="Image 2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1448246" y="2226618"/>
            <a:ext cx="576560" cy="238125"/>
          </a:xfrm>
          <a:prstGeom prst="rect">
            <a:avLst/>
          </a:prstGeom>
        </p:spPr>
      </p:pic>
      <p:sp>
        <p:nvSpPr>
          <p:cNvPr id="876315989" name="Text 6"/>
          <p:cNvSpPr txBox="1"/>
          <p:nvPr/>
        </p:nvSpPr>
        <p:spPr bwMode="auto">
          <a:xfrm>
            <a:off x="1533971" y="2283768"/>
            <a:ext cx="405110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DF2">
                    <a:alpha val="80000"/>
                  </a:srgbClr>
                </a:solidFill>
                <a:highlight>
                  <a:srgbClr val="E6F2F2"/>
                </a:highlight>
                <a:latin typeface="Inter"/>
                <a:ea typeface="Inter"/>
                <a:cs typeface="Inter"/>
              </a:rPr>
              <a:t>Stat Sum</a:t>
            </a:r>
            <a:endParaRPr lang="en-US" sz="750"/>
          </a:p>
        </p:txBody>
      </p:sp>
      <p:pic>
        <p:nvPicPr>
          <p:cNvPr id="1733700544" name="Image 3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2101007" y="2226618"/>
            <a:ext cx="1569541" cy="238125"/>
          </a:xfrm>
          <a:prstGeom prst="rect">
            <a:avLst/>
          </a:prstGeom>
        </p:spPr>
      </p:pic>
      <p:sp>
        <p:nvSpPr>
          <p:cNvPr id="216334212" name="Text 7"/>
          <p:cNvSpPr txBox="1"/>
          <p:nvPr/>
        </p:nvSpPr>
        <p:spPr bwMode="auto">
          <a:xfrm>
            <a:off x="2186732" y="2283768"/>
            <a:ext cx="1398091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DF2">
                    <a:alpha val="80000"/>
                  </a:srgbClr>
                </a:solidFill>
                <a:highlight>
                  <a:srgbClr val="E6F2F2"/>
                </a:highlight>
                <a:latin typeface="Inter"/>
                <a:ea typeface="Inter"/>
                <a:cs typeface="Inter"/>
              </a:rPr>
              <a:t>Treat missing as not-breaching</a:t>
            </a:r>
            <a:endParaRPr lang="en-US" sz="750"/>
          </a:p>
        </p:txBody>
      </p:sp>
      <p:sp>
        <p:nvSpPr>
          <p:cNvPr id="86213069" name="Text 8"/>
          <p:cNvSpPr txBox="1"/>
          <p:nvPr/>
        </p:nvSpPr>
        <p:spPr bwMode="auto">
          <a:xfrm>
            <a:off x="714375" y="2550468"/>
            <a:ext cx="5133975" cy="14376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>
              <a:buNone/>
              <a:defRPr/>
            </a:pPr>
            <a:r>
              <a:rPr lang="en-US" sz="85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Why 5?</a:t>
            </a:r>
            <a:r>
              <a:rPr lang="en-US" sz="850">
                <a:solidFill>
                  <a:srgbClr val="EAEDF2">
                    <a:alpha val="68000"/>
                  </a:srgbClr>
                </a:solidFill>
                <a:latin typeface="Inter"/>
                <a:ea typeface="Inter"/>
                <a:cs typeface="Inter"/>
              </a:rPr>
              <a:t> Low-traffic app — anomaly. When we injected /fail, Sum spiked → app error, CPU flat.</a:t>
            </a:r>
            <a:endParaRPr lang="en-US" sz="850"/>
          </a:p>
        </p:txBody>
      </p:sp>
      <p:pic>
        <p:nvPicPr>
          <p:cNvPr id="2084100168" name="Image 4" descr="preencoded.png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6162675" y="1599009"/>
            <a:ext cx="5495925" cy="1257151"/>
          </a:xfrm>
          <a:prstGeom prst="rect">
            <a:avLst/>
          </a:prstGeom>
        </p:spPr>
      </p:pic>
      <p:sp>
        <p:nvSpPr>
          <p:cNvPr id="1365776597" name="Text 9"/>
          <p:cNvSpPr txBox="1"/>
          <p:nvPr/>
        </p:nvSpPr>
        <p:spPr bwMode="auto">
          <a:xfrm>
            <a:off x="6172200" y="1608534"/>
            <a:ext cx="5476875" cy="190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25"/>
              </a:lnSpc>
              <a:buNone/>
              <a:defRPr/>
            </a:pPr>
            <a:endParaRPr lang="en-US" sz="1350"/>
          </a:p>
        </p:txBody>
      </p:sp>
      <p:sp>
        <p:nvSpPr>
          <p:cNvPr id="1448967202" name="Text 10"/>
          <p:cNvSpPr txBox="1"/>
          <p:nvPr/>
        </p:nvSpPr>
        <p:spPr bwMode="auto">
          <a:xfrm>
            <a:off x="6343650" y="1760934"/>
            <a:ext cx="5133975" cy="13707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80"/>
              </a:lnSpc>
              <a:buNone/>
              <a:defRPr/>
            </a:pPr>
            <a:r>
              <a:rPr lang="en-US" sz="900" b="1" spc="18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proj2-high-latency</a:t>
            </a:r>
            <a:endParaRPr lang="en-US" sz="900"/>
          </a:p>
        </p:txBody>
      </p:sp>
      <p:sp>
        <p:nvSpPr>
          <p:cNvPr id="384669019" name="Text 11"/>
          <p:cNvSpPr txBox="1"/>
          <p:nvPr/>
        </p:nvSpPr>
        <p:spPr bwMode="auto">
          <a:xfrm>
            <a:off x="6343650" y="1983730"/>
            <a:ext cx="5133975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850">
                <a:solidFill>
                  <a:srgbClr val="67F4E2"/>
                </a:solidFill>
                <a:latin typeface="JetBrains Mono"/>
                <a:ea typeface="JetBrains Mono"/>
                <a:cs typeface="JetBrains Mono"/>
              </a:rPr>
              <a:t>api_latency • Average &gt;500ms • 2 periods</a:t>
            </a:r>
            <a:endParaRPr lang="en-US" sz="850"/>
          </a:p>
        </p:txBody>
      </p:sp>
      <p:pic>
        <p:nvPicPr>
          <p:cNvPr id="1450733605" name="Image 5" descr="preencoded.png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6343650" y="2226618"/>
            <a:ext cx="767655" cy="238125"/>
          </a:xfrm>
          <a:prstGeom prst="rect">
            <a:avLst/>
          </a:prstGeom>
        </p:spPr>
      </p:pic>
      <p:sp>
        <p:nvSpPr>
          <p:cNvPr id="915133922" name="Text 12"/>
          <p:cNvSpPr txBox="1"/>
          <p:nvPr/>
        </p:nvSpPr>
        <p:spPr bwMode="auto">
          <a:xfrm>
            <a:off x="6429375" y="2283768"/>
            <a:ext cx="596205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EF2"/>
                </a:solidFill>
                <a:highlight>
                  <a:srgbClr val="6BF7DE"/>
                </a:highlight>
                <a:latin typeface="Inter"/>
                <a:ea typeface="Inter"/>
                <a:cs typeface="Inter"/>
              </a:rPr>
              <a:t>RED Duration</a:t>
            </a:r>
            <a:endParaRPr lang="en-US" sz="750"/>
          </a:p>
        </p:txBody>
      </p:sp>
      <p:pic>
        <p:nvPicPr>
          <p:cNvPr id="1453387055" name="Image 6" descr="preencoded.png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>
            <a:off x="7187505" y="2226618"/>
            <a:ext cx="340816" cy="238125"/>
          </a:xfrm>
          <a:prstGeom prst="rect">
            <a:avLst/>
          </a:prstGeom>
        </p:spPr>
      </p:pic>
      <p:sp>
        <p:nvSpPr>
          <p:cNvPr id="1921532188" name="Text 13"/>
          <p:cNvSpPr txBox="1"/>
          <p:nvPr/>
        </p:nvSpPr>
        <p:spPr bwMode="auto">
          <a:xfrm>
            <a:off x="7273230" y="2283768"/>
            <a:ext cx="169366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DF2">
                    <a:alpha val="80000"/>
                  </a:srgbClr>
                </a:solidFill>
                <a:highlight>
                  <a:srgbClr val="E6F2F2"/>
                </a:highlight>
                <a:latin typeface="Inter"/>
                <a:ea typeface="Inter"/>
                <a:cs typeface="Inter"/>
              </a:rPr>
              <a:t>Avg</a:t>
            </a:r>
            <a:endParaRPr lang="en-US" sz="750"/>
          </a:p>
        </p:txBody>
      </p:sp>
      <p:pic>
        <p:nvPicPr>
          <p:cNvPr id="201186230" name="Image 7" descr="preencoded.png"/>
          <p:cNvPicPr>
            <a:picLocks noChangeAspect="1"/>
          </p:cNvPicPr>
          <p:nvPr/>
        </p:nvPicPr>
        <p:blipFill rotWithShape="1">
          <a:blip r:embed="rId10"/>
          <a:stretch/>
        </p:blipFill>
        <p:spPr bwMode="auto">
          <a:xfrm>
            <a:off x="7604522" y="2226618"/>
            <a:ext cx="693837" cy="238125"/>
          </a:xfrm>
          <a:prstGeom prst="rect">
            <a:avLst/>
          </a:prstGeom>
        </p:spPr>
      </p:pic>
      <p:sp>
        <p:nvSpPr>
          <p:cNvPr id="1134693514" name="Text 14"/>
          <p:cNvSpPr txBox="1"/>
          <p:nvPr/>
        </p:nvSpPr>
        <p:spPr bwMode="auto">
          <a:xfrm>
            <a:off x="7690247" y="2283768"/>
            <a:ext cx="522387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DF2">
                    <a:alpha val="80000"/>
                  </a:srgbClr>
                </a:solidFill>
                <a:highlight>
                  <a:srgbClr val="E6F2F2"/>
                </a:highlight>
                <a:latin typeface="Inter"/>
                <a:ea typeface="Inter"/>
                <a:cs typeface="Inter"/>
              </a:rPr>
              <a:t>SLO 500ms</a:t>
            </a:r>
            <a:endParaRPr lang="en-US" sz="750"/>
          </a:p>
        </p:txBody>
      </p:sp>
      <p:sp>
        <p:nvSpPr>
          <p:cNvPr id="1012751787" name="Text 15"/>
          <p:cNvSpPr txBox="1"/>
          <p:nvPr/>
        </p:nvSpPr>
        <p:spPr bwMode="auto">
          <a:xfrm>
            <a:off x="6343650" y="2550468"/>
            <a:ext cx="5133975" cy="14376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>
              <a:buNone/>
              <a:defRPr/>
            </a:pPr>
            <a:r>
              <a:rPr lang="en-US" sz="85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Why 500ms?</a:t>
            </a:r>
            <a:r>
              <a:rPr lang="en-US" sz="850">
                <a:solidFill>
                  <a:srgbClr val="EAEDF2">
                    <a:alpha val="68000"/>
                  </a:srgbClr>
                </a:solidFill>
                <a:latin typeface="Inter"/>
                <a:ea typeface="Inter"/>
                <a:cs typeface="Inter"/>
              </a:rPr>
              <a:t> p95 of normal 14-84ms from journalctl logs. 500ms = SLO breach, user-visible.</a:t>
            </a:r>
            <a:endParaRPr lang="en-US" sz="850"/>
          </a:p>
        </p:txBody>
      </p:sp>
      <p:pic>
        <p:nvPicPr>
          <p:cNvPr id="1077022727" name="Image 8" descr="preencoded.png"/>
          <p:cNvPicPr>
            <a:picLocks noChangeAspect="1"/>
          </p:cNvPicPr>
          <p:nvPr/>
        </p:nvPicPr>
        <p:blipFill rotWithShape="1">
          <a:blip r:embed="rId11"/>
          <a:stretch/>
        </p:blipFill>
        <p:spPr bwMode="auto">
          <a:xfrm>
            <a:off x="533400" y="2989511"/>
            <a:ext cx="5495925" cy="1410444"/>
          </a:xfrm>
          <a:prstGeom prst="rect">
            <a:avLst/>
          </a:prstGeom>
        </p:spPr>
      </p:pic>
      <p:sp>
        <p:nvSpPr>
          <p:cNvPr id="949678666" name="Text 16"/>
          <p:cNvSpPr txBox="1"/>
          <p:nvPr/>
        </p:nvSpPr>
        <p:spPr bwMode="auto">
          <a:xfrm>
            <a:off x="542925" y="2999036"/>
            <a:ext cx="5476875" cy="190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25"/>
              </a:lnSpc>
              <a:buNone/>
              <a:defRPr/>
            </a:pPr>
            <a:endParaRPr lang="en-US" sz="1350"/>
          </a:p>
        </p:txBody>
      </p:sp>
      <p:sp>
        <p:nvSpPr>
          <p:cNvPr id="1739205361" name="Text 17"/>
          <p:cNvSpPr txBox="1"/>
          <p:nvPr/>
        </p:nvSpPr>
        <p:spPr bwMode="auto">
          <a:xfrm>
            <a:off x="714375" y="3151435"/>
            <a:ext cx="5133975" cy="13707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80"/>
              </a:lnSpc>
              <a:buNone/>
              <a:defRPr/>
            </a:pPr>
            <a:r>
              <a:rPr lang="en-US" sz="900" b="1" spc="18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proj2-no-traffic</a:t>
            </a:r>
            <a:endParaRPr lang="en-US" sz="900"/>
          </a:p>
        </p:txBody>
      </p:sp>
      <p:sp>
        <p:nvSpPr>
          <p:cNvPr id="409290894" name="Text 18"/>
          <p:cNvSpPr txBox="1"/>
          <p:nvPr/>
        </p:nvSpPr>
        <p:spPr bwMode="auto">
          <a:xfrm>
            <a:off x="714375" y="3374231"/>
            <a:ext cx="5133975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850">
                <a:solidFill>
                  <a:srgbClr val="67F4E2"/>
                </a:solidFill>
                <a:latin typeface="JetBrains Mono"/>
                <a:ea typeface="JetBrains Mono"/>
                <a:cs typeface="JetBrains Mono"/>
              </a:rPr>
              <a:t>request_count • Sum &lt;1 • 300s period • missing data BREACHING</a:t>
            </a:r>
            <a:endParaRPr lang="en-US" sz="850"/>
          </a:p>
        </p:txBody>
      </p:sp>
      <p:pic>
        <p:nvPicPr>
          <p:cNvPr id="1359471584" name="Image 9" descr="preencoded.png"/>
          <p:cNvPicPr>
            <a:picLocks noChangeAspect="1"/>
          </p:cNvPicPr>
          <p:nvPr/>
        </p:nvPicPr>
        <p:blipFill rotWithShape="1">
          <a:blip r:embed="rId12"/>
          <a:stretch/>
        </p:blipFill>
        <p:spPr bwMode="auto">
          <a:xfrm>
            <a:off x="714375" y="3617119"/>
            <a:ext cx="780901" cy="238125"/>
          </a:xfrm>
          <a:prstGeom prst="rect">
            <a:avLst/>
          </a:prstGeom>
        </p:spPr>
      </p:pic>
      <p:sp>
        <p:nvSpPr>
          <p:cNvPr id="74127551" name="Text 19"/>
          <p:cNvSpPr txBox="1"/>
          <p:nvPr/>
        </p:nvSpPr>
        <p:spPr bwMode="auto">
          <a:xfrm>
            <a:off x="800100" y="3674269"/>
            <a:ext cx="609451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EF2"/>
                </a:solidFill>
                <a:highlight>
                  <a:srgbClr val="6BF7DE"/>
                </a:highlight>
                <a:latin typeface="Inter"/>
                <a:ea typeface="Inter"/>
                <a:cs typeface="Inter"/>
              </a:rPr>
              <a:t>Health-check</a:t>
            </a:r>
            <a:endParaRPr lang="en-US" sz="750"/>
          </a:p>
        </p:txBody>
      </p:sp>
      <p:pic>
        <p:nvPicPr>
          <p:cNvPr id="1393500521" name="Image 10" descr="preencoded.png"/>
          <p:cNvPicPr>
            <a:picLocks noChangeAspect="1"/>
          </p:cNvPicPr>
          <p:nvPr/>
        </p:nvPicPr>
        <p:blipFill rotWithShape="1">
          <a:blip r:embed="rId13"/>
          <a:stretch/>
        </p:blipFill>
        <p:spPr bwMode="auto">
          <a:xfrm>
            <a:off x="1571476" y="3617119"/>
            <a:ext cx="855166" cy="238125"/>
          </a:xfrm>
          <a:prstGeom prst="rect">
            <a:avLst/>
          </a:prstGeom>
        </p:spPr>
      </p:pic>
      <p:sp>
        <p:nvSpPr>
          <p:cNvPr id="269978437" name="Text 20"/>
          <p:cNvSpPr txBox="1"/>
          <p:nvPr/>
        </p:nvSpPr>
        <p:spPr bwMode="auto">
          <a:xfrm>
            <a:off x="1657201" y="3674269"/>
            <a:ext cx="683716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DF2">
                    <a:alpha val="80000"/>
                  </a:srgbClr>
                </a:solidFill>
                <a:highlight>
                  <a:srgbClr val="E6F2F2"/>
                </a:highlight>
                <a:latin typeface="Inter"/>
                <a:ea typeface="Inter"/>
                <a:cs typeface="Inter"/>
              </a:rPr>
              <a:t>1 req /5min min</a:t>
            </a:r>
            <a:endParaRPr lang="en-US" sz="750"/>
          </a:p>
        </p:txBody>
      </p:sp>
      <p:pic>
        <p:nvPicPr>
          <p:cNvPr id="1796000118" name="Image 11" descr="preencoded.png"/>
          <p:cNvPicPr>
            <a:picLocks noChangeAspect="1"/>
          </p:cNvPicPr>
          <p:nvPr/>
        </p:nvPicPr>
        <p:blipFill rotWithShape="1">
          <a:blip r:embed="rId14"/>
          <a:stretch/>
        </p:blipFill>
        <p:spPr bwMode="auto">
          <a:xfrm>
            <a:off x="2502843" y="3617119"/>
            <a:ext cx="1000423" cy="238125"/>
          </a:xfrm>
          <a:prstGeom prst="rect">
            <a:avLst/>
          </a:prstGeom>
        </p:spPr>
      </p:pic>
      <p:sp>
        <p:nvSpPr>
          <p:cNvPr id="1068342330" name="Text 21"/>
          <p:cNvSpPr txBox="1"/>
          <p:nvPr/>
        </p:nvSpPr>
        <p:spPr bwMode="auto">
          <a:xfrm>
            <a:off x="2588568" y="3674269"/>
            <a:ext cx="828973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DF2">
                    <a:alpha val="80000"/>
                  </a:srgbClr>
                </a:solidFill>
                <a:highlight>
                  <a:srgbClr val="E6F2F2"/>
                </a:highlight>
                <a:latin typeface="Inter"/>
                <a:ea typeface="Inter"/>
                <a:cs typeface="Inter"/>
              </a:rPr>
              <a:t>Missing → ALARM</a:t>
            </a:r>
            <a:endParaRPr lang="en-US" sz="750"/>
          </a:p>
        </p:txBody>
      </p:sp>
      <p:sp>
        <p:nvSpPr>
          <p:cNvPr id="545551479" name="Text 22"/>
          <p:cNvSpPr txBox="1"/>
          <p:nvPr/>
        </p:nvSpPr>
        <p:spPr bwMode="auto">
          <a:xfrm>
            <a:off x="714375" y="3940969"/>
            <a:ext cx="5133975" cy="297061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85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Why?</a:t>
            </a:r>
            <a:r>
              <a:rPr lang="en-US" sz="850">
                <a:solidFill>
                  <a:srgbClr val="EAEDF2">
                    <a:alpha val="68000"/>
                  </a:srgbClr>
                </a:solidFill>
                <a:latin typeface="Inter"/>
                <a:ea typeface="Inter"/>
                <a:cs typeface="Inter"/>
              </a:rPr>
              <a:t> Detect gunicorn down / systemd stop. Triggers systemctl stop myapp demo. Differentiates silence vs zero.</a:t>
            </a:r>
            <a:endParaRPr lang="en-US" sz="850"/>
          </a:p>
        </p:txBody>
      </p:sp>
      <p:pic>
        <p:nvPicPr>
          <p:cNvPr id="408490451" name="Image 12" descr="preencoded.png"/>
          <p:cNvPicPr>
            <a:picLocks noChangeAspect="1"/>
          </p:cNvPicPr>
          <p:nvPr/>
        </p:nvPicPr>
        <p:blipFill rotWithShape="1">
          <a:blip r:embed="rId15"/>
          <a:stretch/>
        </p:blipFill>
        <p:spPr bwMode="auto">
          <a:xfrm>
            <a:off x="6162675" y="2989511"/>
            <a:ext cx="5495925" cy="1410444"/>
          </a:xfrm>
          <a:prstGeom prst="rect">
            <a:avLst/>
          </a:prstGeom>
        </p:spPr>
      </p:pic>
      <p:sp>
        <p:nvSpPr>
          <p:cNvPr id="1848144851" name="Text 23"/>
          <p:cNvSpPr txBox="1"/>
          <p:nvPr/>
        </p:nvSpPr>
        <p:spPr bwMode="auto">
          <a:xfrm>
            <a:off x="6172200" y="2999036"/>
            <a:ext cx="5476875" cy="190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25"/>
              </a:lnSpc>
              <a:buNone/>
              <a:defRPr/>
            </a:pPr>
            <a:endParaRPr lang="en-US" sz="1350"/>
          </a:p>
        </p:txBody>
      </p:sp>
      <p:sp>
        <p:nvSpPr>
          <p:cNvPr id="187282592" name="Text 24"/>
          <p:cNvSpPr txBox="1"/>
          <p:nvPr/>
        </p:nvSpPr>
        <p:spPr bwMode="auto">
          <a:xfrm>
            <a:off x="6343650" y="3151435"/>
            <a:ext cx="5133975" cy="13707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80"/>
              </a:lnSpc>
              <a:buNone/>
              <a:defRPr/>
            </a:pPr>
            <a:r>
              <a:rPr lang="en-US" sz="900" b="1" spc="18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proj2-high-cpu</a:t>
            </a:r>
            <a:endParaRPr lang="en-US" sz="900"/>
          </a:p>
        </p:txBody>
      </p:sp>
      <p:sp>
        <p:nvSpPr>
          <p:cNvPr id="395363996" name="Text 25"/>
          <p:cNvSpPr txBox="1"/>
          <p:nvPr/>
        </p:nvSpPr>
        <p:spPr bwMode="auto">
          <a:xfrm>
            <a:off x="6343650" y="3374231"/>
            <a:ext cx="5133975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850">
                <a:solidFill>
                  <a:srgbClr val="67F4E2"/>
                </a:solidFill>
                <a:latin typeface="JetBrains Mono"/>
                <a:ea typeface="JetBrains Mono"/>
                <a:cs typeface="JetBrains Mono"/>
              </a:rPr>
              <a:t>CPUUtilization • Average &gt;80% • 2 periods 300s • Dim: InstanceId=i-01b042…</a:t>
            </a:r>
            <a:endParaRPr lang="en-US" sz="850"/>
          </a:p>
        </p:txBody>
      </p:sp>
      <p:pic>
        <p:nvPicPr>
          <p:cNvPr id="2025649873" name="Image 13" descr="preencoded.png"/>
          <p:cNvPicPr>
            <a:picLocks noChangeAspect="1"/>
          </p:cNvPicPr>
          <p:nvPr/>
        </p:nvPicPr>
        <p:blipFill rotWithShape="1">
          <a:blip r:embed="rId16"/>
          <a:stretch/>
        </p:blipFill>
        <p:spPr bwMode="auto">
          <a:xfrm>
            <a:off x="6343650" y="3617119"/>
            <a:ext cx="846534" cy="238125"/>
          </a:xfrm>
          <a:prstGeom prst="rect">
            <a:avLst/>
          </a:prstGeom>
        </p:spPr>
      </p:pic>
      <p:sp>
        <p:nvSpPr>
          <p:cNvPr id="1096666694" name="Text 26"/>
          <p:cNvSpPr txBox="1"/>
          <p:nvPr/>
        </p:nvSpPr>
        <p:spPr bwMode="auto">
          <a:xfrm>
            <a:off x="6429375" y="3674269"/>
            <a:ext cx="675084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EF2"/>
                </a:solidFill>
                <a:highlight>
                  <a:srgbClr val="6BF7DE"/>
                </a:highlight>
                <a:latin typeface="Inter"/>
                <a:ea typeface="Inter"/>
                <a:cs typeface="Inter"/>
              </a:rPr>
              <a:t>USE Saturation</a:t>
            </a:r>
            <a:endParaRPr lang="en-US" sz="750"/>
          </a:p>
        </p:txBody>
      </p:sp>
      <p:pic>
        <p:nvPicPr>
          <p:cNvPr id="66545639" name="Image 14" descr="preencoded.png"/>
          <p:cNvPicPr>
            <a:picLocks noChangeAspect="1"/>
          </p:cNvPicPr>
          <p:nvPr/>
        </p:nvPicPr>
        <p:blipFill rotWithShape="1">
          <a:blip r:embed="rId17"/>
          <a:stretch/>
        </p:blipFill>
        <p:spPr bwMode="auto">
          <a:xfrm>
            <a:off x="7266384" y="3617119"/>
            <a:ext cx="606028" cy="238125"/>
          </a:xfrm>
          <a:prstGeom prst="rect">
            <a:avLst/>
          </a:prstGeom>
        </p:spPr>
      </p:pic>
      <p:sp>
        <p:nvSpPr>
          <p:cNvPr id="378271255" name="Text 27"/>
          <p:cNvSpPr txBox="1"/>
          <p:nvPr/>
        </p:nvSpPr>
        <p:spPr bwMode="auto">
          <a:xfrm>
            <a:off x="7352109" y="3674269"/>
            <a:ext cx="434578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DF2">
                    <a:alpha val="80000"/>
                  </a:srgbClr>
                </a:solidFill>
                <a:highlight>
                  <a:srgbClr val="E6F2F2"/>
                </a:highlight>
                <a:latin typeface="Inter"/>
                <a:ea typeface="Inter"/>
                <a:cs typeface="Inter"/>
              </a:rPr>
              <a:t>AWS/EC2</a:t>
            </a:r>
            <a:endParaRPr lang="en-US" sz="750"/>
          </a:p>
        </p:txBody>
      </p:sp>
      <p:pic>
        <p:nvPicPr>
          <p:cNvPr id="233821895" name="Image 15" descr="preencoded.png"/>
          <p:cNvPicPr>
            <a:picLocks noChangeAspect="1"/>
          </p:cNvPicPr>
          <p:nvPr/>
        </p:nvPicPr>
        <p:blipFill rotWithShape="1">
          <a:blip r:embed="rId18"/>
          <a:stretch/>
        </p:blipFill>
        <p:spPr bwMode="auto">
          <a:xfrm>
            <a:off x="7948613" y="3617119"/>
            <a:ext cx="580132" cy="238125"/>
          </a:xfrm>
          <a:prstGeom prst="rect">
            <a:avLst/>
          </a:prstGeom>
        </p:spPr>
      </p:pic>
      <p:sp>
        <p:nvSpPr>
          <p:cNvPr id="750516536" name="Text 28"/>
          <p:cNvSpPr txBox="1"/>
          <p:nvPr/>
        </p:nvSpPr>
        <p:spPr bwMode="auto">
          <a:xfrm>
            <a:off x="8034338" y="3674269"/>
            <a:ext cx="408682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DF2">
                    <a:alpha val="80000"/>
                  </a:srgbClr>
                </a:solidFill>
                <a:highlight>
                  <a:srgbClr val="E6F2F2"/>
                </a:highlight>
                <a:latin typeface="Inter"/>
                <a:ea typeface="Inter"/>
                <a:cs typeface="Inter"/>
              </a:rPr>
              <a:t>Avg 80%</a:t>
            </a:r>
            <a:endParaRPr lang="en-US" sz="750"/>
          </a:p>
        </p:txBody>
      </p:sp>
      <p:sp>
        <p:nvSpPr>
          <p:cNvPr id="536664002" name="Text 29"/>
          <p:cNvSpPr txBox="1"/>
          <p:nvPr/>
        </p:nvSpPr>
        <p:spPr bwMode="auto">
          <a:xfrm>
            <a:off x="6343650" y="3940969"/>
            <a:ext cx="5133975" cy="297061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85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Why 80%?</a:t>
            </a:r>
            <a:r>
              <a:rPr lang="en-US" sz="850">
                <a:solidFill>
                  <a:srgbClr val="EAEDF2">
                    <a:alpha val="68000"/>
                  </a:srgbClr>
                </a:solidFill>
                <a:latin typeface="Inter"/>
                <a:ea typeface="Inter"/>
                <a:cs typeface="Inter"/>
              </a:rPr>
              <a:t> t3 threshold, leaves headroom for burst. When error spike hit, CPU stayed flat → proved isolation.</a:t>
            </a:r>
            <a:endParaRPr lang="en-US" sz="850"/>
          </a:p>
        </p:txBody>
      </p:sp>
      <p:pic>
        <p:nvPicPr>
          <p:cNvPr id="322247196" name="Image 16" descr="preencoded.png"/>
          <p:cNvPicPr>
            <a:picLocks noChangeAspect="1"/>
          </p:cNvPicPr>
          <p:nvPr/>
        </p:nvPicPr>
        <p:blipFill rotWithShape="1">
          <a:blip r:embed="rId19"/>
          <a:stretch/>
        </p:blipFill>
        <p:spPr bwMode="auto">
          <a:xfrm>
            <a:off x="533400" y="5993160"/>
            <a:ext cx="11125200" cy="407640"/>
          </a:xfrm>
          <a:prstGeom prst="rect">
            <a:avLst/>
          </a:prstGeom>
        </p:spPr>
      </p:pic>
      <p:sp>
        <p:nvSpPr>
          <p:cNvPr id="1629284696" name="Shape 30"/>
          <p:cNvSpPr/>
          <p:nvPr/>
        </p:nvSpPr>
        <p:spPr bwMode="auto">
          <a:xfrm>
            <a:off x="676275" y="61626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/>
        </p:spPr>
      </p:sp>
      <p:sp>
        <p:nvSpPr>
          <p:cNvPr id="1988049754" name="Text 31"/>
          <p:cNvSpPr txBox="1"/>
          <p:nvPr/>
        </p:nvSpPr>
        <p:spPr bwMode="auto">
          <a:xfrm>
            <a:off x="904875" y="6116985"/>
            <a:ext cx="9758958" cy="15999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>
              <a:buNone/>
              <a:defRPr/>
            </a:pPr>
            <a:r>
              <a:rPr lang="en-US" sz="900" b="1">
                <a:solidFill>
                  <a:srgbClr val="38BDF8"/>
                </a:solidFill>
                <a:latin typeface="Inter"/>
                <a:ea typeface="Inter"/>
                <a:cs typeface="Inter"/>
              </a:rPr>
              <a:t>SNS → proj2-alerts + Email notification</a:t>
            </a:r>
            <a:r>
              <a:rPr lang="en-US" sz="90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 • IAM proj2-ec2-role needs cloudwatch:PutMetricData only; ListMetrics from Admin • Thresholds tuned for low-traffic demo, not prod scale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5">
    <p:bg>
      <p:bgPr shadeToTitle="0">
        <a:solidFill>
          <a:srgbClr val="18162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102577" name="Text 0"/>
          <p:cNvSpPr txBox="1"/>
          <p:nvPr/>
        </p:nvSpPr>
        <p:spPr bwMode="auto">
          <a:xfrm>
            <a:off x="533400" y="495300"/>
            <a:ext cx="6275784" cy="42564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>
              <a:buNone/>
              <a:defRPr/>
            </a:pPr>
            <a:r>
              <a:rPr lang="en-US" sz="3450" b="1" spc="-69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Learnings — </a:t>
            </a:r>
            <a:r>
              <a:rPr lang="en-US" sz="3450" b="1" spc="-69">
                <a:solidFill>
                  <a:srgbClr val="67F4E2"/>
                </a:solidFill>
                <a:latin typeface="Inter"/>
                <a:ea typeface="Inter"/>
                <a:cs typeface="Inter"/>
              </a:rPr>
              <a:t>What I Learned</a:t>
            </a:r>
            <a:endParaRPr lang="en-US" sz="3450"/>
          </a:p>
        </p:txBody>
      </p:sp>
      <p:pic>
        <p:nvPicPr>
          <p:cNvPr id="1888134673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33400" y="1483668"/>
            <a:ext cx="6275784" cy="785515"/>
          </a:xfrm>
          <a:prstGeom prst="rect">
            <a:avLst/>
          </a:prstGeom>
        </p:spPr>
      </p:pic>
      <p:pic>
        <p:nvPicPr>
          <p:cNvPr id="2051347114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676275" y="1607493"/>
            <a:ext cx="266700" cy="266700"/>
          </a:xfrm>
          <a:prstGeom prst="rect">
            <a:avLst/>
          </a:prstGeom>
        </p:spPr>
      </p:pic>
      <p:sp>
        <p:nvSpPr>
          <p:cNvPr id="981499130" name="Text 1"/>
          <p:cNvSpPr txBox="1"/>
          <p:nvPr/>
        </p:nvSpPr>
        <p:spPr bwMode="auto">
          <a:xfrm>
            <a:off x="746373" y="1664643"/>
            <a:ext cx="187077" cy="2000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  <a:defRPr/>
            </a:pPr>
            <a:r>
              <a:rPr lang="en-US" sz="900" b="1">
                <a:solidFill>
                  <a:srgbClr val="67F4E2"/>
                </a:solidFill>
                <a:latin typeface="Inter"/>
                <a:ea typeface="Inter"/>
                <a:cs typeface="Inter"/>
              </a:rPr>
              <a:t>01</a:t>
            </a:r>
            <a:endParaRPr lang="en-US" sz="900"/>
          </a:p>
        </p:txBody>
      </p:sp>
      <p:sp>
        <p:nvSpPr>
          <p:cNvPr id="1956352490" name="Text 2"/>
          <p:cNvSpPr txBox="1"/>
          <p:nvPr/>
        </p:nvSpPr>
        <p:spPr bwMode="auto">
          <a:xfrm>
            <a:off x="1095375" y="1607493"/>
            <a:ext cx="5570934" cy="1607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6"/>
              </a:lnSpc>
              <a:spcAft>
                <a:spcPts val="300"/>
              </a:spcAft>
              <a:buNone/>
              <a:defRPr/>
            </a:pPr>
            <a:r>
              <a:rPr lang="en-US" sz="1000" b="1" spc="-10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Separation of concerns: access.log vs app.log</a:t>
            </a:r>
            <a:endParaRPr lang="en-US" sz="1000"/>
          </a:p>
        </p:txBody>
      </p:sp>
      <p:sp>
        <p:nvSpPr>
          <p:cNvPr id="1827828629" name="Text 3"/>
          <p:cNvSpPr txBox="1"/>
          <p:nvPr/>
        </p:nvSpPr>
        <p:spPr bwMode="auto">
          <a:xfrm>
            <a:off x="1095375" y="1806327"/>
            <a:ext cx="5570934" cy="33903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EAEEF3">
                    <a:alpha val="72000"/>
                  </a:srgbClr>
                </a:solidFill>
                <a:latin typeface="Inter"/>
                <a:ea typeface="Inter"/>
                <a:cs typeface="Inter"/>
              </a:rPr>
              <a:t>Pointing both </a:t>
            </a:r>
            <a:r>
              <a:rPr lang="en-US" sz="9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--access-logfile</a:t>
            </a:r>
            <a:r>
              <a:rPr lang="en-US" sz="900">
                <a:solidFill>
                  <a:srgbClr val="EAEEF3">
                    <a:alpha val="72000"/>
                  </a:srgbClr>
                </a:solidFill>
                <a:latin typeface="Inter"/>
                <a:ea typeface="Inter"/>
                <a:cs typeface="Inter"/>
              </a:rPr>
              <a:t> and </a:t>
            </a:r>
            <a:r>
              <a:rPr lang="en-US" sz="9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--error-logfile</a:t>
            </a:r>
            <a:r>
              <a:rPr lang="en-US" sz="900">
                <a:solidFill>
                  <a:srgbClr val="EAEEF3">
                    <a:alpha val="72000"/>
                  </a:srgbClr>
                </a:solidFill>
                <a:latin typeface="Inter"/>
                <a:ea typeface="Inter"/>
                <a:cs typeface="Inter"/>
              </a:rPr>
              <a:t> to same </a:t>
            </a:r>
            <a:r>
              <a:rPr lang="en-US" sz="9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app.log</a:t>
            </a:r>
            <a:r>
              <a:rPr lang="en-US" sz="900">
                <a:solidFill>
                  <a:srgbClr val="EAEEF3">
                    <a:alpha val="72000"/>
                  </a:srgbClr>
                </a:solidFill>
                <a:latin typeface="Inter"/>
                <a:ea typeface="Inter"/>
                <a:cs typeface="Inter"/>
              </a:rPr>
              <a:t> mixes Apache format </a:t>
            </a:r>
            <a:r>
              <a:rPr lang="en-US" sz="900">
                <a:solidFill>
                  <a:srgbClr val="EAEEF3">
                    <a:alpha val="72000"/>
                  </a:srgbClr>
                </a:solidFill>
                <a:latin typeface="monospace"/>
                <a:ea typeface="monospace"/>
                <a:cs typeface="monospace"/>
              </a:rPr>
              <a:t>91.0.58.40 - - [13/Aug...]</a:t>
            </a:r>
            <a:r>
              <a:rPr lang="en-US" sz="900">
                <a:solidFill>
                  <a:srgbClr val="EAEEF3">
                    <a:alpha val="72000"/>
                  </a:srgbClr>
                </a:solidFill>
                <a:latin typeface="Inter"/>
                <a:ea typeface="Inter"/>
                <a:cs typeface="Inter"/>
              </a:rPr>
              <a:t> with JSON. Parser breaks → Discovered fields 11, no level.</a:t>
            </a:r>
            <a:endParaRPr lang="en-US" sz="900"/>
          </a:p>
        </p:txBody>
      </p:sp>
      <p:pic>
        <p:nvPicPr>
          <p:cNvPr id="1783607731" name="Image 2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533400" y="2383482"/>
            <a:ext cx="6275784" cy="945505"/>
          </a:xfrm>
          <a:prstGeom prst="rect">
            <a:avLst/>
          </a:prstGeom>
        </p:spPr>
      </p:pic>
      <p:pic>
        <p:nvPicPr>
          <p:cNvPr id="296028516" name="Image 3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676275" y="2507307"/>
            <a:ext cx="266700" cy="266700"/>
          </a:xfrm>
          <a:prstGeom prst="rect">
            <a:avLst/>
          </a:prstGeom>
        </p:spPr>
      </p:pic>
      <p:sp>
        <p:nvSpPr>
          <p:cNvPr id="301480548" name="Text 4"/>
          <p:cNvSpPr txBox="1"/>
          <p:nvPr/>
        </p:nvSpPr>
        <p:spPr bwMode="auto">
          <a:xfrm>
            <a:off x="735062" y="2564457"/>
            <a:ext cx="198388" cy="2000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  <a:defRPr/>
            </a:pPr>
            <a:r>
              <a:rPr lang="en-US" sz="900" b="1">
                <a:solidFill>
                  <a:srgbClr val="67F4E2"/>
                </a:solidFill>
                <a:latin typeface="Inter"/>
                <a:ea typeface="Inter"/>
                <a:cs typeface="Inter"/>
              </a:rPr>
              <a:t>02</a:t>
            </a:r>
            <a:endParaRPr lang="en-US" sz="900"/>
          </a:p>
        </p:txBody>
      </p:sp>
      <p:sp>
        <p:nvSpPr>
          <p:cNvPr id="594684191" name="Text 5"/>
          <p:cNvSpPr txBox="1"/>
          <p:nvPr/>
        </p:nvSpPr>
        <p:spPr bwMode="auto">
          <a:xfrm>
            <a:off x="1095375" y="2507307"/>
            <a:ext cx="5570934" cy="1607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6"/>
              </a:lnSpc>
              <a:spcAft>
                <a:spcPts val="300"/>
              </a:spcAft>
              <a:buNone/>
              <a:defRPr/>
            </a:pPr>
            <a:r>
              <a:rPr lang="en-US" sz="1000" b="1" spc="-10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stdout → journalctl, not file by default</a:t>
            </a:r>
            <a:endParaRPr lang="en-US" sz="1000"/>
          </a:p>
        </p:txBody>
      </p:sp>
      <p:sp>
        <p:nvSpPr>
          <p:cNvPr id="221215804" name="Text 6"/>
          <p:cNvSpPr txBox="1"/>
          <p:nvPr/>
        </p:nvSpPr>
        <p:spPr bwMode="auto">
          <a:xfrm>
            <a:off x="1095375" y="2706142"/>
            <a:ext cx="5570934" cy="499021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EAEEF3">
                    <a:alpha val="72000"/>
                  </a:srgbClr>
                </a:solidFill>
                <a:latin typeface="Inter"/>
                <a:ea typeface="Inter"/>
                <a:cs typeface="Inter"/>
              </a:rPr>
              <a:t>Gunicorn app logs go to stdout. systemd captures to journal. Fix: </a:t>
            </a:r>
            <a:r>
              <a:rPr lang="en-US" sz="9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StandardOutput=append:/home/ec2-user/app/app.log</a:t>
            </a:r>
            <a:r>
              <a:rPr lang="en-US" sz="900">
                <a:solidFill>
                  <a:srgbClr val="EAEEF3">
                    <a:alpha val="72000"/>
                  </a:srgbClr>
                </a:solidFill>
                <a:latin typeface="Inter"/>
                <a:ea typeface="Inter"/>
                <a:cs typeface="Inter"/>
              </a:rPr>
              <a:t> + separate gunicorn-error.log. Then </a:t>
            </a:r>
            <a:r>
              <a:rPr lang="en-US" sz="900">
                <a:solidFill>
                  <a:srgbClr val="EAEEF3">
                    <a:alpha val="72000"/>
                  </a:srgbClr>
                </a:solidFill>
                <a:latin typeface="monospace"/>
                <a:ea typeface="monospace"/>
                <a:cs typeface="monospace"/>
              </a:rPr>
              <a:t>tail -f | grep request_completed</a:t>
            </a:r>
            <a:r>
              <a:rPr lang="en-US" sz="900">
                <a:solidFill>
                  <a:srgbClr val="EAEEF3">
                    <a:alpha val="72000"/>
                  </a:srgbClr>
                </a:solidFill>
                <a:latin typeface="Inter"/>
                <a:ea typeface="Inter"/>
                <a:cs typeface="Inter"/>
              </a:rPr>
              <a:t> shows JSON.</a:t>
            </a:r>
            <a:endParaRPr lang="en-US" sz="900"/>
          </a:p>
        </p:txBody>
      </p:sp>
      <p:pic>
        <p:nvPicPr>
          <p:cNvPr id="450997638" name="Image 4" descr="preencoded.png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533400" y="3443288"/>
            <a:ext cx="6275784" cy="766465"/>
          </a:xfrm>
          <a:prstGeom prst="rect">
            <a:avLst/>
          </a:prstGeom>
        </p:spPr>
      </p:pic>
      <p:pic>
        <p:nvPicPr>
          <p:cNvPr id="1757689962" name="Image 5" descr="preencoded.png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676275" y="3567113"/>
            <a:ext cx="266700" cy="266700"/>
          </a:xfrm>
          <a:prstGeom prst="rect">
            <a:avLst/>
          </a:prstGeom>
        </p:spPr>
      </p:pic>
      <p:sp>
        <p:nvSpPr>
          <p:cNvPr id="1792534475" name="Text 7"/>
          <p:cNvSpPr txBox="1"/>
          <p:nvPr/>
        </p:nvSpPr>
        <p:spPr bwMode="auto">
          <a:xfrm>
            <a:off x="734169" y="3624263"/>
            <a:ext cx="199281" cy="2000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  <a:defRPr/>
            </a:pPr>
            <a:r>
              <a:rPr lang="en-US" sz="900" b="1">
                <a:solidFill>
                  <a:srgbClr val="67F4E2"/>
                </a:solidFill>
                <a:latin typeface="Inter"/>
                <a:ea typeface="Inter"/>
                <a:cs typeface="Inter"/>
              </a:rPr>
              <a:t>03</a:t>
            </a:r>
            <a:endParaRPr lang="en-US" sz="900"/>
          </a:p>
        </p:txBody>
      </p:sp>
      <p:sp>
        <p:nvSpPr>
          <p:cNvPr id="2033883834" name="Text 8"/>
          <p:cNvSpPr txBox="1"/>
          <p:nvPr/>
        </p:nvSpPr>
        <p:spPr bwMode="auto">
          <a:xfrm>
            <a:off x="1095375" y="3567113"/>
            <a:ext cx="5570934" cy="1607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6"/>
              </a:lnSpc>
              <a:spcAft>
                <a:spcPts val="300"/>
              </a:spcAft>
              <a:buNone/>
              <a:defRPr/>
            </a:pPr>
            <a:r>
              <a:rPr lang="en-US" sz="1000" b="1" spc="-10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SEARCH syntax is Array of Array + period matters</a:t>
            </a:r>
            <a:endParaRPr lang="en-US" sz="1000"/>
          </a:p>
        </p:txBody>
      </p:sp>
      <p:sp>
        <p:nvSpPr>
          <p:cNvPr id="1925741411" name="Text 9"/>
          <p:cNvSpPr txBox="1"/>
          <p:nvPr/>
        </p:nvSpPr>
        <p:spPr bwMode="auto">
          <a:xfrm>
            <a:off x="1095375" y="3765947"/>
            <a:ext cx="5570934" cy="31998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EAEEF3">
                    <a:alpha val="72000"/>
                  </a:srgbClr>
                </a:solidFill>
                <a:latin typeface="Inter"/>
                <a:ea typeface="Inter"/>
                <a:cs typeface="Inter"/>
              </a:rPr>
              <a:t>Error </a:t>
            </a:r>
            <a:r>
              <a:rPr lang="en-US" sz="9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“Should be array, not object”</a:t>
            </a:r>
            <a:r>
              <a:rPr lang="en-US" sz="900">
                <a:solidFill>
                  <a:srgbClr val="EAEEF3">
                    <a:alpha val="72000"/>
                  </a:srgbClr>
                </a:solidFill>
                <a:latin typeface="Inter"/>
                <a:ea typeface="Inter"/>
                <a:cs typeface="Inter"/>
              </a:rPr>
              <a:t> &amp; </a:t>
            </a:r>
            <a:r>
              <a:rPr lang="en-US" sz="9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“additional properties period:10”</a:t>
            </a:r>
            <a:r>
              <a:rPr lang="en-US" sz="900">
                <a:solidFill>
                  <a:srgbClr val="EAEEF3">
                    <a:alpha val="72000"/>
                  </a:srgbClr>
                </a:solidFill>
                <a:latin typeface="Inter"/>
                <a:ea typeface="Inter"/>
                <a:cs typeface="Inter"/>
              </a:rPr>
              <a:t> → metrics must be </a:t>
            </a:r>
            <a:r>
              <a:rPr lang="en-US" sz="9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[[{expression}]]</a:t>
            </a:r>
            <a:r>
              <a:rPr lang="en-US" sz="900">
                <a:solidFill>
                  <a:srgbClr val="EAEEF3">
                    <a:alpha val="72000"/>
                  </a:srgbClr>
                </a:solidFill>
                <a:latin typeface="Inter"/>
                <a:ea typeface="Inter"/>
                <a:cs typeface="Inter"/>
              </a:rPr>
              <a:t> and period </a:t>
            </a:r>
            <a:r>
              <a:rPr lang="en-US" sz="9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60 not 10</a:t>
            </a:r>
            <a:r>
              <a:rPr lang="en-US" sz="900">
                <a:solidFill>
                  <a:srgbClr val="EAEEF3">
                    <a:alpha val="72000"/>
                  </a:srgbClr>
                </a:solidFill>
                <a:latin typeface="Inter"/>
                <a:ea typeface="Inter"/>
                <a:cs typeface="Inter"/>
              </a:rPr>
              <a:t> for High-Res cost + CWAgent 60s interval.</a:t>
            </a:r>
            <a:endParaRPr lang="en-US" sz="900"/>
          </a:p>
        </p:txBody>
      </p:sp>
      <p:pic>
        <p:nvPicPr>
          <p:cNvPr id="1297395186" name="Image 6" descr="preencoded.png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>
            <a:off x="533400" y="4324052"/>
            <a:ext cx="6275784" cy="766465"/>
          </a:xfrm>
          <a:prstGeom prst="rect">
            <a:avLst/>
          </a:prstGeom>
        </p:spPr>
      </p:pic>
      <p:pic>
        <p:nvPicPr>
          <p:cNvPr id="925049958" name="Image 7" descr="preencoded.png"/>
          <p:cNvPicPr>
            <a:picLocks noChangeAspect="1"/>
          </p:cNvPicPr>
          <p:nvPr/>
        </p:nvPicPr>
        <p:blipFill rotWithShape="1">
          <a:blip r:embed="rId10"/>
          <a:stretch/>
        </p:blipFill>
        <p:spPr bwMode="auto">
          <a:xfrm>
            <a:off x="676275" y="4447877"/>
            <a:ext cx="266700" cy="266700"/>
          </a:xfrm>
          <a:prstGeom prst="rect">
            <a:avLst/>
          </a:prstGeom>
        </p:spPr>
      </p:pic>
      <p:sp>
        <p:nvSpPr>
          <p:cNvPr id="317701703" name="Text 10"/>
          <p:cNvSpPr txBox="1"/>
          <p:nvPr/>
        </p:nvSpPr>
        <p:spPr bwMode="auto">
          <a:xfrm>
            <a:off x="732383" y="4505027"/>
            <a:ext cx="201067" cy="2000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  <a:defRPr/>
            </a:pPr>
            <a:r>
              <a:rPr lang="en-US" sz="900" b="1">
                <a:solidFill>
                  <a:srgbClr val="67F4E2"/>
                </a:solidFill>
                <a:latin typeface="Inter"/>
                <a:ea typeface="Inter"/>
                <a:cs typeface="Inter"/>
              </a:rPr>
              <a:t>04</a:t>
            </a:r>
            <a:endParaRPr lang="en-US" sz="900"/>
          </a:p>
        </p:txBody>
      </p:sp>
      <p:sp>
        <p:nvSpPr>
          <p:cNvPr id="416458062" name="Text 11"/>
          <p:cNvSpPr txBox="1"/>
          <p:nvPr/>
        </p:nvSpPr>
        <p:spPr bwMode="auto">
          <a:xfrm>
            <a:off x="1095375" y="4447877"/>
            <a:ext cx="5570934" cy="1607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6"/>
              </a:lnSpc>
              <a:spcAft>
                <a:spcPts val="300"/>
              </a:spcAft>
              <a:buNone/>
              <a:defRPr/>
            </a:pPr>
            <a:r>
              <a:rPr lang="en-US" sz="1000" b="1" spc="-10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IAM least privilege bite</a:t>
            </a:r>
            <a:endParaRPr lang="en-US" sz="1000"/>
          </a:p>
        </p:txBody>
      </p:sp>
      <p:sp>
        <p:nvSpPr>
          <p:cNvPr id="1460059503" name="Text 12"/>
          <p:cNvSpPr txBox="1"/>
          <p:nvPr/>
        </p:nvSpPr>
        <p:spPr bwMode="auto">
          <a:xfrm>
            <a:off x="1095375" y="4646712"/>
            <a:ext cx="5570934" cy="31998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9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proj2-ec2-role PutMetricData works</a:t>
            </a:r>
            <a:r>
              <a:rPr lang="en-US" sz="900">
                <a:solidFill>
                  <a:srgbClr val="EAEEF3">
                    <a:alpha val="72000"/>
                  </a:srgbClr>
                </a:solidFill>
                <a:latin typeface="Inter"/>
                <a:ea typeface="Inter"/>
                <a:cs typeface="Inter"/>
              </a:rPr>
              <a:t> but ListMetrics fails. Validate from Admin console, not EC2. Learned to test both planes.</a:t>
            </a:r>
            <a:endParaRPr lang="en-US" sz="900"/>
          </a:p>
        </p:txBody>
      </p:sp>
      <p:pic>
        <p:nvPicPr>
          <p:cNvPr id="1298721622" name="Image 8" descr="preencoded.png"/>
          <p:cNvPicPr>
            <a:picLocks noChangeAspect="1"/>
          </p:cNvPicPr>
          <p:nvPr/>
        </p:nvPicPr>
        <p:blipFill rotWithShape="1">
          <a:blip r:embed="rId11"/>
          <a:stretch/>
        </p:blipFill>
        <p:spPr bwMode="auto">
          <a:xfrm>
            <a:off x="533400" y="5204817"/>
            <a:ext cx="6275784" cy="766465"/>
          </a:xfrm>
          <a:prstGeom prst="rect">
            <a:avLst/>
          </a:prstGeom>
        </p:spPr>
      </p:pic>
      <p:pic>
        <p:nvPicPr>
          <p:cNvPr id="1775910502" name="Image 9" descr="preencoded.png"/>
          <p:cNvPicPr>
            <a:picLocks noChangeAspect="1"/>
          </p:cNvPicPr>
          <p:nvPr/>
        </p:nvPicPr>
        <p:blipFill rotWithShape="1">
          <a:blip r:embed="rId12"/>
          <a:stretch/>
        </p:blipFill>
        <p:spPr bwMode="auto">
          <a:xfrm>
            <a:off x="676275" y="5328642"/>
            <a:ext cx="266700" cy="266700"/>
          </a:xfrm>
          <a:prstGeom prst="rect">
            <a:avLst/>
          </a:prstGeom>
        </p:spPr>
      </p:pic>
      <p:sp>
        <p:nvSpPr>
          <p:cNvPr id="1338411632" name="Text 13"/>
          <p:cNvSpPr txBox="1"/>
          <p:nvPr/>
        </p:nvSpPr>
        <p:spPr bwMode="auto">
          <a:xfrm>
            <a:off x="735509" y="5385792"/>
            <a:ext cx="197941" cy="2000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  <a:defRPr/>
            </a:pPr>
            <a:r>
              <a:rPr lang="en-US" sz="900" b="1">
                <a:solidFill>
                  <a:srgbClr val="38BDF8"/>
                </a:solidFill>
                <a:latin typeface="Inter"/>
                <a:ea typeface="Inter"/>
                <a:cs typeface="Inter"/>
              </a:rPr>
              <a:t>05</a:t>
            </a:r>
            <a:endParaRPr lang="en-US" sz="900"/>
          </a:p>
        </p:txBody>
      </p:sp>
      <p:sp>
        <p:nvSpPr>
          <p:cNvPr id="1876029503" name="Text 14"/>
          <p:cNvSpPr txBox="1"/>
          <p:nvPr/>
        </p:nvSpPr>
        <p:spPr bwMode="auto">
          <a:xfrm>
            <a:off x="1095375" y="5328642"/>
            <a:ext cx="5570934" cy="1607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6"/>
              </a:lnSpc>
              <a:spcAft>
                <a:spcPts val="300"/>
              </a:spcAft>
              <a:buNone/>
              <a:defRPr/>
            </a:pPr>
            <a:r>
              <a:rPr lang="en-US" sz="1000" b="1" spc="-10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Correlation ID is game changer</a:t>
            </a:r>
            <a:endParaRPr lang="en-US" sz="1000"/>
          </a:p>
        </p:txBody>
      </p:sp>
      <p:sp>
        <p:nvSpPr>
          <p:cNvPr id="403529109" name="Text 15"/>
          <p:cNvSpPr txBox="1"/>
          <p:nvPr/>
        </p:nvSpPr>
        <p:spPr bwMode="auto">
          <a:xfrm>
            <a:off x="1095375" y="5527477"/>
            <a:ext cx="5570934" cy="31998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EAEEF3">
                    <a:alpha val="72000"/>
                  </a:srgbClr>
                </a:solidFill>
                <a:latin typeface="Inter"/>
                <a:ea typeface="Inter"/>
                <a:cs typeface="Inter"/>
              </a:rPr>
              <a:t>One header </a:t>
            </a:r>
            <a:r>
              <a:rPr lang="en-US" sz="9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X-Correlation-ID</a:t>
            </a:r>
            <a:r>
              <a:rPr lang="en-US" sz="900">
                <a:solidFill>
                  <a:srgbClr val="EAEEF3">
                    <a:alpha val="72000"/>
                  </a:srgbClr>
                </a:solidFill>
                <a:latin typeface="Inter"/>
                <a:ea typeface="Inter"/>
                <a:cs typeface="Inter"/>
              </a:rPr>
              <a:t> = </a:t>
            </a:r>
            <a:r>
              <a:rPr lang="en-US" sz="9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51e9ef29-4528…</a:t>
            </a:r>
            <a:r>
              <a:rPr lang="en-US" sz="900">
                <a:solidFill>
                  <a:srgbClr val="EAEEF3">
                    <a:alpha val="72000"/>
                  </a:srgbClr>
                </a:solidFill>
                <a:latin typeface="Inter"/>
                <a:ea typeface="Inter"/>
                <a:cs typeface="Inter"/>
              </a:rPr>
              <a:t> ties order_created + request_completed. Without X-Ray, full trace in Logs Insights via </a:t>
            </a:r>
            <a:r>
              <a:rPr lang="en-US" sz="9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filter correlation_id="demo-123"</a:t>
            </a:r>
            <a:r>
              <a:rPr lang="en-US" sz="900">
                <a:solidFill>
                  <a:srgbClr val="EAEEF3">
                    <a:alpha val="72000"/>
                  </a:srgbClr>
                </a:solidFill>
                <a:latin typeface="Inter"/>
                <a:ea typeface="Inter"/>
                <a:cs typeface="Inter"/>
              </a:rPr>
              <a:t>.</a:t>
            </a:r>
            <a:endParaRPr lang="en-US" sz="900"/>
          </a:p>
        </p:txBody>
      </p:sp>
      <p:pic>
        <p:nvPicPr>
          <p:cNvPr id="1079482537" name="Image 10" descr="preencoded.png"/>
          <p:cNvPicPr>
            <a:picLocks noChangeAspect="1"/>
          </p:cNvPicPr>
          <p:nvPr/>
        </p:nvPicPr>
        <p:blipFill rotWithShape="1">
          <a:blip r:embed="rId13"/>
          <a:stretch/>
        </p:blipFill>
        <p:spPr bwMode="auto">
          <a:xfrm>
            <a:off x="7113984" y="495300"/>
            <a:ext cx="4544616" cy="5867399"/>
          </a:xfrm>
          <a:prstGeom prst="rect">
            <a:avLst/>
          </a:prstGeom>
        </p:spPr>
      </p:pic>
      <p:pic>
        <p:nvPicPr>
          <p:cNvPr id="1059287225" name="Image 11" descr="preencoded.png"/>
          <p:cNvPicPr>
            <a:picLocks noChangeAspect="1"/>
          </p:cNvPicPr>
          <p:nvPr/>
        </p:nvPicPr>
        <p:blipFill rotWithShape="1">
          <a:blip r:embed="rId14"/>
          <a:stretch/>
        </p:blipFill>
        <p:spPr bwMode="auto">
          <a:xfrm>
            <a:off x="7123509" y="504825"/>
            <a:ext cx="4525566" cy="5848350"/>
          </a:xfrm>
          <a:prstGeom prst="rect">
            <a:avLst/>
          </a:prstGeom>
        </p:spPr>
      </p:pic>
      <p:pic>
        <p:nvPicPr>
          <p:cNvPr id="527935397" name="Image 12" descr="preencoded.png"/>
          <p:cNvPicPr>
            <a:picLocks noChangeAspect="1"/>
          </p:cNvPicPr>
          <p:nvPr/>
        </p:nvPicPr>
        <p:blipFill rotWithShape="1">
          <a:blip r:embed="rId15"/>
          <a:stretch/>
        </p:blipFill>
        <p:spPr bwMode="auto">
          <a:xfrm>
            <a:off x="7256859" y="5648325"/>
            <a:ext cx="3801368" cy="571500"/>
          </a:xfrm>
          <a:prstGeom prst="rect">
            <a:avLst/>
          </a:prstGeom>
        </p:spPr>
      </p:pic>
      <p:sp>
        <p:nvSpPr>
          <p:cNvPr id="926818042" name="Text 16"/>
          <p:cNvSpPr txBox="1"/>
          <p:nvPr/>
        </p:nvSpPr>
        <p:spPr bwMode="auto">
          <a:xfrm>
            <a:off x="7380684" y="5743575"/>
            <a:ext cx="3553718" cy="390525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  <a:defRPr/>
            </a:pPr>
            <a:r>
              <a:rPr lang="en-US" sz="750" spc="60">
                <a:solidFill>
                  <a:srgbClr val="EAEEF2">
                    <a:alpha val="86000"/>
                  </a:srgbClr>
                </a:solidFill>
                <a:latin typeface="Inter"/>
                <a:ea typeface="Inter"/>
                <a:cs typeface="Inter"/>
              </a:rPr>
              <a:t>cat app.log | grep request_completed empty → taught everything. Fix: StandardOutput=append:app.log + separate access.log → level, correlation_id, latency_ms visible.</a:t>
            </a:r>
            <a:endParaRPr lang="en-US" sz="7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6">
    <p:bg>
      <p:bgPr shadeToTitle="0">
        <a:solidFill>
          <a:srgbClr val="18162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4225794" name="Text 0"/>
          <p:cNvSpPr txBox="1"/>
          <p:nvPr/>
        </p:nvSpPr>
        <p:spPr bwMode="auto">
          <a:xfrm>
            <a:off x="533400" y="457200"/>
            <a:ext cx="11125200" cy="42564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>
              <a:buNone/>
              <a:defRPr/>
            </a:pPr>
            <a:r>
              <a:rPr lang="en-US" sz="3450" b="1" spc="-69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What Would I Do </a:t>
            </a:r>
            <a:r>
              <a:rPr lang="en-US" sz="3450" b="1" spc="-69">
                <a:solidFill>
                  <a:srgbClr val="67F4E2"/>
                </a:solidFill>
                <a:latin typeface="Inter"/>
                <a:ea typeface="Inter"/>
                <a:cs typeface="Inter"/>
              </a:rPr>
              <a:t>Differently?</a:t>
            </a:r>
            <a:endParaRPr lang="en-US" sz="3450"/>
          </a:p>
        </p:txBody>
      </p:sp>
      <p:pic>
        <p:nvPicPr>
          <p:cNvPr id="2015914655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33400" y="1073348"/>
            <a:ext cx="5486400" cy="2587526"/>
          </a:xfrm>
          <a:prstGeom prst="rect">
            <a:avLst/>
          </a:prstGeom>
        </p:spPr>
      </p:pic>
      <p:sp>
        <p:nvSpPr>
          <p:cNvPr id="1205838148" name="Text 1"/>
          <p:cNvSpPr txBox="1"/>
          <p:nvPr/>
        </p:nvSpPr>
        <p:spPr bwMode="auto">
          <a:xfrm>
            <a:off x="752475" y="1273373"/>
            <a:ext cx="5048250" cy="12561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buNone/>
              <a:defRPr/>
            </a:pPr>
            <a:r>
              <a:rPr lang="en-US" sz="850" b="1" spc="99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01 — INSTRUMENTATION</a:t>
            </a:r>
            <a:endParaRPr lang="en-US" sz="850"/>
          </a:p>
        </p:txBody>
      </p:sp>
      <p:sp>
        <p:nvSpPr>
          <p:cNvPr id="879678458" name="Text 2"/>
          <p:cNvSpPr txBox="1"/>
          <p:nvPr/>
        </p:nvSpPr>
        <p:spPr bwMode="auto">
          <a:xfrm>
            <a:off x="752475" y="1494234"/>
            <a:ext cx="5048250" cy="19704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52"/>
              </a:lnSpc>
              <a:buNone/>
              <a:defRPr/>
            </a:pPr>
            <a:r>
              <a:rPr lang="en-US" sz="1350" b="1" spc="-20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Use OpenTelemetry SDK, not manual boto3 put_metric_data</a:t>
            </a:r>
            <a:endParaRPr lang="en-US" sz="1350"/>
          </a:p>
        </p:txBody>
      </p:sp>
      <p:sp>
        <p:nvSpPr>
          <p:cNvPr id="1548022833" name="Text 3"/>
          <p:cNvSpPr txBox="1"/>
          <p:nvPr/>
        </p:nvSpPr>
        <p:spPr bwMode="auto">
          <a:xfrm>
            <a:off x="752475" y="1796058"/>
            <a:ext cx="5048250" cy="34944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14"/>
              </a:lnSpc>
              <a:buNone/>
              <a:defRPr/>
            </a:pPr>
            <a:r>
              <a:rPr lang="en-US" sz="1000">
                <a:solidFill>
                  <a:srgbClr val="EAEEF2">
                    <a:alpha val="76000"/>
                  </a:srgbClr>
                </a:solidFill>
                <a:latin typeface="Inter"/>
                <a:ea typeface="Inter"/>
                <a:cs typeface="Inter"/>
              </a:rPr>
              <a:t>Dimensions out of the box, context propagation, no try/except hand-rolled. OTEL → CloudWatch exporter keeps native but adds trace id.</a:t>
            </a:r>
            <a:endParaRPr lang="en-US" sz="1000"/>
          </a:p>
        </p:txBody>
      </p:sp>
      <p:pic>
        <p:nvPicPr>
          <p:cNvPr id="167373898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752475" y="2240756"/>
            <a:ext cx="1602283" cy="238125"/>
          </a:xfrm>
          <a:prstGeom prst="rect">
            <a:avLst/>
          </a:prstGeom>
        </p:spPr>
      </p:pic>
      <p:sp>
        <p:nvSpPr>
          <p:cNvPr id="215552291" name="Text 4"/>
          <p:cNvSpPr txBox="1"/>
          <p:nvPr/>
        </p:nvSpPr>
        <p:spPr bwMode="auto">
          <a:xfrm>
            <a:off x="838200" y="2297906"/>
            <a:ext cx="1430834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EF2">
                    <a:alpha val="70000"/>
                  </a:srgbClr>
                </a:solidFill>
                <a:highlight>
                  <a:srgbClr val="E6F2F2"/>
                </a:highlight>
                <a:latin typeface="Inter"/>
                <a:ea typeface="Inter"/>
                <a:cs typeface="Inter"/>
              </a:rPr>
              <a:t>OTEL Python • auto dimensions</a:t>
            </a:r>
            <a:endParaRPr lang="en-US" sz="750"/>
          </a:p>
        </p:txBody>
      </p:sp>
      <p:pic>
        <p:nvPicPr>
          <p:cNvPr id="1261074527" name="Image 2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6172200" y="1073348"/>
            <a:ext cx="5486400" cy="2587526"/>
          </a:xfrm>
          <a:prstGeom prst="rect">
            <a:avLst/>
          </a:prstGeom>
        </p:spPr>
      </p:pic>
      <p:sp>
        <p:nvSpPr>
          <p:cNvPr id="106703052" name="Text 5"/>
          <p:cNvSpPr txBox="1"/>
          <p:nvPr/>
        </p:nvSpPr>
        <p:spPr bwMode="auto">
          <a:xfrm>
            <a:off x="6391275" y="1273373"/>
            <a:ext cx="5048250" cy="12561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buNone/>
              <a:defRPr/>
            </a:pPr>
            <a:r>
              <a:rPr lang="en-US" sz="850" b="1" spc="99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02 — LOGGING FROM DAY 1</a:t>
            </a:r>
            <a:endParaRPr lang="en-US" sz="850"/>
          </a:p>
        </p:txBody>
      </p:sp>
      <p:sp>
        <p:nvSpPr>
          <p:cNvPr id="1444171746" name="Text 6"/>
          <p:cNvSpPr txBox="1"/>
          <p:nvPr/>
        </p:nvSpPr>
        <p:spPr bwMode="auto">
          <a:xfrm>
            <a:off x="6391275" y="1494234"/>
            <a:ext cx="5048250" cy="19704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52"/>
              </a:lnSpc>
              <a:buNone/>
              <a:defRPr/>
            </a:pPr>
            <a:r>
              <a:rPr lang="en-US" sz="1350" b="1" spc="-20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Structured logger with FileHandler → app.log JSON only</a:t>
            </a:r>
            <a:endParaRPr lang="en-US" sz="1350"/>
          </a:p>
        </p:txBody>
      </p:sp>
      <p:sp>
        <p:nvSpPr>
          <p:cNvPr id="322994836" name="Text 7"/>
          <p:cNvSpPr txBox="1"/>
          <p:nvPr/>
        </p:nvSpPr>
        <p:spPr bwMode="auto">
          <a:xfrm>
            <a:off x="6391275" y="1796058"/>
            <a:ext cx="5048250" cy="34944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14"/>
              </a:lnSpc>
              <a:buNone/>
              <a:defRPr/>
            </a:pPr>
            <a:r>
              <a:rPr lang="en-US" sz="1000">
                <a:solidFill>
                  <a:srgbClr val="EAEEF2">
                    <a:alpha val="76000"/>
                  </a:srgbClr>
                </a:solidFill>
                <a:latin typeface="Inter"/>
                <a:ea typeface="Inter"/>
                <a:cs typeface="Inter"/>
              </a:rPr>
              <a:t>We relied on stdout → journalctl hid the bug. FileHandler from start would have forced separation from gunicorn access.log.</a:t>
            </a:r>
            <a:endParaRPr lang="en-US" sz="1000"/>
          </a:p>
        </p:txBody>
      </p:sp>
      <p:pic>
        <p:nvPicPr>
          <p:cNvPr id="897686142" name="Image 3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6391275" y="2240756"/>
            <a:ext cx="1689795" cy="238125"/>
          </a:xfrm>
          <a:prstGeom prst="rect">
            <a:avLst/>
          </a:prstGeom>
        </p:spPr>
      </p:pic>
      <p:sp>
        <p:nvSpPr>
          <p:cNvPr id="461663635" name="Text 8"/>
          <p:cNvSpPr txBox="1"/>
          <p:nvPr/>
        </p:nvSpPr>
        <p:spPr bwMode="auto">
          <a:xfrm>
            <a:off x="6477000" y="2297906"/>
            <a:ext cx="1518345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EF2">
                    <a:alpha val="70000"/>
                  </a:srgbClr>
                </a:solidFill>
                <a:highlight>
                  <a:srgbClr val="E6F2F2"/>
                </a:highlight>
                <a:latin typeface="Inter"/>
                <a:ea typeface="Inter"/>
                <a:cs typeface="Inter"/>
              </a:rPr>
              <a:t>Before: 91.0.60.169 Apache mixed</a:t>
            </a:r>
            <a:endParaRPr lang="en-US" sz="7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7">
    <p:bg>
      <p:bgPr shadeToTitle="0">
        <a:solidFill>
          <a:srgbClr val="18162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3576540" name="Text 0"/>
          <p:cNvSpPr txBox="1"/>
          <p:nvPr/>
        </p:nvSpPr>
        <p:spPr bwMode="auto">
          <a:xfrm>
            <a:off x="533400" y="457200"/>
            <a:ext cx="5931247" cy="44380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>
              <a:buNone/>
              <a:defRPr/>
            </a:pPr>
            <a:r>
              <a:rPr lang="en-US" sz="3600" b="1" spc="-72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Production-Readiness </a:t>
            </a:r>
            <a:r>
              <a:rPr lang="en-US" sz="3600" b="1" spc="-72">
                <a:solidFill>
                  <a:srgbClr val="67F4E2"/>
                </a:solidFill>
                <a:latin typeface="Inter"/>
                <a:ea typeface="Inter"/>
                <a:cs typeface="Inter"/>
              </a:rPr>
              <a:t>Gaps</a:t>
            </a:r>
            <a:endParaRPr lang="en-US" sz="3600"/>
          </a:p>
        </p:txBody>
      </p:sp>
      <p:pic>
        <p:nvPicPr>
          <p:cNvPr id="1131280309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9237911" y="596205"/>
            <a:ext cx="2420541" cy="304800"/>
          </a:xfrm>
          <a:prstGeom prst="rect">
            <a:avLst/>
          </a:prstGeom>
        </p:spPr>
      </p:pic>
      <p:sp>
        <p:nvSpPr>
          <p:cNvPr id="607750575" name="Text 1"/>
          <p:cNvSpPr txBox="1"/>
          <p:nvPr/>
        </p:nvSpPr>
        <p:spPr bwMode="auto">
          <a:xfrm>
            <a:off x="9361736" y="672405"/>
            <a:ext cx="2172891" cy="1619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  <a:defRPr/>
            </a:pPr>
            <a:r>
              <a:rPr lang="en-US" sz="900" spc="108">
                <a:solidFill>
                  <a:srgbClr val="ABADB4"/>
                </a:solidFill>
                <a:latin typeface="Inter"/>
                <a:ea typeface="Inter"/>
                <a:cs typeface="Inter"/>
              </a:rPr>
              <a:t>NO ALB • WE OWN THE FAILURE</a:t>
            </a:r>
            <a:endParaRPr lang="en-US" sz="900"/>
          </a:p>
        </p:txBody>
      </p:sp>
      <p:pic>
        <p:nvPicPr>
          <p:cNvPr id="1716913154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533400" y="1579364"/>
            <a:ext cx="5951190" cy="843260"/>
          </a:xfrm>
          <a:prstGeom prst="rect">
            <a:avLst/>
          </a:prstGeom>
        </p:spPr>
      </p:pic>
      <p:pic>
        <p:nvPicPr>
          <p:cNvPr id="1111958386" name="Image 2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676275" y="1703189"/>
            <a:ext cx="266700" cy="266700"/>
          </a:xfrm>
          <a:prstGeom prst="rect">
            <a:avLst/>
          </a:prstGeom>
        </p:spPr>
      </p:pic>
      <p:sp>
        <p:nvSpPr>
          <p:cNvPr id="1993568646" name="Text 2"/>
          <p:cNvSpPr txBox="1"/>
          <p:nvPr/>
        </p:nvSpPr>
        <p:spPr bwMode="auto">
          <a:xfrm>
            <a:off x="746373" y="1760339"/>
            <a:ext cx="187077" cy="2000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  <a:defRPr/>
            </a:pPr>
            <a:r>
              <a:rPr lang="en-US" sz="900" b="1">
                <a:solidFill>
                  <a:srgbClr val="67F4E2"/>
                </a:solidFill>
                <a:latin typeface="Inter"/>
                <a:ea typeface="Inter"/>
                <a:cs typeface="Inter"/>
              </a:rPr>
              <a:t>01</a:t>
            </a:r>
            <a:endParaRPr lang="en-US" sz="900"/>
          </a:p>
        </p:txBody>
      </p:sp>
      <p:sp>
        <p:nvSpPr>
          <p:cNvPr id="255832437" name="Text 3"/>
          <p:cNvSpPr txBox="1"/>
          <p:nvPr/>
        </p:nvSpPr>
        <p:spPr bwMode="auto">
          <a:xfrm>
            <a:off x="1038225" y="1703189"/>
            <a:ext cx="3874740" cy="15478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19"/>
              </a:lnSpc>
              <a:spcAft>
                <a:spcPts val="150"/>
              </a:spcAft>
              <a:buNone/>
              <a:defRPr/>
            </a:pPr>
            <a:r>
              <a:rPr lang="en-US" sz="1000" b="1" spc="-10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Single EC2, No ALB/ASG</a:t>
            </a:r>
            <a:endParaRPr lang="en-US" sz="1000"/>
          </a:p>
        </p:txBody>
      </p:sp>
      <p:sp>
        <p:nvSpPr>
          <p:cNvPr id="1904116204" name="Text 4"/>
          <p:cNvSpPr txBox="1"/>
          <p:nvPr/>
        </p:nvSpPr>
        <p:spPr bwMode="auto">
          <a:xfrm>
            <a:off x="1038225" y="1877020"/>
            <a:ext cx="3874740" cy="15418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EAEEF2"/>
                </a:solidFill>
                <a:latin typeface="Inter"/>
                <a:ea typeface="Inter"/>
                <a:cs typeface="Inter"/>
              </a:rPr>
              <a:t>i-01b042962afdf4a30</a:t>
            </a:r>
            <a:r>
              <a:rPr lang="en-US" sz="900">
                <a:solidFill>
                  <a:srgbClr val="ABADB4"/>
                </a:solidFill>
                <a:latin typeface="Inter"/>
                <a:ea typeface="Inter"/>
                <a:cs typeface="Inter"/>
              </a:rPr>
              <a:t> public :5000 — AZ failure = total outage</a:t>
            </a:r>
            <a:endParaRPr lang="en-US" sz="900"/>
          </a:p>
        </p:txBody>
      </p:sp>
      <p:pic>
        <p:nvPicPr>
          <p:cNvPr id="2073619727" name="Image 3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5008215" y="1703189"/>
            <a:ext cx="1333500" cy="595610"/>
          </a:xfrm>
          <a:prstGeom prst="rect">
            <a:avLst/>
          </a:prstGeom>
        </p:spPr>
      </p:pic>
      <p:sp>
        <p:nvSpPr>
          <p:cNvPr id="300637805" name="Text 5"/>
          <p:cNvSpPr txBox="1"/>
          <p:nvPr/>
        </p:nvSpPr>
        <p:spPr bwMode="auto">
          <a:xfrm>
            <a:off x="5103465" y="1788914"/>
            <a:ext cx="1143000" cy="42416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14"/>
              </a:lnSpc>
              <a:buNone/>
              <a:defRPr/>
            </a:pPr>
            <a:r>
              <a:rPr lang="en-US" sz="850">
                <a:solidFill>
                  <a:srgbClr val="38BDF8"/>
                </a:solidFill>
                <a:latin typeface="Inter"/>
                <a:ea typeface="Inter"/>
                <a:cs typeface="Inter"/>
              </a:rPr>
              <a:t>→ ALB + ASG min2 + health checks + 10.0.1.221 private only</a:t>
            </a:r>
            <a:endParaRPr lang="en-US" sz="850"/>
          </a:p>
        </p:txBody>
      </p:sp>
      <p:pic>
        <p:nvPicPr>
          <p:cNvPr id="1186321195" name="Image 4" descr="preencoded.png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533400" y="2517874"/>
            <a:ext cx="5951190" cy="843260"/>
          </a:xfrm>
          <a:prstGeom prst="rect">
            <a:avLst/>
          </a:prstGeom>
        </p:spPr>
      </p:pic>
      <p:pic>
        <p:nvPicPr>
          <p:cNvPr id="1780229958" name="Image 5" descr="preencoded.png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676275" y="2641699"/>
            <a:ext cx="266700" cy="266700"/>
          </a:xfrm>
          <a:prstGeom prst="rect">
            <a:avLst/>
          </a:prstGeom>
        </p:spPr>
      </p:pic>
      <p:sp>
        <p:nvSpPr>
          <p:cNvPr id="1207611187" name="Text 6"/>
          <p:cNvSpPr txBox="1"/>
          <p:nvPr/>
        </p:nvSpPr>
        <p:spPr bwMode="auto">
          <a:xfrm>
            <a:off x="735062" y="2698849"/>
            <a:ext cx="198388" cy="2000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  <a:defRPr/>
            </a:pPr>
            <a:r>
              <a:rPr lang="en-US" sz="900" b="1">
                <a:solidFill>
                  <a:srgbClr val="67F4E2"/>
                </a:solidFill>
                <a:latin typeface="Inter"/>
                <a:ea typeface="Inter"/>
                <a:cs typeface="Inter"/>
              </a:rPr>
              <a:t>02</a:t>
            </a:r>
            <a:endParaRPr lang="en-US" sz="900"/>
          </a:p>
        </p:txBody>
      </p:sp>
      <p:sp>
        <p:nvSpPr>
          <p:cNvPr id="716887999" name="Text 7"/>
          <p:cNvSpPr txBox="1"/>
          <p:nvPr/>
        </p:nvSpPr>
        <p:spPr bwMode="auto">
          <a:xfrm>
            <a:off x="1038225" y="2641699"/>
            <a:ext cx="3874740" cy="15478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19"/>
              </a:lnSpc>
              <a:spcAft>
                <a:spcPts val="150"/>
              </a:spcAft>
              <a:buNone/>
              <a:defRPr/>
            </a:pPr>
            <a:r>
              <a:rPr lang="en-US" sz="1000" b="1" spc="-10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In-memory orders[]</a:t>
            </a:r>
            <a:endParaRPr lang="en-US" sz="1000"/>
          </a:p>
        </p:txBody>
      </p:sp>
      <p:sp>
        <p:nvSpPr>
          <p:cNvPr id="1348376802" name="Text 8"/>
          <p:cNvSpPr txBox="1"/>
          <p:nvPr/>
        </p:nvSpPr>
        <p:spPr bwMode="auto">
          <a:xfrm>
            <a:off x="1038225" y="2815530"/>
            <a:ext cx="3874740" cy="15418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15"/>
              </a:lnSpc>
              <a:buNone/>
              <a:defRPr/>
            </a:pPr>
            <a:r>
              <a:rPr lang="en-US" sz="900">
                <a:solidFill>
                  <a:srgbClr val="ABADB4"/>
                </a:solidFill>
                <a:latin typeface="Inter"/>
                <a:ea typeface="Inter"/>
                <a:cs typeface="Inter"/>
              </a:rPr>
              <a:t>Restart loses data • No persistence • No idempotency</a:t>
            </a:r>
            <a:endParaRPr lang="en-US" sz="900"/>
          </a:p>
        </p:txBody>
      </p:sp>
      <p:pic>
        <p:nvPicPr>
          <p:cNvPr id="708964550" name="Image 6" descr="preencoded.png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>
            <a:off x="5008215" y="2641699"/>
            <a:ext cx="1333500" cy="595610"/>
          </a:xfrm>
          <a:prstGeom prst="rect">
            <a:avLst/>
          </a:prstGeom>
        </p:spPr>
      </p:pic>
      <p:sp>
        <p:nvSpPr>
          <p:cNvPr id="211696744" name="Text 9"/>
          <p:cNvSpPr txBox="1"/>
          <p:nvPr/>
        </p:nvSpPr>
        <p:spPr bwMode="auto">
          <a:xfrm>
            <a:off x="5103465" y="2727424"/>
            <a:ext cx="1143000" cy="42416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14"/>
              </a:lnSpc>
              <a:buNone/>
              <a:defRPr/>
            </a:pPr>
            <a:r>
              <a:rPr lang="en-US" sz="850">
                <a:solidFill>
                  <a:srgbClr val="38BDF8"/>
                </a:solidFill>
                <a:latin typeface="Inter"/>
                <a:ea typeface="Inter"/>
                <a:cs typeface="Inter"/>
              </a:rPr>
              <a:t>→ DynamoDB + order_id PK + TTL + streams</a:t>
            </a:r>
            <a:endParaRPr lang="en-US" sz="850"/>
          </a:p>
        </p:txBody>
      </p:sp>
      <p:pic>
        <p:nvPicPr>
          <p:cNvPr id="408458999" name="Image 7" descr="preencoded.png"/>
          <p:cNvPicPr>
            <a:picLocks noChangeAspect="1"/>
          </p:cNvPicPr>
          <p:nvPr/>
        </p:nvPicPr>
        <p:blipFill rotWithShape="1">
          <a:blip r:embed="rId10"/>
          <a:stretch/>
        </p:blipFill>
        <p:spPr bwMode="auto">
          <a:xfrm>
            <a:off x="533400" y="3456384"/>
            <a:ext cx="5951190" cy="701873"/>
          </a:xfrm>
          <a:prstGeom prst="rect">
            <a:avLst/>
          </a:prstGeom>
        </p:spPr>
      </p:pic>
      <p:pic>
        <p:nvPicPr>
          <p:cNvPr id="2082161512" name="Image 8" descr="preencoded.png"/>
          <p:cNvPicPr>
            <a:picLocks noChangeAspect="1"/>
          </p:cNvPicPr>
          <p:nvPr/>
        </p:nvPicPr>
        <p:blipFill rotWithShape="1">
          <a:blip r:embed="rId11"/>
          <a:stretch/>
        </p:blipFill>
        <p:spPr bwMode="auto">
          <a:xfrm>
            <a:off x="676275" y="3580209"/>
            <a:ext cx="266700" cy="266700"/>
          </a:xfrm>
          <a:prstGeom prst="rect">
            <a:avLst/>
          </a:prstGeom>
        </p:spPr>
      </p:pic>
      <p:sp>
        <p:nvSpPr>
          <p:cNvPr id="788731157" name="Text 10"/>
          <p:cNvSpPr txBox="1"/>
          <p:nvPr/>
        </p:nvSpPr>
        <p:spPr bwMode="auto">
          <a:xfrm>
            <a:off x="734169" y="3637359"/>
            <a:ext cx="199281" cy="2000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  <a:defRPr/>
            </a:pPr>
            <a:r>
              <a:rPr lang="en-US" sz="900" b="1">
                <a:solidFill>
                  <a:srgbClr val="67F4E2"/>
                </a:solidFill>
                <a:latin typeface="Inter"/>
                <a:ea typeface="Inter"/>
                <a:cs typeface="Inter"/>
              </a:rPr>
              <a:t>03</a:t>
            </a:r>
            <a:endParaRPr lang="en-US" sz="900"/>
          </a:p>
        </p:txBody>
      </p:sp>
      <p:sp>
        <p:nvSpPr>
          <p:cNvPr id="826719260" name="Text 11"/>
          <p:cNvSpPr txBox="1"/>
          <p:nvPr/>
        </p:nvSpPr>
        <p:spPr bwMode="auto">
          <a:xfrm>
            <a:off x="1038225" y="3580209"/>
            <a:ext cx="3874740" cy="15478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19"/>
              </a:lnSpc>
              <a:spcAft>
                <a:spcPts val="150"/>
              </a:spcAft>
              <a:buNone/>
              <a:defRPr/>
            </a:pPr>
            <a:r>
              <a:rPr lang="en-US" sz="1000" b="1" spc="-10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Best-effort metrics</a:t>
            </a:r>
            <a:endParaRPr lang="en-US" sz="1000"/>
          </a:p>
        </p:txBody>
      </p:sp>
      <p:sp>
        <p:nvSpPr>
          <p:cNvPr id="792699167" name="Text 12"/>
          <p:cNvSpPr txBox="1"/>
          <p:nvPr/>
        </p:nvSpPr>
        <p:spPr bwMode="auto">
          <a:xfrm>
            <a:off x="1038225" y="3754041"/>
            <a:ext cx="3874740" cy="15418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15"/>
              </a:lnSpc>
              <a:buNone/>
              <a:defRPr/>
            </a:pPr>
            <a:r>
              <a:rPr lang="en-US" sz="900">
                <a:solidFill>
                  <a:srgbClr val="ABADB4"/>
                </a:solidFill>
                <a:latin typeface="Inter"/>
                <a:ea typeface="Inter"/>
                <a:cs typeface="Inter"/>
              </a:rPr>
              <a:t>boto3 put_metric_data no retry, sync in request path</a:t>
            </a:r>
            <a:endParaRPr lang="en-US" sz="900"/>
          </a:p>
        </p:txBody>
      </p:sp>
      <p:pic>
        <p:nvPicPr>
          <p:cNvPr id="528180072" name="Image 9" descr="preencoded.png"/>
          <p:cNvPicPr>
            <a:picLocks noChangeAspect="1"/>
          </p:cNvPicPr>
          <p:nvPr/>
        </p:nvPicPr>
        <p:blipFill rotWithShape="1">
          <a:blip r:embed="rId12"/>
          <a:stretch/>
        </p:blipFill>
        <p:spPr bwMode="auto">
          <a:xfrm>
            <a:off x="5008215" y="3580209"/>
            <a:ext cx="1333500" cy="454223"/>
          </a:xfrm>
          <a:prstGeom prst="rect">
            <a:avLst/>
          </a:prstGeom>
        </p:spPr>
      </p:pic>
      <p:sp>
        <p:nvSpPr>
          <p:cNvPr id="1110030612" name="Text 13"/>
          <p:cNvSpPr txBox="1"/>
          <p:nvPr/>
        </p:nvSpPr>
        <p:spPr bwMode="auto">
          <a:xfrm>
            <a:off x="5103465" y="3665934"/>
            <a:ext cx="1143000" cy="28277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14"/>
              </a:lnSpc>
              <a:buNone/>
              <a:defRPr/>
            </a:pPr>
            <a:r>
              <a:rPr lang="en-US" sz="850">
                <a:solidFill>
                  <a:srgbClr val="38BDF8"/>
                </a:solidFill>
                <a:latin typeface="Inter"/>
                <a:ea typeface="Inter"/>
                <a:cs typeface="Inter"/>
              </a:rPr>
              <a:t>→ Async queue + OTel SDK + dimensions</a:t>
            </a:r>
            <a:endParaRPr lang="en-US" sz="850"/>
          </a:p>
        </p:txBody>
      </p:sp>
      <p:pic>
        <p:nvPicPr>
          <p:cNvPr id="2077429970" name="Image 10" descr="preencoded.png"/>
          <p:cNvPicPr>
            <a:picLocks noChangeAspect="1"/>
          </p:cNvPicPr>
          <p:nvPr/>
        </p:nvPicPr>
        <p:blipFill rotWithShape="1">
          <a:blip r:embed="rId13"/>
          <a:stretch/>
        </p:blipFill>
        <p:spPr bwMode="auto">
          <a:xfrm>
            <a:off x="533400" y="4253508"/>
            <a:ext cx="5951190" cy="701873"/>
          </a:xfrm>
          <a:prstGeom prst="rect">
            <a:avLst/>
          </a:prstGeom>
        </p:spPr>
      </p:pic>
      <p:pic>
        <p:nvPicPr>
          <p:cNvPr id="81189880" name="Image 11" descr="preencoded.png"/>
          <p:cNvPicPr>
            <a:picLocks noChangeAspect="1"/>
          </p:cNvPicPr>
          <p:nvPr/>
        </p:nvPicPr>
        <p:blipFill rotWithShape="1">
          <a:blip r:embed="rId14"/>
          <a:stretch/>
        </p:blipFill>
        <p:spPr bwMode="auto">
          <a:xfrm>
            <a:off x="676275" y="4377333"/>
            <a:ext cx="266700" cy="266700"/>
          </a:xfrm>
          <a:prstGeom prst="rect">
            <a:avLst/>
          </a:prstGeom>
        </p:spPr>
      </p:pic>
      <p:sp>
        <p:nvSpPr>
          <p:cNvPr id="2036462036" name="Text 14"/>
          <p:cNvSpPr txBox="1"/>
          <p:nvPr/>
        </p:nvSpPr>
        <p:spPr bwMode="auto">
          <a:xfrm>
            <a:off x="732383" y="4434483"/>
            <a:ext cx="201067" cy="2000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  <a:defRPr/>
            </a:pPr>
            <a:r>
              <a:rPr lang="en-US" sz="900" b="1">
                <a:solidFill>
                  <a:srgbClr val="67F4E2"/>
                </a:solidFill>
                <a:latin typeface="Inter"/>
                <a:ea typeface="Inter"/>
                <a:cs typeface="Inter"/>
              </a:rPr>
              <a:t>04</a:t>
            </a:r>
            <a:endParaRPr lang="en-US" sz="900"/>
          </a:p>
        </p:txBody>
      </p:sp>
      <p:sp>
        <p:nvSpPr>
          <p:cNvPr id="548689191" name="Text 15"/>
          <p:cNvSpPr txBox="1"/>
          <p:nvPr/>
        </p:nvSpPr>
        <p:spPr bwMode="auto">
          <a:xfrm>
            <a:off x="1038225" y="4377333"/>
            <a:ext cx="3874740" cy="15478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19"/>
              </a:lnSpc>
              <a:spcAft>
                <a:spcPts val="150"/>
              </a:spcAft>
              <a:buNone/>
              <a:defRPr/>
            </a:pPr>
            <a:r>
              <a:rPr lang="en-US" sz="1000" b="1" spc="-10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Observability limits</a:t>
            </a:r>
            <a:endParaRPr lang="en-US" sz="1000"/>
          </a:p>
        </p:txBody>
      </p:sp>
      <p:sp>
        <p:nvSpPr>
          <p:cNvPr id="1549197340" name="Text 16"/>
          <p:cNvSpPr txBox="1"/>
          <p:nvPr/>
        </p:nvSpPr>
        <p:spPr bwMode="auto">
          <a:xfrm>
            <a:off x="1038225" y="4551164"/>
            <a:ext cx="3874740" cy="15418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15"/>
              </a:lnSpc>
              <a:buNone/>
              <a:defRPr/>
            </a:pPr>
            <a:r>
              <a:rPr lang="en-US" sz="900">
                <a:solidFill>
                  <a:srgbClr val="ABADB4"/>
                </a:solidFill>
                <a:latin typeface="Inter"/>
                <a:ea typeface="Inter"/>
                <a:cs typeface="Inter"/>
              </a:rPr>
              <a:t>7-day retention, no sampling, no X-Ray / OTEL trace</a:t>
            </a:r>
            <a:endParaRPr lang="en-US" sz="900"/>
          </a:p>
        </p:txBody>
      </p:sp>
      <p:pic>
        <p:nvPicPr>
          <p:cNvPr id="1596933298" name="Image 12" descr="preencoded.png"/>
          <p:cNvPicPr>
            <a:picLocks noChangeAspect="1"/>
          </p:cNvPicPr>
          <p:nvPr/>
        </p:nvPicPr>
        <p:blipFill rotWithShape="1">
          <a:blip r:embed="rId15"/>
          <a:stretch/>
        </p:blipFill>
        <p:spPr bwMode="auto">
          <a:xfrm>
            <a:off x="5008215" y="4377333"/>
            <a:ext cx="1333500" cy="454223"/>
          </a:xfrm>
          <a:prstGeom prst="rect">
            <a:avLst/>
          </a:prstGeom>
        </p:spPr>
      </p:pic>
      <p:sp>
        <p:nvSpPr>
          <p:cNvPr id="1005307644" name="Text 17"/>
          <p:cNvSpPr txBox="1"/>
          <p:nvPr/>
        </p:nvSpPr>
        <p:spPr bwMode="auto">
          <a:xfrm>
            <a:off x="5103465" y="4463058"/>
            <a:ext cx="1143000" cy="28277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14"/>
              </a:lnSpc>
              <a:buNone/>
              <a:defRPr/>
            </a:pPr>
            <a:r>
              <a:rPr lang="en-US" sz="850">
                <a:solidFill>
                  <a:srgbClr val="38BDF8"/>
                </a:solidFill>
                <a:latin typeface="Inter"/>
                <a:ea typeface="Inter"/>
                <a:cs typeface="Inter"/>
              </a:rPr>
              <a:t>→ 30d retention + X-Ray + sampling rules</a:t>
            </a:r>
            <a:endParaRPr lang="en-US" sz="850"/>
          </a:p>
        </p:txBody>
      </p:sp>
      <p:pic>
        <p:nvPicPr>
          <p:cNvPr id="1612245553" name="Image 13" descr="preencoded.png"/>
          <p:cNvPicPr>
            <a:picLocks noChangeAspect="1"/>
          </p:cNvPicPr>
          <p:nvPr/>
        </p:nvPicPr>
        <p:blipFill rotWithShape="1">
          <a:blip r:embed="rId16"/>
          <a:stretch/>
        </p:blipFill>
        <p:spPr bwMode="auto">
          <a:xfrm>
            <a:off x="533400" y="5050631"/>
            <a:ext cx="5951190" cy="843260"/>
          </a:xfrm>
          <a:prstGeom prst="rect">
            <a:avLst/>
          </a:prstGeom>
        </p:spPr>
      </p:pic>
      <p:pic>
        <p:nvPicPr>
          <p:cNvPr id="77482578" name="Image 14" descr="preencoded.png"/>
          <p:cNvPicPr>
            <a:picLocks noChangeAspect="1"/>
          </p:cNvPicPr>
          <p:nvPr/>
        </p:nvPicPr>
        <p:blipFill rotWithShape="1">
          <a:blip r:embed="rId17"/>
          <a:stretch/>
        </p:blipFill>
        <p:spPr bwMode="auto">
          <a:xfrm>
            <a:off x="676275" y="5174456"/>
            <a:ext cx="266700" cy="266700"/>
          </a:xfrm>
          <a:prstGeom prst="rect">
            <a:avLst/>
          </a:prstGeom>
        </p:spPr>
      </p:pic>
      <p:sp>
        <p:nvSpPr>
          <p:cNvPr id="1263345344" name="Text 18"/>
          <p:cNvSpPr txBox="1"/>
          <p:nvPr/>
        </p:nvSpPr>
        <p:spPr bwMode="auto">
          <a:xfrm>
            <a:off x="735509" y="5231606"/>
            <a:ext cx="197941" cy="2000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  <a:defRPr/>
            </a:pPr>
            <a:r>
              <a:rPr lang="en-US" sz="900" b="1">
                <a:solidFill>
                  <a:srgbClr val="67F4E2"/>
                </a:solidFill>
                <a:latin typeface="Inter"/>
                <a:ea typeface="Inter"/>
                <a:cs typeface="Inter"/>
              </a:rPr>
              <a:t>05</a:t>
            </a:r>
            <a:endParaRPr lang="en-US" sz="900"/>
          </a:p>
        </p:txBody>
      </p:sp>
      <p:sp>
        <p:nvSpPr>
          <p:cNvPr id="521767541" name="Text 19"/>
          <p:cNvSpPr txBox="1"/>
          <p:nvPr/>
        </p:nvSpPr>
        <p:spPr bwMode="auto">
          <a:xfrm>
            <a:off x="1038225" y="5174456"/>
            <a:ext cx="3874740" cy="15478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19"/>
              </a:lnSpc>
              <a:spcAft>
                <a:spcPts val="150"/>
              </a:spcAft>
              <a:buNone/>
              <a:defRPr/>
            </a:pPr>
            <a:r>
              <a:rPr lang="en-US" sz="1000" b="1" spc="-10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Security &amp; Ops debt</a:t>
            </a:r>
            <a:endParaRPr lang="en-US" sz="1000"/>
          </a:p>
        </p:txBody>
      </p:sp>
      <p:sp>
        <p:nvSpPr>
          <p:cNvPr id="743987696" name="Text 20"/>
          <p:cNvSpPr txBox="1"/>
          <p:nvPr/>
        </p:nvSpPr>
        <p:spPr bwMode="auto">
          <a:xfrm>
            <a:off x="1038225" y="5348288"/>
            <a:ext cx="3874740" cy="15418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15"/>
              </a:lnSpc>
              <a:buNone/>
              <a:defRPr/>
            </a:pPr>
            <a:r>
              <a:rPr lang="en-US" sz="900">
                <a:solidFill>
                  <a:srgbClr val="ABADB4"/>
                </a:solidFill>
                <a:latin typeface="Inter"/>
                <a:ea typeface="Inter"/>
                <a:cs typeface="Inter"/>
              </a:rPr>
              <a:t>0.0.0.0:5000 open • manual scp + restart • no CI/CD</a:t>
            </a:r>
            <a:endParaRPr lang="en-US" sz="900"/>
          </a:p>
        </p:txBody>
      </p:sp>
      <p:pic>
        <p:nvPicPr>
          <p:cNvPr id="1302281131" name="Image 15" descr="preencoded.png"/>
          <p:cNvPicPr>
            <a:picLocks noChangeAspect="1"/>
          </p:cNvPicPr>
          <p:nvPr/>
        </p:nvPicPr>
        <p:blipFill rotWithShape="1">
          <a:blip r:embed="rId18"/>
          <a:stretch/>
        </p:blipFill>
        <p:spPr bwMode="auto">
          <a:xfrm>
            <a:off x="5008215" y="5174456"/>
            <a:ext cx="1333500" cy="595610"/>
          </a:xfrm>
          <a:prstGeom prst="rect">
            <a:avLst/>
          </a:prstGeom>
        </p:spPr>
      </p:pic>
      <p:sp>
        <p:nvSpPr>
          <p:cNvPr id="1264894652" name="Text 21"/>
          <p:cNvSpPr txBox="1"/>
          <p:nvPr/>
        </p:nvSpPr>
        <p:spPr bwMode="auto">
          <a:xfrm>
            <a:off x="5103465" y="5260181"/>
            <a:ext cx="1143000" cy="42416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14"/>
              </a:lnSpc>
              <a:buNone/>
              <a:defRPr/>
            </a:pPr>
            <a:r>
              <a:rPr lang="en-US" sz="850">
                <a:solidFill>
                  <a:srgbClr val="38BDF8"/>
                </a:solidFill>
                <a:latin typeface="Inter"/>
                <a:ea typeface="Inter"/>
                <a:cs typeface="Inter"/>
              </a:rPr>
              <a:t>→ localhost:5000 + nginx + SG 443 + CodeDeploy</a:t>
            </a:r>
            <a:endParaRPr lang="en-US" sz="850"/>
          </a:p>
        </p:txBody>
      </p:sp>
      <p:pic>
        <p:nvPicPr>
          <p:cNvPr id="811189150" name="Image 16" descr="preencoded.png"/>
          <p:cNvPicPr>
            <a:picLocks noChangeAspect="1"/>
          </p:cNvPicPr>
          <p:nvPr/>
        </p:nvPicPr>
        <p:blipFill rotWithShape="1">
          <a:blip r:embed="rId19"/>
          <a:stretch/>
        </p:blipFill>
        <p:spPr bwMode="auto">
          <a:xfrm>
            <a:off x="6789390" y="1769715"/>
            <a:ext cx="4869061" cy="2667000"/>
          </a:xfrm>
          <a:prstGeom prst="rect">
            <a:avLst/>
          </a:prstGeom>
        </p:spPr>
      </p:pic>
      <p:sp>
        <p:nvSpPr>
          <p:cNvPr id="880013992" name="Text 22"/>
          <p:cNvSpPr txBox="1"/>
          <p:nvPr/>
        </p:nvSpPr>
        <p:spPr bwMode="auto">
          <a:xfrm>
            <a:off x="6913215" y="4036665"/>
            <a:ext cx="1784899" cy="14287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 spc="60">
                <a:solidFill>
                  <a:srgbClr val="FF9AA8"/>
                </a:solidFill>
                <a:latin typeface="Inter"/>
                <a:ea typeface="Inter"/>
                <a:cs typeface="Inter"/>
              </a:rPr>
              <a:t>i-01b042962afdf4a30 :5000 SPOF</a:t>
            </a:r>
            <a:endParaRPr lang="en-US" sz="750"/>
          </a:p>
        </p:txBody>
      </p:sp>
      <p:pic>
        <p:nvPicPr>
          <p:cNvPr id="1503830904" name="Image 17" descr="preencoded.png"/>
          <p:cNvPicPr>
            <a:picLocks noChangeAspect="1"/>
          </p:cNvPicPr>
          <p:nvPr/>
        </p:nvPicPr>
        <p:blipFill rotWithShape="1">
          <a:blip r:embed="rId20"/>
          <a:stretch/>
        </p:blipFill>
        <p:spPr bwMode="auto">
          <a:xfrm>
            <a:off x="6798914" y="1779240"/>
            <a:ext cx="4850011" cy="2647949"/>
          </a:xfrm>
          <a:prstGeom prst="rect">
            <a:avLst/>
          </a:prstGeom>
        </p:spPr>
      </p:pic>
      <p:pic>
        <p:nvPicPr>
          <p:cNvPr id="1720956239" name="Image 18" descr="preencoded.png"/>
          <p:cNvPicPr>
            <a:picLocks noChangeAspect="1"/>
          </p:cNvPicPr>
          <p:nvPr/>
        </p:nvPicPr>
        <p:blipFill rotWithShape="1">
          <a:blip r:embed="rId21"/>
          <a:stretch/>
        </p:blipFill>
        <p:spPr bwMode="auto">
          <a:xfrm>
            <a:off x="6789390" y="4570065"/>
            <a:ext cx="4869061" cy="1133475"/>
          </a:xfrm>
          <a:prstGeom prst="rect">
            <a:avLst/>
          </a:prstGeom>
        </p:spPr>
      </p:pic>
      <p:sp>
        <p:nvSpPr>
          <p:cNvPr id="105595298" name="Text 23"/>
          <p:cNvSpPr txBox="1"/>
          <p:nvPr/>
        </p:nvSpPr>
        <p:spPr bwMode="auto">
          <a:xfrm>
            <a:off x="6951315" y="4722465"/>
            <a:ext cx="4545211" cy="1619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spcAft>
                <a:spcPts val="600"/>
              </a:spcAft>
              <a:buNone/>
              <a:defRPr/>
            </a:pPr>
            <a:r>
              <a:rPr lang="en-US" sz="900" b="1" spc="72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PROD TARGET</a:t>
            </a:r>
            <a:endParaRPr lang="en-US" sz="900"/>
          </a:p>
        </p:txBody>
      </p:sp>
      <p:pic>
        <p:nvPicPr>
          <p:cNvPr id="1896690766" name="Image 19" descr="preencoded.png"/>
          <p:cNvPicPr>
            <a:picLocks noChangeAspect="1"/>
          </p:cNvPicPr>
          <p:nvPr/>
        </p:nvPicPr>
        <p:blipFill rotWithShape="1">
          <a:blip r:embed="rId22"/>
          <a:stretch/>
        </p:blipFill>
        <p:spPr bwMode="auto">
          <a:xfrm>
            <a:off x="6951315" y="4960590"/>
            <a:ext cx="760214" cy="271463"/>
          </a:xfrm>
          <a:prstGeom prst="rect">
            <a:avLst/>
          </a:prstGeom>
        </p:spPr>
      </p:pic>
      <p:sp>
        <p:nvSpPr>
          <p:cNvPr id="907239648" name="Text 24"/>
          <p:cNvSpPr txBox="1"/>
          <p:nvPr/>
        </p:nvSpPr>
        <p:spPr bwMode="auto">
          <a:xfrm>
            <a:off x="7056090" y="5027265"/>
            <a:ext cx="550664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>
              <a:buNone/>
              <a:defRPr/>
            </a:pPr>
            <a:r>
              <a:rPr lang="en-US" sz="85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ALB</a:t>
            </a:r>
            <a:r>
              <a:rPr lang="en-US" sz="850">
                <a:solidFill>
                  <a:srgbClr val="ABADB4"/>
                </a:solidFill>
                <a:latin typeface="Inter"/>
                <a:ea typeface="Inter"/>
                <a:cs typeface="Inter"/>
              </a:rPr>
              <a:t> + ASG</a:t>
            </a:r>
            <a:endParaRPr lang="en-US" sz="850"/>
          </a:p>
        </p:txBody>
      </p:sp>
      <p:pic>
        <p:nvPicPr>
          <p:cNvPr id="913350586" name="Image 20" descr="preencoded.png"/>
          <p:cNvPicPr>
            <a:picLocks noChangeAspect="1"/>
          </p:cNvPicPr>
          <p:nvPr/>
        </p:nvPicPr>
        <p:blipFill rotWithShape="1">
          <a:blip r:embed="rId23"/>
          <a:stretch/>
        </p:blipFill>
        <p:spPr bwMode="auto">
          <a:xfrm>
            <a:off x="7768679" y="4960590"/>
            <a:ext cx="1081088" cy="271463"/>
          </a:xfrm>
          <a:prstGeom prst="rect">
            <a:avLst/>
          </a:prstGeom>
        </p:spPr>
      </p:pic>
      <p:sp>
        <p:nvSpPr>
          <p:cNvPr id="729308901" name="Text 25"/>
          <p:cNvSpPr txBox="1"/>
          <p:nvPr/>
        </p:nvSpPr>
        <p:spPr bwMode="auto">
          <a:xfrm>
            <a:off x="7873453" y="5027265"/>
            <a:ext cx="871538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>
              <a:buNone/>
              <a:defRPr/>
            </a:pPr>
            <a:r>
              <a:rPr lang="en-US" sz="85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DynamoDB</a:t>
            </a:r>
            <a:r>
              <a:rPr lang="en-US" sz="850">
                <a:solidFill>
                  <a:srgbClr val="ABADB4"/>
                </a:solidFill>
                <a:latin typeface="Inter"/>
                <a:ea typeface="Inter"/>
                <a:cs typeface="Inter"/>
              </a:rPr>
              <a:t> / RDS</a:t>
            </a:r>
            <a:endParaRPr lang="en-US" sz="850"/>
          </a:p>
        </p:txBody>
      </p:sp>
      <p:pic>
        <p:nvPicPr>
          <p:cNvPr id="359517311" name="Image 21" descr="preencoded.png"/>
          <p:cNvPicPr>
            <a:picLocks noChangeAspect="1"/>
          </p:cNvPicPr>
          <p:nvPr/>
        </p:nvPicPr>
        <p:blipFill rotWithShape="1">
          <a:blip r:embed="rId24"/>
          <a:stretch/>
        </p:blipFill>
        <p:spPr bwMode="auto">
          <a:xfrm>
            <a:off x="8906917" y="4960590"/>
            <a:ext cx="864840" cy="271463"/>
          </a:xfrm>
          <a:prstGeom prst="rect">
            <a:avLst/>
          </a:prstGeom>
        </p:spPr>
      </p:pic>
      <p:sp>
        <p:nvSpPr>
          <p:cNvPr id="2092883179" name="Text 26"/>
          <p:cNvSpPr txBox="1"/>
          <p:nvPr/>
        </p:nvSpPr>
        <p:spPr bwMode="auto">
          <a:xfrm>
            <a:off x="9011692" y="5027265"/>
            <a:ext cx="655290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>
              <a:buNone/>
              <a:defRPr/>
            </a:pPr>
            <a:r>
              <a:rPr lang="en-US" sz="85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OTel</a:t>
            </a:r>
            <a:r>
              <a:rPr lang="en-US" sz="850">
                <a:solidFill>
                  <a:srgbClr val="ABADB4"/>
                </a:solidFill>
                <a:latin typeface="Inter"/>
                <a:ea typeface="Inter"/>
                <a:cs typeface="Inter"/>
              </a:rPr>
              <a:t> + X-Ray</a:t>
            </a:r>
            <a:endParaRPr lang="en-US" sz="850"/>
          </a:p>
        </p:txBody>
      </p:sp>
      <p:pic>
        <p:nvPicPr>
          <p:cNvPr id="619843693" name="Image 22" descr="preencoded.png"/>
          <p:cNvPicPr>
            <a:picLocks noChangeAspect="1"/>
          </p:cNvPicPr>
          <p:nvPr/>
        </p:nvPicPr>
        <p:blipFill rotWithShape="1">
          <a:blip r:embed="rId25"/>
          <a:stretch/>
        </p:blipFill>
        <p:spPr bwMode="auto">
          <a:xfrm>
            <a:off x="9828907" y="4960590"/>
            <a:ext cx="686693" cy="271463"/>
          </a:xfrm>
          <a:prstGeom prst="rect">
            <a:avLst/>
          </a:prstGeom>
        </p:spPr>
      </p:pic>
      <p:sp>
        <p:nvSpPr>
          <p:cNvPr id="1655120123" name="Text 27"/>
          <p:cNvSpPr txBox="1"/>
          <p:nvPr/>
        </p:nvSpPr>
        <p:spPr bwMode="auto">
          <a:xfrm>
            <a:off x="9933682" y="5027265"/>
            <a:ext cx="477143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850">
                <a:solidFill>
                  <a:srgbClr val="ABADB4"/>
                </a:solidFill>
                <a:latin typeface="Inter"/>
                <a:ea typeface="Inter"/>
                <a:cs typeface="Inter"/>
              </a:rPr>
              <a:t>SQS retry</a:t>
            </a:r>
            <a:endParaRPr lang="en-US" sz="850"/>
          </a:p>
        </p:txBody>
      </p:sp>
      <p:pic>
        <p:nvPicPr>
          <p:cNvPr id="1700291853" name="Image 23" descr="preencoded.png"/>
          <p:cNvPicPr>
            <a:picLocks noChangeAspect="1"/>
          </p:cNvPicPr>
          <p:nvPr/>
        </p:nvPicPr>
        <p:blipFill rotWithShape="1">
          <a:blip r:embed="rId26"/>
          <a:stretch/>
        </p:blipFill>
        <p:spPr bwMode="auto">
          <a:xfrm>
            <a:off x="6951315" y="5289203"/>
            <a:ext cx="962471" cy="271463"/>
          </a:xfrm>
          <a:prstGeom prst="rect">
            <a:avLst/>
          </a:prstGeom>
        </p:spPr>
      </p:pic>
      <p:sp>
        <p:nvSpPr>
          <p:cNvPr id="1511833564" name="Text 28"/>
          <p:cNvSpPr txBox="1"/>
          <p:nvPr/>
        </p:nvSpPr>
        <p:spPr bwMode="auto">
          <a:xfrm>
            <a:off x="7056090" y="5355878"/>
            <a:ext cx="752921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>
              <a:buNone/>
              <a:defRPr/>
            </a:pPr>
            <a:r>
              <a:rPr lang="en-US" sz="850">
                <a:solidFill>
                  <a:srgbClr val="ABADB4"/>
                </a:solidFill>
                <a:latin typeface="Inter"/>
                <a:ea typeface="Inter"/>
                <a:cs typeface="Inter"/>
              </a:rPr>
              <a:t>nginx + </a:t>
            </a:r>
            <a:r>
              <a:rPr lang="en-US" sz="85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private</a:t>
            </a:r>
            <a:endParaRPr lang="en-US" sz="850"/>
          </a:p>
        </p:txBody>
      </p:sp>
      <p:pic>
        <p:nvPicPr>
          <p:cNvPr id="2128942857" name="Image 24" descr="preencoded.png"/>
          <p:cNvPicPr>
            <a:picLocks noChangeAspect="1"/>
          </p:cNvPicPr>
          <p:nvPr/>
        </p:nvPicPr>
        <p:blipFill rotWithShape="1">
          <a:blip r:embed="rId27"/>
          <a:stretch/>
        </p:blipFill>
        <p:spPr bwMode="auto">
          <a:xfrm>
            <a:off x="7970937" y="5289203"/>
            <a:ext cx="700980" cy="271463"/>
          </a:xfrm>
          <a:prstGeom prst="rect">
            <a:avLst/>
          </a:prstGeom>
        </p:spPr>
      </p:pic>
      <p:sp>
        <p:nvSpPr>
          <p:cNvPr id="1526295555" name="Text 29"/>
          <p:cNvSpPr txBox="1"/>
          <p:nvPr/>
        </p:nvSpPr>
        <p:spPr bwMode="auto">
          <a:xfrm>
            <a:off x="8075712" y="5355878"/>
            <a:ext cx="491430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850">
                <a:solidFill>
                  <a:srgbClr val="ABADB4"/>
                </a:solidFill>
                <a:latin typeface="Inter"/>
                <a:ea typeface="Inter"/>
                <a:cs typeface="Inter"/>
              </a:rPr>
              <a:t>Terraform</a:t>
            </a:r>
            <a:endParaRPr lang="en-US" sz="850"/>
          </a:p>
        </p:txBody>
      </p:sp>
      <p:pic>
        <p:nvPicPr>
          <p:cNvPr id="909201197" name="Image 25" descr="preencoded.png"/>
          <p:cNvPicPr>
            <a:picLocks noChangeAspect="1"/>
          </p:cNvPicPr>
          <p:nvPr/>
        </p:nvPicPr>
        <p:blipFill rotWithShape="1">
          <a:blip r:embed="rId28"/>
          <a:stretch/>
        </p:blipFill>
        <p:spPr bwMode="auto">
          <a:xfrm>
            <a:off x="8729067" y="5289203"/>
            <a:ext cx="820043" cy="271463"/>
          </a:xfrm>
          <a:prstGeom prst="rect">
            <a:avLst/>
          </a:prstGeom>
        </p:spPr>
      </p:pic>
      <p:sp>
        <p:nvSpPr>
          <p:cNvPr id="1896216576" name="Text 30"/>
          <p:cNvSpPr txBox="1"/>
          <p:nvPr/>
        </p:nvSpPr>
        <p:spPr bwMode="auto">
          <a:xfrm>
            <a:off x="8833842" y="5355878"/>
            <a:ext cx="610493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850">
                <a:solidFill>
                  <a:srgbClr val="ABADB4"/>
                </a:solidFill>
                <a:latin typeface="Inter"/>
                <a:ea typeface="Inter"/>
                <a:cs typeface="Inter"/>
              </a:rPr>
              <a:t>CodeDeploy</a:t>
            </a:r>
            <a:endParaRPr lang="en-US" sz="8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8">
    <p:bg>
      <p:bgPr shadeToTitle="0">
        <a:solidFill>
          <a:srgbClr val="18162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1508054" name="Text 0"/>
          <p:cNvSpPr txBox="1"/>
          <p:nvPr/>
        </p:nvSpPr>
        <p:spPr bwMode="auto">
          <a:xfrm>
            <a:off x="609600" y="1148358"/>
            <a:ext cx="10972800" cy="114061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  <a:defRPr/>
            </a:pPr>
            <a:r>
              <a:rPr lang="en-US" sz="4800" b="1" spc="-95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Thank You </a:t>
            </a:r>
            <a:endParaRPr lang="en-US" sz="4800"/>
          </a:p>
          <a:p>
            <a:pPr marL="0" indent="0" algn="ctr">
              <a:buNone/>
              <a:defRPr/>
            </a:pPr>
            <a:endParaRPr lang="en-US" sz="4800" b="1" spc="-95">
              <a:solidFill>
                <a:srgbClr val="EAEEF2"/>
              </a:solidFill>
              <a:latin typeface="Space Grotesk"/>
              <a:ea typeface="Space Grotesk"/>
              <a:cs typeface="Space Grotesk"/>
            </a:endParaRPr>
          </a:p>
          <a:p>
            <a:pPr marL="0" indent="0" algn="ctr">
              <a:buNone/>
              <a:defRPr/>
            </a:pPr>
            <a:r>
              <a:rPr lang="en-US" sz="4800" b="1" spc="-95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 </a:t>
            </a:r>
            <a:r>
              <a:rPr lang="de-DE" sz="4800" b="1" spc="-95">
                <a:solidFill>
                  <a:srgbClr val="67F4E2"/>
                </a:solidFill>
                <a:latin typeface="Inter"/>
                <a:ea typeface="Inter"/>
                <a:cs typeface="Inter"/>
              </a:rPr>
              <a:t>Q&amp;A</a:t>
            </a:r>
            <a:endParaRPr lang="en-US" sz="4800"/>
          </a:p>
        </p:txBody>
      </p:sp>
      <p:sp>
        <p:nvSpPr>
          <p:cNvPr id="1007017508" name="Shape 11"/>
          <p:cNvSpPr/>
          <p:nvPr/>
        </p:nvSpPr>
        <p:spPr bwMode="auto">
          <a:xfrm>
            <a:off x="1619250" y="5210175"/>
            <a:ext cx="8953500" cy="9525"/>
          </a:xfrm>
          <a:prstGeom prst="rect">
            <a:avLst/>
          </a:prstGeom>
          <a:solidFill>
            <a:srgbClr val="EBEBF5">
              <a:alpha val="10000"/>
            </a:srgbClr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14</Slides>
  <Notes>14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Proj2-Observability-Deep-Dive</dc:title>
  <dc:subject>PptxGenJS Presentation</dc:subject>
  <dc:creator>PptxGenJS</dc:creator>
  <cp:lastModifiedBy/>
  <cp:revision>2</cp:revision>
  <dcterms:created xsi:type="dcterms:W3CDTF">2026-08-14T09:44:03Z</dcterms:created>
  <dcterms:modified xsi:type="dcterms:W3CDTF">2026-08-14T14:34:21Z</dcterms:modified>
</cp:coreProperties>
</file>