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53409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335726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81691536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4903232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39455460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2147268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2417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7362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5849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2522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5403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22491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7214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1222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Test note</a:t>
            </a:r>
            <a:endParaRPr lang="en-US"/>
          </a:p>
        </p:txBody>
      </p:sp>
      <p:sp>
        <p:nvSpPr>
          <p:cNvPr id="186129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0320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8140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67371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C7331-0136-E50C-3B6B-53C18218AC2D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6025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749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734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1808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46975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61225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8207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7425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9500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473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7083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1316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8555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7369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1139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9391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9214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16692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8758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1586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5057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01069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0396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12395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3577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13993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0171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Relationship Id="rId12" Type="http://schemas.openxmlformats.org/officeDocument/2006/relationships/image" Target="../media/image33.png"/><Relationship Id="rId13" Type="http://schemas.openxmlformats.org/officeDocument/2006/relationships/image" Target="../media/image34.pn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png"/><Relationship Id="rId18" Type="http://schemas.openxmlformats.org/officeDocument/2006/relationships/image" Target="../media/image39.png"/><Relationship Id="rId19" Type="http://schemas.openxmlformats.org/officeDocument/2006/relationships/image" Target="../media/image4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64.png"/><Relationship Id="rId15" Type="http://schemas.openxmlformats.org/officeDocument/2006/relationships/image" Target="../media/image65.png"/><Relationship Id="rId16" Type="http://schemas.openxmlformats.org/officeDocument/2006/relationships/image" Target="../media/image66.png"/><Relationship Id="rId17" Type="http://schemas.openxmlformats.org/officeDocument/2006/relationships/image" Target="../media/image67.png"/><Relationship Id="rId18" Type="http://schemas.openxmlformats.org/officeDocument/2006/relationships/image" Target="../media/image68.png"/><Relationship Id="rId19" Type="http://schemas.openxmlformats.org/officeDocument/2006/relationships/image" Target="../media/image69.png"/><Relationship Id="rId20" Type="http://schemas.openxmlformats.org/officeDocument/2006/relationships/image" Target="../media/image70.png"/><Relationship Id="rId21" Type="http://schemas.openxmlformats.org/officeDocument/2006/relationships/image" Target="../media/image71.png"/><Relationship Id="rId22" Type="http://schemas.openxmlformats.org/officeDocument/2006/relationships/image" Target="../media/image72.png"/><Relationship Id="rId23" Type="http://schemas.openxmlformats.org/officeDocument/2006/relationships/image" Target="../media/image73.png"/><Relationship Id="rId24" Type="http://schemas.openxmlformats.org/officeDocument/2006/relationships/image" Target="../media/image7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Relationship Id="rId8" Type="http://schemas.openxmlformats.org/officeDocument/2006/relationships/image" Target="../media/image80.png"/><Relationship Id="rId9" Type="http://schemas.openxmlformats.org/officeDocument/2006/relationships/image" Target="../media/image81.png"/><Relationship Id="rId10" Type="http://schemas.openxmlformats.org/officeDocument/2006/relationships/image" Target="../media/image8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2571663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6827490" cy="6858000"/>
          </a:xfrm>
          <a:prstGeom prst="rect">
            <a:avLst/>
          </a:prstGeom>
        </p:spPr>
      </p:pic>
      <p:sp>
        <p:nvSpPr>
          <p:cNvPr id="1884454679" name="Text 0"/>
          <p:cNvSpPr txBox="1"/>
          <p:nvPr/>
        </p:nvSpPr>
        <p:spPr bwMode="auto">
          <a:xfrm>
            <a:off x="0" y="0"/>
            <a:ext cx="6827491" cy="68580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384620847" name="Shape 1"/>
          <p:cNvSpPr/>
          <p:nvPr/>
        </p:nvSpPr>
        <p:spPr bwMode="auto">
          <a:xfrm>
            <a:off x="6829425" y="0"/>
            <a:ext cx="5362575" cy="6858000"/>
          </a:xfrm>
          <a:prstGeom prst="rect">
            <a:avLst/>
          </a:prstGeom>
          <a:solidFill>
            <a:srgbClr val="181622"/>
          </a:solidFill>
          <a:ln/>
        </p:spPr>
      </p:sp>
      <p:sp>
        <p:nvSpPr>
          <p:cNvPr id="880115422" name="Text 2"/>
          <p:cNvSpPr txBox="1"/>
          <p:nvPr/>
        </p:nvSpPr>
        <p:spPr bwMode="auto">
          <a:xfrm flipH="0" flipV="0">
            <a:off x="7284690" y="2313383"/>
            <a:ext cx="4432931" cy="36194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marR="0" indent="0" algn="l">
              <a:lnSpc>
                <a:spcPts val="1459"/>
              </a:lnSpc>
              <a:spcBef>
                <a:spcPts val="0"/>
              </a:spcBef>
              <a:spcAft>
                <a:spcPts val="1499"/>
              </a:spcAft>
              <a:buNone/>
              <a:defRPr/>
            </a:pP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Instrume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nted </a:t>
            </a:r>
            <a:r>
              <a:rPr sz="140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&amp; Monitored Cloud Service</a:t>
            </a:r>
            <a:endParaRPr sz="1400"/>
          </a:p>
        </p:txBody>
      </p:sp>
      <p:sp>
        <p:nvSpPr>
          <p:cNvPr id="985687689" name="Text 3"/>
          <p:cNvSpPr txBox="1"/>
          <p:nvPr/>
        </p:nvSpPr>
        <p:spPr bwMode="auto">
          <a:xfrm>
            <a:off x="7284690" y="2865834"/>
            <a:ext cx="3704593" cy="113469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Observability</a:t>
            </a:r>
            <a:endParaRPr lang="en-US" sz="4800"/>
          </a:p>
          <a:p>
            <a:pPr marL="0" indent="0" algn="l">
              <a:lnSpc>
                <a:spcPts val="4800"/>
              </a:lnSpc>
              <a:buNone/>
              <a:defRPr/>
            </a:pP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Monitoring</a:t>
            </a:r>
            <a:endParaRPr lang="en-US" sz="4800"/>
          </a:p>
        </p:txBody>
      </p:sp>
      <p:pic>
        <p:nvPicPr>
          <p:cNvPr id="130426608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84690" y="4263628"/>
            <a:ext cx="1913186" cy="290513"/>
          </a:xfrm>
          <a:prstGeom prst="rect">
            <a:avLst/>
          </a:prstGeom>
        </p:spPr>
      </p:pic>
      <p:sp>
        <p:nvSpPr>
          <p:cNvPr id="1243463838" name="Text 4"/>
          <p:cNvSpPr txBox="1"/>
          <p:nvPr/>
        </p:nvSpPr>
        <p:spPr bwMode="auto">
          <a:xfrm>
            <a:off x="7408514" y="4339827"/>
            <a:ext cx="1773236" cy="1580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defRPr/>
            </a:pP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Cloud Engineer</a:t>
            </a:r>
            <a:r>
              <a:rPr lang="de-DE" sz="850" b="1" i="0" u="none" strike="noStrike" cap="none" spc="136">
                <a:solidFill>
                  <a:srgbClr val="67F4E2"/>
                </a:solidFill>
                <a:latin typeface="Inter"/>
                <a:ea typeface="Inter"/>
                <a:cs typeface="Inter"/>
              </a:rPr>
              <a:t> / Ironhack</a:t>
            </a:r>
            <a:endParaRPr lang="de-DE" sz="850" b="1" i="0" u="none" strike="noStrike" cap="none" spc="136">
              <a:solidFill>
                <a:srgbClr val="67F4E2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pic>
        <p:nvPicPr>
          <p:cNvPr id="90675585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312175" y="4263627"/>
            <a:ext cx="1869085" cy="290512"/>
          </a:xfrm>
          <a:prstGeom prst="rect">
            <a:avLst/>
          </a:prstGeom>
        </p:spPr>
      </p:pic>
      <p:sp>
        <p:nvSpPr>
          <p:cNvPr id="995597439" name="Text 5"/>
          <p:cNvSpPr txBox="1"/>
          <p:nvPr/>
        </p:nvSpPr>
        <p:spPr bwMode="auto">
          <a:xfrm>
            <a:off x="9436000" y="4335065"/>
            <a:ext cx="1650776" cy="1724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de-DE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Faramarz Karamizadeh, Aug.2026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513728" name="Text 0"/>
          <p:cNvSpPr txBox="1"/>
          <p:nvPr/>
        </p:nvSpPr>
        <p:spPr bwMode="auto">
          <a:xfrm>
            <a:off x="533399" y="533399"/>
            <a:ext cx="1757541" cy="49565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Agenda </a:t>
            </a:r>
            <a:endParaRPr lang="en-US" sz="3900"/>
          </a:p>
        </p:txBody>
      </p:sp>
      <p:pic>
        <p:nvPicPr>
          <p:cNvPr id="50285435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914525"/>
            <a:ext cx="7048500" cy="514350"/>
          </a:xfrm>
          <a:prstGeom prst="rect">
            <a:avLst/>
          </a:prstGeom>
        </p:spPr>
      </p:pic>
      <p:sp>
        <p:nvSpPr>
          <p:cNvPr id="50129896" name="Text 1"/>
          <p:cNvSpPr txBox="1"/>
          <p:nvPr/>
        </p:nvSpPr>
        <p:spPr bwMode="auto">
          <a:xfrm>
            <a:off x="714375" y="2095499"/>
            <a:ext cx="73431" cy="16444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1</a:t>
            </a:r>
            <a:endParaRPr lang="en-US" sz="900"/>
          </a:p>
        </p:txBody>
      </p:sp>
      <p:sp>
        <p:nvSpPr>
          <p:cNvPr id="1833978809" name="Text 2"/>
          <p:cNvSpPr txBox="1"/>
          <p:nvPr/>
        </p:nvSpPr>
        <p:spPr bwMode="auto">
          <a:xfrm>
            <a:off x="1666875" y="20764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1. Architecture &amp; Instrumentation</a:t>
            </a:r>
            <a:endParaRPr lang="en-US" sz="1200"/>
          </a:p>
        </p:txBody>
      </p:sp>
      <p:pic>
        <p:nvPicPr>
          <p:cNvPr id="147429865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2562225"/>
            <a:ext cx="7048500" cy="514350"/>
          </a:xfrm>
          <a:prstGeom prst="rect">
            <a:avLst/>
          </a:prstGeom>
        </p:spPr>
      </p:pic>
      <p:sp>
        <p:nvSpPr>
          <p:cNvPr id="866566303" name="Text 4"/>
          <p:cNvSpPr txBox="1"/>
          <p:nvPr/>
        </p:nvSpPr>
        <p:spPr bwMode="auto">
          <a:xfrm>
            <a:off x="714375" y="2743200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2</a:t>
            </a:r>
            <a:endParaRPr lang="en-US" sz="900"/>
          </a:p>
        </p:txBody>
      </p:sp>
      <p:sp>
        <p:nvSpPr>
          <p:cNvPr id="232616302" name="Text 5"/>
          <p:cNvSpPr txBox="1"/>
          <p:nvPr/>
        </p:nvSpPr>
        <p:spPr bwMode="auto">
          <a:xfrm>
            <a:off x="1666875" y="27241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2. Live Demo — Dashboard &amp; Monitoring</a:t>
            </a:r>
            <a:endParaRPr lang="en-US" sz="1200"/>
          </a:p>
        </p:txBody>
      </p:sp>
      <p:pic>
        <p:nvPicPr>
          <p:cNvPr id="55251033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400" y="3209925"/>
            <a:ext cx="7048500" cy="514350"/>
          </a:xfrm>
          <a:prstGeom prst="rect">
            <a:avLst/>
          </a:prstGeom>
        </p:spPr>
      </p:pic>
      <p:sp>
        <p:nvSpPr>
          <p:cNvPr id="316972362" name="Text 7"/>
          <p:cNvSpPr txBox="1"/>
          <p:nvPr/>
        </p:nvSpPr>
        <p:spPr bwMode="auto">
          <a:xfrm>
            <a:off x="714375" y="33908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3</a:t>
            </a:r>
            <a:endParaRPr lang="en-US" sz="900"/>
          </a:p>
        </p:txBody>
      </p:sp>
      <p:sp>
        <p:nvSpPr>
          <p:cNvPr id="1319380061" name="Text 8"/>
          <p:cNvSpPr txBox="1"/>
          <p:nvPr/>
        </p:nvSpPr>
        <p:spPr bwMode="auto">
          <a:xfrm>
            <a:off x="1666875" y="33718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3. Incident Response Simulation</a:t>
            </a:r>
            <a:endParaRPr lang="en-US" sz="1200"/>
          </a:p>
        </p:txBody>
      </p:sp>
      <p:pic>
        <p:nvPicPr>
          <p:cNvPr id="198281196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33400" y="3857625"/>
            <a:ext cx="7048500" cy="514350"/>
          </a:xfrm>
          <a:prstGeom prst="rect">
            <a:avLst/>
          </a:prstGeom>
        </p:spPr>
      </p:pic>
      <p:sp>
        <p:nvSpPr>
          <p:cNvPr id="370665076" name="Text 10"/>
          <p:cNvSpPr txBox="1"/>
          <p:nvPr/>
        </p:nvSpPr>
        <p:spPr bwMode="auto">
          <a:xfrm>
            <a:off x="714375" y="40385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4</a:t>
            </a:r>
            <a:endParaRPr lang="en-US" sz="900"/>
          </a:p>
        </p:txBody>
      </p:sp>
      <p:sp>
        <p:nvSpPr>
          <p:cNvPr id="1947745616" name="Text 11"/>
          <p:cNvSpPr txBox="1"/>
          <p:nvPr/>
        </p:nvSpPr>
        <p:spPr bwMode="auto">
          <a:xfrm>
            <a:off x="1666875" y="40195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4. Alerting &amp; Response</a:t>
            </a:r>
            <a:endParaRPr lang="en-US" sz="1200"/>
          </a:p>
        </p:txBody>
      </p:sp>
      <p:pic>
        <p:nvPicPr>
          <p:cNvPr id="1276734480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4505325"/>
            <a:ext cx="7048500" cy="514350"/>
          </a:xfrm>
          <a:prstGeom prst="rect">
            <a:avLst/>
          </a:prstGeom>
        </p:spPr>
      </p:pic>
      <p:sp>
        <p:nvSpPr>
          <p:cNvPr id="323815798" name="Text 13"/>
          <p:cNvSpPr txBox="1"/>
          <p:nvPr/>
        </p:nvSpPr>
        <p:spPr bwMode="auto">
          <a:xfrm>
            <a:off x="714375" y="4686300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5</a:t>
            </a:r>
            <a:endParaRPr lang="en-US" sz="900"/>
          </a:p>
        </p:txBody>
      </p:sp>
      <p:sp>
        <p:nvSpPr>
          <p:cNvPr id="1077992739" name="Text 14"/>
          <p:cNvSpPr txBox="1"/>
          <p:nvPr/>
        </p:nvSpPr>
        <p:spPr bwMode="auto">
          <a:xfrm>
            <a:off x="1666875" y="4667250"/>
            <a:ext cx="4972050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5. Learnings &amp; Improvements</a:t>
            </a:r>
            <a:endParaRPr lang="en-US" sz="1200"/>
          </a:p>
        </p:txBody>
      </p:sp>
      <p:pic>
        <p:nvPicPr>
          <p:cNvPr id="313269153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533400" y="5153024"/>
            <a:ext cx="7048500" cy="514350"/>
          </a:xfrm>
          <a:prstGeom prst="rect">
            <a:avLst/>
          </a:prstGeom>
        </p:spPr>
      </p:pic>
      <p:sp>
        <p:nvSpPr>
          <p:cNvPr id="475285302" name="Text 16"/>
          <p:cNvSpPr txBox="1"/>
          <p:nvPr/>
        </p:nvSpPr>
        <p:spPr bwMode="auto">
          <a:xfrm>
            <a:off x="714375" y="5333999"/>
            <a:ext cx="73431" cy="1622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de-DE" sz="900" b="1" spc="72">
                <a:solidFill>
                  <a:srgbClr val="67F4E2"/>
                </a:solidFill>
                <a:latin typeface="Inter"/>
                <a:ea typeface="Inter"/>
                <a:cs typeface="Inter"/>
              </a:rPr>
              <a:t>6</a:t>
            </a:r>
            <a:endParaRPr lang="en-US" sz="900"/>
          </a:p>
        </p:txBody>
      </p:sp>
      <p:sp>
        <p:nvSpPr>
          <p:cNvPr id="41657231" name="Text 17"/>
          <p:cNvSpPr txBox="1"/>
          <p:nvPr/>
        </p:nvSpPr>
        <p:spPr bwMode="auto">
          <a:xfrm>
            <a:off x="1666874" y="5314949"/>
            <a:ext cx="508813" cy="2099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6. Q&amp;A </a:t>
            </a:r>
            <a:endParaRPr lang="en-US" sz="1200"/>
          </a:p>
        </p:txBody>
      </p:sp>
      <p:pic>
        <p:nvPicPr>
          <p:cNvPr id="38309387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8039100" y="1257300"/>
            <a:ext cx="3619500" cy="5067300"/>
          </a:xfrm>
          <a:prstGeom prst="rect">
            <a:avLst/>
          </a:prstGeom>
        </p:spPr>
      </p:pic>
      <p:sp>
        <p:nvSpPr>
          <p:cNvPr id="1664274875" name="Text 19"/>
          <p:cNvSpPr txBox="1"/>
          <p:nvPr/>
        </p:nvSpPr>
        <p:spPr bwMode="auto">
          <a:xfrm>
            <a:off x="8277224" y="2581423"/>
            <a:ext cx="1753882" cy="34362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1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6</a:t>
            </a: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 widgets</a:t>
            </a:r>
            <a:endParaRPr lang="en-US" sz="2700"/>
          </a:p>
        </p:txBody>
      </p:sp>
      <p:sp>
        <p:nvSpPr>
          <p:cNvPr id="922352921" name="Text 20"/>
          <p:cNvSpPr txBox="1"/>
          <p:nvPr/>
        </p:nvSpPr>
        <p:spPr bwMode="auto">
          <a:xfrm>
            <a:off x="8277225" y="2981474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 • Period 60s • SingleValue + Golden Signals + Correlation</a:t>
            </a:r>
            <a:endParaRPr lang="en-US" sz="900"/>
          </a:p>
        </p:txBody>
      </p:sp>
      <p:sp>
        <p:nvSpPr>
          <p:cNvPr id="247380962" name="Shape 21"/>
          <p:cNvSpPr/>
          <p:nvPr/>
        </p:nvSpPr>
        <p:spPr bwMode="auto">
          <a:xfrm>
            <a:off x="8277225" y="344805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  <p:sp>
        <p:nvSpPr>
          <p:cNvPr id="684761674" name="Text 22"/>
          <p:cNvSpPr txBox="1"/>
          <p:nvPr/>
        </p:nvSpPr>
        <p:spPr bwMode="auto">
          <a:xfrm>
            <a:off x="8277224" y="3630960"/>
            <a:ext cx="2878179" cy="34793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5 </a:t>
            </a:r>
            <a:r>
              <a:rPr lang="de-DE" sz="2700" b="1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2700"/>
          </a:p>
        </p:txBody>
      </p:sp>
      <p:sp>
        <p:nvSpPr>
          <p:cNvPr id="264675042" name="Text 23"/>
          <p:cNvSpPr txBox="1"/>
          <p:nvPr/>
        </p:nvSpPr>
        <p:spPr bwMode="auto">
          <a:xfrm>
            <a:off x="8277225" y="4031010"/>
            <a:ext cx="3143250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  <a:defRPr/>
            </a:pPr>
            <a:r>
              <a:rPr lang="en-US" sz="9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request_count • api_latency • error_count • orders_per_minute • order_value</a:t>
            </a:r>
            <a:endParaRPr lang="en-US" sz="900"/>
          </a:p>
        </p:txBody>
      </p:sp>
      <p:sp>
        <p:nvSpPr>
          <p:cNvPr id="1687398607" name="Shape 24"/>
          <p:cNvSpPr/>
          <p:nvPr/>
        </p:nvSpPr>
        <p:spPr bwMode="auto">
          <a:xfrm>
            <a:off x="8277225" y="4495800"/>
            <a:ext cx="3143250" cy="9525"/>
          </a:xfrm>
          <a:prstGeom prst="rect">
            <a:avLst/>
          </a:prstGeom>
          <a:solidFill>
            <a:srgbClr val="E6EFEF">
              <a:alpha val="12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randomBar dir="horz"/>
      </p:transition>
    </mc:Choice>
    <mc:Fallback>
      <p:transition spd="fast" advClick="1">
        <p:randomBar dir="horz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854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29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3978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298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566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616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510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97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9380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28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65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745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73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815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992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269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285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57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09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4274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52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380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4761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675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7398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32277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42254" y="2052960"/>
            <a:ext cx="11507491" cy="4805038"/>
          </a:xfrm>
          <a:prstGeom prst="rect">
            <a:avLst/>
          </a:prstGeom>
        </p:spPr>
      </p:pic>
      <p:sp>
        <p:nvSpPr>
          <p:cNvPr id="1523908405" name="Text 0"/>
          <p:cNvSpPr txBox="1"/>
          <p:nvPr/>
        </p:nvSpPr>
        <p:spPr bwMode="auto">
          <a:xfrm>
            <a:off x="255972" y="24783"/>
            <a:ext cx="1536819" cy="8700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22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Architecture</a:t>
            </a:r>
            <a:endParaRPr sz="2200"/>
          </a:p>
          <a:p>
            <a:pPr marL="0" indent="0" algn="l">
              <a:lnSpc>
                <a:spcPts val="3600"/>
              </a:lnSpc>
              <a:buNone/>
              <a:defRPr/>
            </a:pPr>
            <a:endParaRPr lang="en-US" sz="3600"/>
          </a:p>
        </p:txBody>
      </p:sp>
      <p:pic>
        <p:nvPicPr>
          <p:cNvPr id="119369732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397329" y="841826"/>
            <a:ext cx="3357800" cy="1111550"/>
          </a:xfrm>
          <a:prstGeom prst="rect">
            <a:avLst/>
          </a:prstGeom>
        </p:spPr>
      </p:pic>
      <p:sp>
        <p:nvSpPr>
          <p:cNvPr id="1867682408" name="Text 1"/>
          <p:cNvSpPr txBox="1"/>
          <p:nvPr/>
        </p:nvSpPr>
        <p:spPr bwMode="auto">
          <a:xfrm flipH="0" flipV="0">
            <a:off x="1465962" y="957513"/>
            <a:ext cx="310819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INSTANCE</a:t>
            </a:r>
            <a:endParaRPr lang="en-US" sz="850"/>
          </a:p>
        </p:txBody>
      </p:sp>
      <p:sp>
        <p:nvSpPr>
          <p:cNvPr id="889285453" name="Text 2"/>
          <p:cNvSpPr txBox="1"/>
          <p:nvPr/>
        </p:nvSpPr>
        <p:spPr bwMode="auto">
          <a:xfrm flipH="0" flipV="0">
            <a:off x="1465962" y="1168850"/>
            <a:ext cx="310819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i-01b</a:t>
            </a:r>
            <a:r>
              <a:rPr lang="de-DE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xxx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 myapp.service • Flask + Gunicorn 2 sync workers</a:t>
            </a:r>
            <a:r>
              <a:rPr lang="de-DE" sz="1050">
                <a:solidFill>
                  <a:schemeClr val="bg1"/>
                </a:solidFill>
              </a:rPr>
              <a:t>. Systemd service</a:t>
            </a:r>
            <a:endParaRPr lang="en-US" sz="1050"/>
          </a:p>
        </p:txBody>
      </p:sp>
      <p:pic>
        <p:nvPicPr>
          <p:cNvPr id="1246596466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268276" y="884315"/>
            <a:ext cx="3168843" cy="1069061"/>
          </a:xfrm>
          <a:prstGeom prst="rect">
            <a:avLst/>
          </a:prstGeom>
        </p:spPr>
      </p:pic>
      <p:sp>
        <p:nvSpPr>
          <p:cNvPr id="142626905" name="Text 3"/>
          <p:cNvSpPr txBox="1"/>
          <p:nvPr/>
        </p:nvSpPr>
        <p:spPr bwMode="auto">
          <a:xfrm flipH="0" flipV="0">
            <a:off x="8322863" y="104624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LOGGING PIPELINE</a:t>
            </a:r>
            <a:endParaRPr lang="en-US" sz="850"/>
          </a:p>
        </p:txBody>
      </p:sp>
      <p:sp>
        <p:nvSpPr>
          <p:cNvPr id="1756015404" name="Text 4"/>
          <p:cNvSpPr txBox="1"/>
          <p:nvPr/>
        </p:nvSpPr>
        <p:spPr bwMode="auto">
          <a:xfrm flipH="0" flipV="0">
            <a:off x="8322863" y="1257576"/>
            <a:ext cx="293328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systemd StandardOutput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 JSON only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 • gunicorn-error.log • CWAgent →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proj2-logs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log group</a:t>
            </a:r>
            <a:endParaRPr lang="en-US" sz="1050"/>
          </a:p>
        </p:txBody>
      </p:sp>
      <p:pic>
        <p:nvPicPr>
          <p:cNvPr id="1116013174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939150" y="871735"/>
            <a:ext cx="3168843" cy="1081641"/>
          </a:xfrm>
          <a:prstGeom prst="rect">
            <a:avLst/>
          </a:prstGeom>
        </p:spPr>
      </p:pic>
      <p:sp>
        <p:nvSpPr>
          <p:cNvPr id="743954115" name="Text 5"/>
          <p:cNvSpPr txBox="1"/>
          <p:nvPr/>
        </p:nvSpPr>
        <p:spPr bwMode="auto">
          <a:xfrm flipH="0" flipV="0">
            <a:off x="4993736" y="1033660"/>
            <a:ext cx="2933282" cy="12561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METRICS</a:t>
            </a:r>
            <a:endParaRPr lang="en-US" sz="850"/>
          </a:p>
        </p:txBody>
      </p:sp>
      <p:sp>
        <p:nvSpPr>
          <p:cNvPr id="1762973971" name="Text 6"/>
          <p:cNvSpPr txBox="1"/>
          <p:nvPr/>
        </p:nvSpPr>
        <p:spPr bwMode="auto">
          <a:xfrm flipH="0" flipV="0">
            <a:off x="4993736" y="1244996"/>
            <a:ext cx="2933282" cy="37712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Namespaces: </a:t>
            </a:r>
            <a:r>
              <a:rPr lang="en-US" sz="105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Proj2/MyApp</a:t>
            </a:r>
            <a:r>
              <a:rPr lang="en-US" sz="10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(custom) + CWAgent (mem/disk) + AWS/EC2 (CPU/Network) • boto3 put_metric_data • period 60s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369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768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9285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013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954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2973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596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626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6015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3227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482534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3515" y="745566"/>
            <a:ext cx="2949677" cy="6112433"/>
          </a:xfrm>
          <a:prstGeom prst="rect">
            <a:avLst/>
          </a:prstGeom>
        </p:spPr>
      </p:pic>
      <p:sp>
        <p:nvSpPr>
          <p:cNvPr id="618690790" name="TextBox 1"/>
          <p:cNvSpPr txBox="1"/>
          <p:nvPr/>
        </p:nvSpPr>
        <p:spPr bwMode="auto">
          <a:xfrm>
            <a:off x="457200" y="44166"/>
            <a:ext cx="10987919" cy="701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AEEF2"/>
                </a:solidFill>
                <a:latin typeface="Space Grotesk"/>
              </a:defRPr>
            </a:pPr>
            <a:r>
              <a:rPr/>
              <a:t>Project Highlights</a:t>
            </a:r>
            <a:endParaRPr/>
          </a:p>
          <a:p>
            <a:pPr>
              <a:defRPr sz="2800" b="1">
                <a:solidFill>
                  <a:srgbClr val="EAEEF2"/>
                </a:solidFill>
                <a:latin typeface="Space Grotesk"/>
              </a:defRPr>
            </a:pPr>
            <a:r>
              <a:rPr/>
              <a:t> </a:t>
            </a:r>
            <a:r>
              <a:rPr sz="1200">
                <a:solidFill>
                  <a:srgbClr val="67F4E2"/>
                </a:solidFill>
              </a:rPr>
              <a:t>  100% IaC • Terraform + Ansible </a:t>
            </a:r>
            <a:endParaRPr/>
          </a:p>
        </p:txBody>
      </p:sp>
      <p:sp>
        <p:nvSpPr>
          <p:cNvPr id="576567317" name="Rectangle 2"/>
          <p:cNvSpPr/>
          <p:nvPr/>
        </p:nvSpPr>
        <p:spPr bwMode="auto">
          <a:xfrm flipH="0" flipV="0">
            <a:off x="4202466" y="128356"/>
            <a:ext cx="3474720" cy="1134455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Infra as Code 100%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Terraform</a:t>
            </a:r>
            <a:r>
              <a:rPr lang="de-DE"/>
              <a:t> modular</a:t>
            </a:r>
            <a:r>
              <a:rPr/>
              <a:t> + Ansible full stack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VPC, EC2 i-01b04296, SG, IAM-role, CWAgent</a:t>
            </a:r>
            <a:r>
              <a:rPr lang="de-DE"/>
              <a:t> configs</a:t>
            </a:r>
            <a:r>
              <a:rPr/>
              <a:t>, myapp.service. Reproducible.</a:t>
            </a:r>
            <a:endParaRPr/>
          </a:p>
        </p:txBody>
      </p:sp>
      <p:sp>
        <p:nvSpPr>
          <p:cNvPr id="1860735203" name="Rectangle 3"/>
          <p:cNvSpPr/>
          <p:nvPr/>
        </p:nvSpPr>
        <p:spPr bwMode="auto">
          <a:xfrm flipH="0" flipV="0">
            <a:off x="4206240" y="1376778"/>
            <a:ext cx="3474720" cy="126802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5 Custom Metrics [Business]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orders_per_minute + order_value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request_count api_latency error_count + biz orders_per_minute order_value via boto3.</a:t>
            </a:r>
            <a:endParaRPr/>
          </a:p>
        </p:txBody>
      </p:sp>
      <p:sp>
        <p:nvSpPr>
          <p:cNvPr id="1138474497" name="Rectangle 4"/>
          <p:cNvSpPr/>
          <p:nvPr/>
        </p:nvSpPr>
        <p:spPr bwMode="auto">
          <a:xfrm flipH="0" flipV="0">
            <a:off x="8556369" y="683210"/>
            <a:ext cx="3474720" cy="111081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Memory Anomaly</a:t>
            </a:r>
            <a:r>
              <a:rPr lang="de-DE"/>
              <a:t> alarm and dashboard</a:t>
            </a:r>
            <a:r>
              <a:rPr/>
              <a:t> [USE]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mem_used_percent detection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Infra saturation signal from CWAgent. SingleValue widget + anomaly band vs latency.</a:t>
            </a:r>
            <a:endParaRPr/>
          </a:p>
        </p:txBody>
      </p:sp>
      <p:sp>
        <p:nvSpPr>
          <p:cNvPr id="234095904" name="Rectangle 5"/>
          <p:cNvSpPr/>
          <p:nvPr/>
        </p:nvSpPr>
        <p:spPr bwMode="auto">
          <a:xfrm flipH="0" flipV="0">
            <a:off x="8548825" y="4790241"/>
            <a:ext cx="3474720" cy="12996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Correlation Dashboard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Latency vs Traffic vs Errors vs CPU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One view: P95 latency ↔ request_count ↔ error_count ↔ CPU. Golden + USE.</a:t>
            </a:r>
            <a:endParaRPr/>
          </a:p>
        </p:txBody>
      </p:sp>
      <p:sp>
        <p:nvSpPr>
          <p:cNvPr id="656636584" name="Rectangle 6"/>
          <p:cNvSpPr/>
          <p:nvPr/>
        </p:nvSpPr>
        <p:spPr bwMode="auto">
          <a:xfrm flipH="0" flipV="0">
            <a:off x="4206240" y="2792544"/>
            <a:ext cx="3474720" cy="1194416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6 Warn / Critical</a:t>
            </a:r>
            <a:r>
              <a:rPr/>
              <a:t> Alarms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high-error, high-latency, no-traffic, high-cpu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&gt;5 errors /2x60s, P95 &gt;800ms, no traffic 5m, cpu &gt;85% → SNS proj2-alerts.</a:t>
            </a:r>
            <a:endParaRPr/>
          </a:p>
        </p:txBody>
      </p:sp>
      <p:sp>
        <p:nvSpPr>
          <p:cNvPr id="986648454" name="Rectangle 7"/>
          <p:cNvSpPr/>
          <p:nvPr/>
        </p:nvSpPr>
        <p:spPr bwMode="auto">
          <a:xfrm flipH="0" flipV="0">
            <a:off x="8556369" y="1914024"/>
            <a:ext cx="3474720" cy="1193158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 lang="de-DE"/>
              <a:t>Golden signals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 lang="de-DE"/>
              <a:t>Traffic</a:t>
            </a:r>
            <a:r>
              <a:rPr/>
              <a:t>→ </a:t>
            </a:r>
            <a:r>
              <a:rPr lang="de-DE"/>
              <a:t>Error</a:t>
            </a:r>
            <a:r>
              <a:rPr/>
              <a:t>→ </a:t>
            </a:r>
            <a:r>
              <a:rPr lang="de-DE"/>
              <a:t>Latency</a:t>
            </a:r>
            <a:r>
              <a:rPr/>
              <a:t>→ </a:t>
            </a:r>
            <a:r>
              <a:rPr lang="de-DE"/>
              <a:t>Saturation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EC2 → Gunicorn → Flask → CWAgent → CloudWatch - full traceability</a:t>
            </a:r>
            <a:endParaRPr/>
          </a:p>
        </p:txBody>
      </p:sp>
      <p:sp>
        <p:nvSpPr>
          <p:cNvPr id="1817145457" name="Rectangle 8"/>
          <p:cNvSpPr/>
          <p:nvPr/>
        </p:nvSpPr>
        <p:spPr bwMode="auto">
          <a:xfrm flipH="0" flipV="0">
            <a:off x="4202466" y="5456733"/>
            <a:ext cx="3474720" cy="126625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Custom Widgets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SingleValue + USE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 Rate, Duration, Errors, Saturation unified.</a:t>
            </a:r>
            <a:endParaRPr/>
          </a:p>
        </p:txBody>
      </p:sp>
      <p:sp>
        <p:nvSpPr>
          <p:cNvPr id="738298927" name="Rectangle 9"/>
          <p:cNvSpPr/>
          <p:nvPr/>
        </p:nvSpPr>
        <p:spPr bwMode="auto">
          <a:xfrm flipH="0" flipV="0">
            <a:off x="4206240" y="4115835"/>
            <a:ext cx="3474720" cy="1229261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67F4E2"/>
                </a:solidFill>
                <a:latin typeface="JetBrains Mono"/>
              </a:defRPr>
            </a:pPr>
            <a:r>
              <a:rPr/>
              <a:t>Structured Logging</a:t>
            </a:r>
            <a:endParaRPr/>
          </a:p>
          <a:p>
            <a:pPr algn="ctr">
              <a:spcBef>
                <a:spcPts val="398"/>
              </a:spcBef>
              <a:defRPr sz="1200" b="1">
                <a:solidFill>
                  <a:srgbClr val="EAEEF2"/>
                </a:solidFill>
              </a:defRPr>
            </a:pPr>
            <a:r>
              <a:rPr/>
              <a:t>correlation_id • level • latency_ms</a:t>
            </a:r>
            <a:endParaRPr/>
          </a:p>
          <a:p>
            <a:pPr algn="ctr">
              <a:spcBef>
                <a:spcPts val="398"/>
              </a:spcBef>
              <a:defRPr sz="900">
                <a:solidFill>
                  <a:srgbClr val="B4B4BE"/>
                </a:solidFill>
              </a:defRPr>
            </a:pPr>
            <a:r>
              <a:rPr/>
              <a:t>structlog JSON → 20+ fields. X-Corr-ID 51e9ef29 → filter correlation_id='demo-123'.</a:t>
            </a:r>
            <a:endParaRPr/>
          </a:p>
        </p:txBody>
      </p:sp>
      <p:sp>
        <p:nvSpPr>
          <p:cNvPr id="1796359760" name="Rectangle 9"/>
          <p:cNvSpPr/>
          <p:nvPr/>
        </p:nvSpPr>
        <p:spPr bwMode="auto">
          <a:xfrm flipH="0" flipV="0">
            <a:off x="8556369" y="3452968"/>
            <a:ext cx="3474720" cy="1217054"/>
          </a:xfrm>
          <a:prstGeom prst="rect">
            <a:avLst/>
          </a:prstGeom>
          <a:solidFill>
            <a:srgbClr val="232130"/>
          </a:solidFill>
          <a:ln w="12700">
            <a:solidFill>
              <a:srgbClr val="3C3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AEEF2"/>
                </a:solidFill>
              </a:defRPr>
            </a:pPr>
            <a:r>
              <a:rPr lang="en-US" sz="900" b="1" i="0" u="none" strike="noStrike" cap="none" spc="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Composite alarms </a:t>
            </a:r>
            <a:endParaRPr/>
          </a:p>
          <a:p>
            <a:pPr marL="0" marR="0" indent="0" algn="ctr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1200" b="1" i="0" u="none" strike="noStrike" cap="none" spc="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combining multiple conditions</a:t>
            </a:r>
            <a:endParaRPr lang="en-US" sz="1200" b="1" i="0" u="none" strike="noStrike" cap="none" spc="0">
              <a:solidFill>
                <a:srgbClr val="EAEEF2"/>
              </a:solidFill>
              <a:latin typeface="Times New Roman"/>
              <a:cs typeface="Times New Roman"/>
            </a:endParaRPr>
          </a:p>
          <a:p>
            <a:pPr marL="0" marR="0" indent="0" algn="ctr">
              <a:lnSpc>
                <a:spcPct val="100000"/>
              </a:lnSpc>
              <a:spcBef>
                <a:spcPts val="398"/>
              </a:spcBef>
              <a:spcAft>
                <a:spcPts val="0"/>
              </a:spcAft>
              <a:defRPr sz="900">
                <a:solidFill>
                  <a:srgbClr val="B4B4BE"/>
                </a:solidFill>
              </a:defRPr>
            </a:pP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mem-use-anomaly-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detection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&amp; 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high-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latency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567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53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0735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636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8298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145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474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648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6359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095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544736" name="Text 0"/>
          <p:cNvSpPr txBox="1"/>
          <p:nvPr/>
        </p:nvSpPr>
        <p:spPr bwMode="auto">
          <a:xfrm>
            <a:off x="533400" y="1418332"/>
            <a:ext cx="11125200" cy="95041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Custom Metrics — </a:t>
            </a:r>
            <a:r>
              <a:rPr lang="en-US" sz="3900" b="1" spc="-77">
                <a:solidFill>
                  <a:srgbClr val="67F4E2"/>
                </a:solidFill>
                <a:latin typeface="Inter"/>
                <a:ea typeface="Inter"/>
                <a:cs typeface="Inter"/>
              </a:rPr>
              <a:t>5 signals</a:t>
            </a:r>
            <a:r>
              <a:rPr lang="en-US" sz="3900" b="1" spc="-7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via boto3 put_metric_data</a:t>
            </a:r>
            <a:endParaRPr lang="en-US" sz="3900"/>
          </a:p>
        </p:txBody>
      </p:sp>
      <p:pic>
        <p:nvPicPr>
          <p:cNvPr id="65784412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635448"/>
            <a:ext cx="3619500" cy="1167705"/>
          </a:xfrm>
          <a:prstGeom prst="rect">
            <a:avLst/>
          </a:prstGeom>
        </p:spPr>
      </p:pic>
      <p:sp>
        <p:nvSpPr>
          <p:cNvPr id="418782816" name="Text 1"/>
          <p:cNvSpPr txBox="1"/>
          <p:nvPr/>
        </p:nvSpPr>
        <p:spPr bwMode="auto">
          <a:xfrm>
            <a:off x="8572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request_count</a:t>
            </a:r>
            <a:endParaRPr lang="en-US" sz="1150"/>
          </a:p>
        </p:txBody>
      </p:sp>
      <p:pic>
        <p:nvPicPr>
          <p:cNvPr id="283059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871192"/>
            <a:ext cx="66675" cy="66675"/>
          </a:xfrm>
          <a:prstGeom prst="rect">
            <a:avLst/>
          </a:prstGeom>
        </p:spPr>
      </p:pic>
      <p:sp>
        <p:nvSpPr>
          <p:cNvPr id="809678204" name="Text 2"/>
          <p:cNvSpPr txBox="1"/>
          <p:nvPr/>
        </p:nvSpPr>
        <p:spPr bwMode="auto">
          <a:xfrm>
            <a:off x="7143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770970291" name="Text 3"/>
          <p:cNvSpPr txBox="1"/>
          <p:nvPr/>
        </p:nvSpPr>
        <p:spPr bwMode="auto">
          <a:xfrm>
            <a:off x="7143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after_request</a:t>
            </a:r>
            <a:endParaRPr lang="en-US" sz="850"/>
          </a:p>
        </p:txBody>
      </p:sp>
      <p:sp>
        <p:nvSpPr>
          <p:cNvPr id="1966515433" name="Text 4"/>
          <p:cNvSpPr txBox="1"/>
          <p:nvPr/>
        </p:nvSpPr>
        <p:spPr bwMode="auto">
          <a:xfrm>
            <a:off x="7143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Every request increments. Fuels Rate &amp; health. Never rely on ALB logs.</a:t>
            </a:r>
            <a:endParaRPr lang="en-US" sz="900"/>
          </a:p>
        </p:txBody>
      </p:sp>
      <p:pic>
        <p:nvPicPr>
          <p:cNvPr id="1294958219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286250" y="2635448"/>
            <a:ext cx="3619500" cy="1167705"/>
          </a:xfrm>
          <a:prstGeom prst="rect">
            <a:avLst/>
          </a:prstGeom>
        </p:spPr>
      </p:pic>
      <p:sp>
        <p:nvSpPr>
          <p:cNvPr id="38393781" name="Text 5"/>
          <p:cNvSpPr txBox="1"/>
          <p:nvPr/>
        </p:nvSpPr>
        <p:spPr bwMode="auto">
          <a:xfrm>
            <a:off x="461010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api_latency</a:t>
            </a:r>
            <a:endParaRPr lang="en-US" sz="1150"/>
          </a:p>
        </p:txBody>
      </p:sp>
      <p:pic>
        <p:nvPicPr>
          <p:cNvPr id="1089303097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467225" y="2871192"/>
            <a:ext cx="66675" cy="66675"/>
          </a:xfrm>
          <a:prstGeom prst="rect">
            <a:avLst/>
          </a:prstGeom>
        </p:spPr>
      </p:pic>
      <p:sp>
        <p:nvSpPr>
          <p:cNvPr id="976708835" name="Text 6"/>
          <p:cNvSpPr txBox="1"/>
          <p:nvPr/>
        </p:nvSpPr>
        <p:spPr bwMode="auto">
          <a:xfrm>
            <a:off x="446722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315418602" name="Text 7"/>
          <p:cNvSpPr txBox="1"/>
          <p:nvPr/>
        </p:nvSpPr>
        <p:spPr bwMode="auto">
          <a:xfrm>
            <a:off x="446722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MILLISECONDS • Avg/Max/P95</a:t>
            </a:r>
            <a:endParaRPr lang="en-US" sz="850"/>
          </a:p>
        </p:txBody>
      </p:sp>
      <p:sp>
        <p:nvSpPr>
          <p:cNvPr id="835203451" name="Text 8"/>
          <p:cNvSpPr txBox="1"/>
          <p:nvPr/>
        </p:nvSpPr>
        <p:spPr bwMode="auto">
          <a:xfrm>
            <a:off x="4467225" y="3321248"/>
            <a:ext cx="3257550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latency_ms = (now - g.start)*1000. Duration golden signal.</a:t>
            </a:r>
            <a:endParaRPr lang="en-US" sz="900"/>
          </a:p>
        </p:txBody>
      </p:sp>
      <p:pic>
        <p:nvPicPr>
          <p:cNvPr id="1481192824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039100" y="2635448"/>
            <a:ext cx="3619500" cy="1167705"/>
          </a:xfrm>
          <a:prstGeom prst="rect">
            <a:avLst/>
          </a:prstGeom>
        </p:spPr>
      </p:pic>
      <p:sp>
        <p:nvSpPr>
          <p:cNvPr id="296303373" name="Text 9"/>
          <p:cNvSpPr txBox="1"/>
          <p:nvPr/>
        </p:nvSpPr>
        <p:spPr bwMode="auto">
          <a:xfrm>
            <a:off x="8362950" y="2806898"/>
            <a:ext cx="3114675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error_count</a:t>
            </a:r>
            <a:endParaRPr lang="en-US" sz="1150"/>
          </a:p>
        </p:txBody>
      </p:sp>
      <p:pic>
        <p:nvPicPr>
          <p:cNvPr id="1679211959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220075" y="2871192"/>
            <a:ext cx="66675" cy="66675"/>
          </a:xfrm>
          <a:prstGeom prst="rect">
            <a:avLst/>
          </a:prstGeom>
        </p:spPr>
      </p:pic>
      <p:sp>
        <p:nvSpPr>
          <p:cNvPr id="1618804013" name="Text 10"/>
          <p:cNvSpPr txBox="1"/>
          <p:nvPr/>
        </p:nvSpPr>
        <p:spPr bwMode="auto">
          <a:xfrm>
            <a:off x="8220075" y="2867025"/>
            <a:ext cx="66675" cy="6667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929210913" name="Text 11"/>
          <p:cNvSpPr txBox="1"/>
          <p:nvPr/>
        </p:nvSpPr>
        <p:spPr bwMode="auto">
          <a:xfrm>
            <a:off x="8220075" y="3097411"/>
            <a:ext cx="32575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COUNT • Sum • if status &gt;=400</a:t>
            </a:r>
            <a:endParaRPr lang="en-US" sz="850"/>
          </a:p>
        </p:txBody>
      </p:sp>
      <p:sp>
        <p:nvSpPr>
          <p:cNvPr id="1310112566" name="Text 12"/>
          <p:cNvSpPr txBox="1"/>
          <p:nvPr/>
        </p:nvSpPr>
        <p:spPr bwMode="auto">
          <a:xfrm>
            <a:off x="8220075" y="3321248"/>
            <a:ext cx="3257550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Errors golden signal. Triggers high-error alarm when &gt;5 in 2x60s.</a:t>
            </a:r>
            <a:endParaRPr lang="en-US" sz="900"/>
          </a:p>
        </p:txBody>
      </p:sp>
      <p:pic>
        <p:nvPicPr>
          <p:cNvPr id="2140339143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33400" y="4069854"/>
            <a:ext cx="5495925" cy="736253"/>
          </a:xfrm>
          <a:prstGeom prst="rect">
            <a:avLst/>
          </a:prstGeom>
        </p:spPr>
      </p:pic>
      <p:sp>
        <p:nvSpPr>
          <p:cNvPr id="731654049" name="Text 13"/>
          <p:cNvSpPr txBox="1"/>
          <p:nvPr/>
        </p:nvSpPr>
        <p:spPr bwMode="auto">
          <a:xfrm>
            <a:off x="714375" y="4241304"/>
            <a:ext cx="2353717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orders_per_minute</a:t>
            </a:r>
            <a:endParaRPr lang="en-US" sz="1150"/>
          </a:p>
        </p:txBody>
      </p:sp>
      <p:sp>
        <p:nvSpPr>
          <p:cNvPr id="1830479118" name="Text 14"/>
          <p:cNvSpPr txBox="1"/>
          <p:nvPr/>
        </p:nvSpPr>
        <p:spPr bwMode="auto">
          <a:xfrm>
            <a:off x="714375" y="4484191"/>
            <a:ext cx="2353717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Business saturation signal. Sum per minute.</a:t>
            </a:r>
            <a:endParaRPr lang="en-US" sz="900"/>
          </a:p>
        </p:txBody>
      </p:sp>
      <p:sp>
        <p:nvSpPr>
          <p:cNvPr id="586622896" name="Text 15"/>
          <p:cNvSpPr txBox="1"/>
          <p:nvPr/>
        </p:nvSpPr>
        <p:spPr bwMode="auto">
          <a:xfrm>
            <a:off x="5258692" y="4368850"/>
            <a:ext cx="589657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BUSINESS</a:t>
            </a:r>
            <a:endParaRPr lang="en-US" sz="850"/>
          </a:p>
        </p:txBody>
      </p:sp>
      <p:pic>
        <p:nvPicPr>
          <p:cNvPr id="411233871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6162675" y="4069854"/>
            <a:ext cx="5495925" cy="736253"/>
          </a:xfrm>
          <a:prstGeom prst="rect">
            <a:avLst/>
          </a:prstGeom>
        </p:spPr>
      </p:pic>
      <p:sp>
        <p:nvSpPr>
          <p:cNvPr id="1932060514" name="Text 16"/>
          <p:cNvSpPr txBox="1"/>
          <p:nvPr/>
        </p:nvSpPr>
        <p:spPr bwMode="auto">
          <a:xfrm>
            <a:off x="6343650" y="4241304"/>
            <a:ext cx="2486769" cy="2047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  <a:defRPr/>
            </a:pPr>
            <a:r>
              <a:rPr lang="en-US" sz="1150" b="1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order_value</a:t>
            </a:r>
            <a:endParaRPr lang="en-US" sz="1150"/>
          </a:p>
        </p:txBody>
      </p:sp>
      <p:sp>
        <p:nvSpPr>
          <p:cNvPr id="1713997522" name="Text 17"/>
          <p:cNvSpPr txBox="1"/>
          <p:nvPr/>
        </p:nvSpPr>
        <p:spPr bwMode="auto">
          <a:xfrm>
            <a:off x="6343650" y="4484191"/>
            <a:ext cx="2486769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  <a:defRPr/>
            </a:pPr>
            <a:r>
              <a:rPr lang="en-US" sz="90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Amount metric. Tracks revenue proxy, no unit.</a:t>
            </a:r>
            <a:endParaRPr lang="en-US" sz="900"/>
          </a:p>
        </p:txBody>
      </p:sp>
      <p:sp>
        <p:nvSpPr>
          <p:cNvPr id="1869043592" name="Text 18"/>
          <p:cNvSpPr txBox="1"/>
          <p:nvPr/>
        </p:nvSpPr>
        <p:spPr bwMode="auto">
          <a:xfrm>
            <a:off x="11174611" y="4368850"/>
            <a:ext cx="30301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66">
                <a:solidFill>
                  <a:srgbClr val="67F4E2"/>
                </a:solidFill>
                <a:latin typeface="Inter"/>
                <a:ea typeface="Inter"/>
                <a:cs typeface="Inter"/>
              </a:rPr>
              <a:t>None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844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782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0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678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0970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515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958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93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9303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708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418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5203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1192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303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21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8804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210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112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0339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654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0479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622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33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060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3997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904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0329308" name="Text 0"/>
          <p:cNvSpPr txBox="1"/>
          <p:nvPr/>
        </p:nvSpPr>
        <p:spPr bwMode="auto">
          <a:xfrm>
            <a:off x="533399" y="457200"/>
            <a:ext cx="6602931" cy="42600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Alerting — </a:t>
            </a:r>
            <a:r>
              <a:rPr lang="de-DE" sz="3450" b="1" spc="-68">
                <a:solidFill>
                  <a:srgbClr val="67F4E2"/>
                </a:solidFill>
                <a:latin typeface="Inter"/>
                <a:ea typeface="Inter"/>
                <a:cs typeface="Inter"/>
              </a:rPr>
              <a:t>6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 Alarms</a:t>
            </a: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CloudWatch</a:t>
            </a:r>
            <a:endParaRPr lang="en-US" sz="3450"/>
          </a:p>
        </p:txBody>
      </p:sp>
      <p:pic>
        <p:nvPicPr>
          <p:cNvPr id="188330006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599009"/>
            <a:ext cx="5495925" cy="1257151"/>
          </a:xfrm>
          <a:prstGeom prst="rect">
            <a:avLst/>
          </a:prstGeom>
        </p:spPr>
      </p:pic>
      <p:sp>
        <p:nvSpPr>
          <p:cNvPr id="1844085100" name="Text 2"/>
          <p:cNvSpPr txBox="1"/>
          <p:nvPr/>
        </p:nvSpPr>
        <p:spPr bwMode="auto">
          <a:xfrm>
            <a:off x="542925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548997097" name="Text 3"/>
          <p:cNvSpPr txBox="1"/>
          <p:nvPr/>
        </p:nvSpPr>
        <p:spPr bwMode="auto">
          <a:xfrm>
            <a:off x="714375" y="1760933"/>
            <a:ext cx="538142" cy="1413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error-rate</a:t>
            </a:r>
            <a:endParaRPr lang="en-US" sz="900"/>
          </a:p>
        </p:txBody>
      </p:sp>
      <p:sp>
        <p:nvSpPr>
          <p:cNvPr id="689078818" name="Text 4"/>
          <p:cNvSpPr txBox="1"/>
          <p:nvPr/>
        </p:nvSpPr>
        <p:spPr bwMode="auto">
          <a:xfrm>
            <a:off x="714375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error_count • Sum &gt;5 • 2 periods of 60s</a:t>
            </a:r>
            <a:endParaRPr lang="en-US" sz="850"/>
          </a:p>
        </p:txBody>
      </p:sp>
      <p:pic>
        <p:nvPicPr>
          <p:cNvPr id="169333174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14375" y="2226618"/>
            <a:ext cx="657671" cy="238125"/>
          </a:xfrm>
          <a:prstGeom prst="rect">
            <a:avLst/>
          </a:prstGeom>
        </p:spPr>
      </p:pic>
      <p:sp>
        <p:nvSpPr>
          <p:cNvPr id="2081773622" name="Text 5"/>
          <p:cNvSpPr txBox="1"/>
          <p:nvPr/>
        </p:nvSpPr>
        <p:spPr bwMode="auto">
          <a:xfrm>
            <a:off x="800100" y="2283768"/>
            <a:ext cx="48622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Errors</a:t>
            </a:r>
            <a:endParaRPr lang="en-US" sz="750"/>
          </a:p>
        </p:txBody>
      </p:sp>
      <p:pic>
        <p:nvPicPr>
          <p:cNvPr id="1463139667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448246" y="2226618"/>
            <a:ext cx="576560" cy="238125"/>
          </a:xfrm>
          <a:prstGeom prst="rect">
            <a:avLst/>
          </a:prstGeom>
        </p:spPr>
      </p:pic>
      <p:sp>
        <p:nvSpPr>
          <p:cNvPr id="1773803996" name="Text 6"/>
          <p:cNvSpPr txBox="1"/>
          <p:nvPr/>
        </p:nvSpPr>
        <p:spPr bwMode="auto">
          <a:xfrm>
            <a:off x="1533971" y="2283768"/>
            <a:ext cx="40511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Stat Sum</a:t>
            </a:r>
            <a:endParaRPr lang="en-US" sz="750"/>
          </a:p>
        </p:txBody>
      </p:sp>
      <p:pic>
        <p:nvPicPr>
          <p:cNvPr id="974627128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101007" y="2226618"/>
            <a:ext cx="1569541" cy="238125"/>
          </a:xfrm>
          <a:prstGeom prst="rect">
            <a:avLst/>
          </a:prstGeom>
        </p:spPr>
      </p:pic>
      <p:sp>
        <p:nvSpPr>
          <p:cNvPr id="283436933" name="Text 7"/>
          <p:cNvSpPr txBox="1"/>
          <p:nvPr/>
        </p:nvSpPr>
        <p:spPr bwMode="auto">
          <a:xfrm>
            <a:off x="2186732" y="2283768"/>
            <a:ext cx="139809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Treat missing as not-breaching</a:t>
            </a:r>
            <a:endParaRPr lang="en-US" sz="750"/>
          </a:p>
        </p:txBody>
      </p:sp>
      <p:pic>
        <p:nvPicPr>
          <p:cNvPr id="1203022005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162675" y="1599009"/>
            <a:ext cx="5495925" cy="1257151"/>
          </a:xfrm>
          <a:prstGeom prst="rect">
            <a:avLst/>
          </a:prstGeom>
        </p:spPr>
      </p:pic>
      <p:sp>
        <p:nvSpPr>
          <p:cNvPr id="1386436551" name="Text 9"/>
          <p:cNvSpPr txBox="1"/>
          <p:nvPr/>
        </p:nvSpPr>
        <p:spPr bwMode="auto">
          <a:xfrm>
            <a:off x="6172200" y="1608534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359099400" name="Text 10"/>
          <p:cNvSpPr txBox="1"/>
          <p:nvPr/>
        </p:nvSpPr>
        <p:spPr bwMode="auto">
          <a:xfrm>
            <a:off x="6343650" y="1760933"/>
            <a:ext cx="410619" cy="1417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en-US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latency</a:t>
            </a:r>
            <a:endParaRPr lang="en-US" sz="900"/>
          </a:p>
        </p:txBody>
      </p:sp>
      <p:sp>
        <p:nvSpPr>
          <p:cNvPr id="571618745" name="Text 11"/>
          <p:cNvSpPr txBox="1"/>
          <p:nvPr/>
        </p:nvSpPr>
        <p:spPr bwMode="auto">
          <a:xfrm>
            <a:off x="6343650" y="1983730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api_latency • Average &gt;500ms • 2 periods</a:t>
            </a:r>
            <a:endParaRPr lang="en-US" sz="850"/>
          </a:p>
        </p:txBody>
      </p:sp>
      <p:pic>
        <p:nvPicPr>
          <p:cNvPr id="312738088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343650" y="2226618"/>
            <a:ext cx="767655" cy="238125"/>
          </a:xfrm>
          <a:prstGeom prst="rect">
            <a:avLst/>
          </a:prstGeom>
        </p:spPr>
      </p:pic>
      <p:sp>
        <p:nvSpPr>
          <p:cNvPr id="713026759" name="Text 12"/>
          <p:cNvSpPr txBox="1"/>
          <p:nvPr/>
        </p:nvSpPr>
        <p:spPr bwMode="auto">
          <a:xfrm>
            <a:off x="6429375" y="2283768"/>
            <a:ext cx="596205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RED Duration</a:t>
            </a:r>
            <a:endParaRPr lang="en-US" sz="750"/>
          </a:p>
        </p:txBody>
      </p:sp>
      <p:pic>
        <p:nvPicPr>
          <p:cNvPr id="371094956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87505" y="2226618"/>
            <a:ext cx="340816" cy="238125"/>
          </a:xfrm>
          <a:prstGeom prst="rect">
            <a:avLst/>
          </a:prstGeom>
        </p:spPr>
      </p:pic>
      <p:sp>
        <p:nvSpPr>
          <p:cNvPr id="1627667145" name="Text 13"/>
          <p:cNvSpPr txBox="1"/>
          <p:nvPr/>
        </p:nvSpPr>
        <p:spPr bwMode="auto">
          <a:xfrm>
            <a:off x="7273230" y="2283768"/>
            <a:ext cx="16936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</a:t>
            </a:r>
            <a:endParaRPr lang="en-US" sz="750"/>
          </a:p>
        </p:txBody>
      </p:sp>
      <p:pic>
        <p:nvPicPr>
          <p:cNvPr id="941924350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604522" y="2226618"/>
            <a:ext cx="693837" cy="238125"/>
          </a:xfrm>
          <a:prstGeom prst="rect">
            <a:avLst/>
          </a:prstGeom>
        </p:spPr>
      </p:pic>
      <p:sp>
        <p:nvSpPr>
          <p:cNvPr id="1688188826" name="Text 14"/>
          <p:cNvSpPr txBox="1"/>
          <p:nvPr/>
        </p:nvSpPr>
        <p:spPr bwMode="auto">
          <a:xfrm>
            <a:off x="7690247" y="2283768"/>
            <a:ext cx="52238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SLO 500ms</a:t>
            </a:r>
            <a:endParaRPr lang="en-US" sz="750"/>
          </a:p>
        </p:txBody>
      </p:sp>
      <p:pic>
        <p:nvPicPr>
          <p:cNvPr id="194628175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533400" y="2989511"/>
            <a:ext cx="5495925" cy="1410444"/>
          </a:xfrm>
          <a:prstGeom prst="rect">
            <a:avLst/>
          </a:prstGeom>
        </p:spPr>
      </p:pic>
      <p:sp>
        <p:nvSpPr>
          <p:cNvPr id="1298068982" name="Text 16"/>
          <p:cNvSpPr txBox="1"/>
          <p:nvPr/>
        </p:nvSpPr>
        <p:spPr bwMode="auto">
          <a:xfrm>
            <a:off x="542925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26943014" name="Text 17"/>
          <p:cNvSpPr txBox="1"/>
          <p:nvPr/>
        </p:nvSpPr>
        <p:spPr bwMode="auto">
          <a:xfrm>
            <a:off x="714375" y="3151434"/>
            <a:ext cx="459124" cy="1392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memory</a:t>
            </a:r>
            <a:endParaRPr lang="en-US" sz="900"/>
          </a:p>
        </p:txBody>
      </p:sp>
      <p:sp>
        <p:nvSpPr>
          <p:cNvPr id="576612315" name="Text 18"/>
          <p:cNvSpPr txBox="1"/>
          <p:nvPr/>
        </p:nvSpPr>
        <p:spPr bwMode="auto">
          <a:xfrm>
            <a:off x="714375" y="3374231"/>
            <a:ext cx="51339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request_count • Sum &lt;1 • 300s period • missing data BREACHING</a:t>
            </a:r>
            <a:endParaRPr lang="en-US" sz="850"/>
          </a:p>
        </p:txBody>
      </p:sp>
      <p:pic>
        <p:nvPicPr>
          <p:cNvPr id="1734203473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14375" y="3617119"/>
            <a:ext cx="780901" cy="238125"/>
          </a:xfrm>
          <a:prstGeom prst="rect">
            <a:avLst/>
          </a:prstGeom>
        </p:spPr>
      </p:pic>
      <p:sp>
        <p:nvSpPr>
          <p:cNvPr id="118244875" name="Text 19"/>
          <p:cNvSpPr txBox="1"/>
          <p:nvPr/>
        </p:nvSpPr>
        <p:spPr bwMode="auto">
          <a:xfrm>
            <a:off x="800100" y="3674269"/>
            <a:ext cx="60945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429945510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571476" y="3617119"/>
            <a:ext cx="855166" cy="238125"/>
          </a:xfrm>
          <a:prstGeom prst="rect">
            <a:avLst/>
          </a:prstGeom>
        </p:spPr>
      </p:pic>
      <p:sp>
        <p:nvSpPr>
          <p:cNvPr id="620036554" name="Text 20"/>
          <p:cNvSpPr txBox="1"/>
          <p:nvPr/>
        </p:nvSpPr>
        <p:spPr bwMode="auto">
          <a:xfrm>
            <a:off x="1657201" y="3674269"/>
            <a:ext cx="683716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1352651950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2502843" y="3617119"/>
            <a:ext cx="1000423" cy="238125"/>
          </a:xfrm>
          <a:prstGeom prst="rect">
            <a:avLst/>
          </a:prstGeom>
        </p:spPr>
      </p:pic>
      <p:sp>
        <p:nvSpPr>
          <p:cNvPr id="494994934" name="Text 21"/>
          <p:cNvSpPr txBox="1"/>
          <p:nvPr/>
        </p:nvSpPr>
        <p:spPr bwMode="auto">
          <a:xfrm>
            <a:off x="2588568" y="3674269"/>
            <a:ext cx="82897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  <p:pic>
        <p:nvPicPr>
          <p:cNvPr id="1577797127" name="Image 12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6162675" y="2989511"/>
            <a:ext cx="5495925" cy="1410444"/>
          </a:xfrm>
          <a:prstGeom prst="rect">
            <a:avLst/>
          </a:prstGeom>
        </p:spPr>
      </p:pic>
      <p:sp>
        <p:nvSpPr>
          <p:cNvPr id="999729112" name="Text 23"/>
          <p:cNvSpPr txBox="1"/>
          <p:nvPr/>
        </p:nvSpPr>
        <p:spPr bwMode="auto">
          <a:xfrm>
            <a:off x="6172200" y="2999036"/>
            <a:ext cx="5476875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724249153" name="Text 24"/>
          <p:cNvSpPr txBox="1"/>
          <p:nvPr/>
        </p:nvSpPr>
        <p:spPr bwMode="auto">
          <a:xfrm>
            <a:off x="6343650" y="3151434"/>
            <a:ext cx="238567" cy="1439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disk</a:t>
            </a:r>
            <a:endParaRPr lang="en-US" sz="900"/>
          </a:p>
        </p:txBody>
      </p:sp>
      <p:sp>
        <p:nvSpPr>
          <p:cNvPr id="143584259" name="Text 25"/>
          <p:cNvSpPr txBox="1"/>
          <p:nvPr/>
        </p:nvSpPr>
        <p:spPr bwMode="auto">
          <a:xfrm>
            <a:off x="6343650" y="3374230"/>
            <a:ext cx="3774297" cy="14907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de-DE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DISK</a:t>
            </a: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Utilization • Average &gt;80% • 2 periods 300s • Dim: InstanceId=i-01b042…</a:t>
            </a:r>
            <a:endParaRPr lang="en-US" sz="850"/>
          </a:p>
        </p:txBody>
      </p:sp>
      <p:pic>
        <p:nvPicPr>
          <p:cNvPr id="123278500" name="Image 13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6343650" y="3617119"/>
            <a:ext cx="846534" cy="238125"/>
          </a:xfrm>
          <a:prstGeom prst="rect">
            <a:avLst/>
          </a:prstGeom>
        </p:spPr>
      </p:pic>
      <p:sp>
        <p:nvSpPr>
          <p:cNvPr id="1330060487" name="Text 26"/>
          <p:cNvSpPr txBox="1"/>
          <p:nvPr/>
        </p:nvSpPr>
        <p:spPr bwMode="auto">
          <a:xfrm>
            <a:off x="6429375" y="3674269"/>
            <a:ext cx="67508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USE Saturation</a:t>
            </a:r>
            <a:endParaRPr lang="en-US" sz="750"/>
          </a:p>
        </p:txBody>
      </p:sp>
      <p:pic>
        <p:nvPicPr>
          <p:cNvPr id="251870076" name="Image 14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7266384" y="3617119"/>
            <a:ext cx="606028" cy="238125"/>
          </a:xfrm>
          <a:prstGeom prst="rect">
            <a:avLst/>
          </a:prstGeom>
        </p:spPr>
      </p:pic>
      <p:sp>
        <p:nvSpPr>
          <p:cNvPr id="230999409" name="Text 27"/>
          <p:cNvSpPr txBox="1"/>
          <p:nvPr/>
        </p:nvSpPr>
        <p:spPr bwMode="auto">
          <a:xfrm>
            <a:off x="7352109" y="3674269"/>
            <a:ext cx="4345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AWS/EC2</a:t>
            </a:r>
            <a:endParaRPr lang="en-US" sz="750"/>
          </a:p>
        </p:txBody>
      </p:sp>
      <p:pic>
        <p:nvPicPr>
          <p:cNvPr id="325870645" name="Image 15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7948613" y="3617119"/>
            <a:ext cx="580132" cy="238125"/>
          </a:xfrm>
          <a:prstGeom prst="rect">
            <a:avLst/>
          </a:prstGeom>
        </p:spPr>
      </p:pic>
      <p:sp>
        <p:nvSpPr>
          <p:cNvPr id="545628077" name="Text 28"/>
          <p:cNvSpPr txBox="1"/>
          <p:nvPr/>
        </p:nvSpPr>
        <p:spPr bwMode="auto">
          <a:xfrm>
            <a:off x="8034338" y="3674269"/>
            <a:ext cx="40868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Avg 80%</a:t>
            </a:r>
            <a:endParaRPr lang="en-US" sz="750"/>
          </a:p>
        </p:txBody>
      </p:sp>
      <p:pic>
        <p:nvPicPr>
          <p:cNvPr id="1140666170" name="Image 16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533400" y="5993160"/>
            <a:ext cx="11125200" cy="407640"/>
          </a:xfrm>
          <a:prstGeom prst="rect">
            <a:avLst/>
          </a:prstGeom>
        </p:spPr>
      </p:pic>
      <p:sp>
        <p:nvSpPr>
          <p:cNvPr id="492514766" name="Shape 30"/>
          <p:cNvSpPr/>
          <p:nvPr/>
        </p:nvSpPr>
        <p:spPr bwMode="auto">
          <a:xfrm>
            <a:off x="676275" y="61626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111750395" name="Text 31"/>
          <p:cNvSpPr txBox="1"/>
          <p:nvPr/>
        </p:nvSpPr>
        <p:spPr bwMode="auto">
          <a:xfrm>
            <a:off x="904875" y="6116985"/>
            <a:ext cx="9758958" cy="15999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SNS → proj2-alerts + Email notification</a:t>
            </a:r>
            <a:r>
              <a:rPr lang="en-US" sz="90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 • IAM proj2-ec2-role needs cloudwatch:PutMetricData only; ListMetrics from Admin • Thresholds tuned for low-traffic demo, not prod scale</a:t>
            </a:r>
            <a:endParaRPr lang="en-US" sz="900"/>
          </a:p>
        </p:txBody>
      </p:sp>
      <p:pic>
        <p:nvPicPr>
          <p:cNvPr id="546838245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495894" y="4529143"/>
            <a:ext cx="5495924" cy="1410444"/>
          </a:xfrm>
          <a:prstGeom prst="rect">
            <a:avLst/>
          </a:prstGeom>
        </p:spPr>
      </p:pic>
      <p:sp>
        <p:nvSpPr>
          <p:cNvPr id="11622021" name="Text 16"/>
          <p:cNvSpPr txBox="1"/>
          <p:nvPr/>
        </p:nvSpPr>
        <p:spPr bwMode="auto">
          <a:xfrm>
            <a:off x="505419" y="4538668"/>
            <a:ext cx="5476874" cy="190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4"/>
              </a:lnSpc>
              <a:buNone/>
              <a:defRPr/>
            </a:pPr>
            <a:endParaRPr lang="en-US" sz="1350"/>
          </a:p>
        </p:txBody>
      </p:sp>
      <p:sp>
        <p:nvSpPr>
          <p:cNvPr id="876165524" name="Text 17"/>
          <p:cNvSpPr txBox="1"/>
          <p:nvPr/>
        </p:nvSpPr>
        <p:spPr bwMode="auto">
          <a:xfrm>
            <a:off x="676869" y="4691067"/>
            <a:ext cx="972882" cy="1446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9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memory anomaly</a:t>
            </a:r>
            <a:endParaRPr lang="en-US" sz="900"/>
          </a:p>
        </p:txBody>
      </p:sp>
      <p:sp>
        <p:nvSpPr>
          <p:cNvPr id="1702799203" name="Text 18"/>
          <p:cNvSpPr txBox="1"/>
          <p:nvPr/>
        </p:nvSpPr>
        <p:spPr bwMode="auto">
          <a:xfrm>
            <a:off x="676869" y="4913863"/>
            <a:ext cx="5133974" cy="14763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7"/>
              </a:lnSpc>
              <a:buNone/>
              <a:defRPr/>
            </a:pPr>
            <a:r>
              <a:rPr lang="en-US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request_count • Sum &lt;1 • 300s period • missing data BREACHING</a:t>
            </a:r>
            <a:endParaRPr lang="en-US" sz="850"/>
          </a:p>
        </p:txBody>
      </p:sp>
      <p:pic>
        <p:nvPicPr>
          <p:cNvPr id="258902609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76869" y="5156751"/>
            <a:ext cx="780900" cy="238124"/>
          </a:xfrm>
          <a:prstGeom prst="rect">
            <a:avLst/>
          </a:prstGeom>
        </p:spPr>
      </p:pic>
      <p:sp>
        <p:nvSpPr>
          <p:cNvPr id="1589504250" name="Text 19"/>
          <p:cNvSpPr txBox="1"/>
          <p:nvPr/>
        </p:nvSpPr>
        <p:spPr bwMode="auto">
          <a:xfrm>
            <a:off x="762594" y="5213901"/>
            <a:ext cx="609450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622623502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533970" y="5156751"/>
            <a:ext cx="855165" cy="238124"/>
          </a:xfrm>
          <a:prstGeom prst="rect">
            <a:avLst/>
          </a:prstGeom>
        </p:spPr>
      </p:pic>
      <p:sp>
        <p:nvSpPr>
          <p:cNvPr id="1894657873" name="Text 20"/>
          <p:cNvSpPr txBox="1"/>
          <p:nvPr/>
        </p:nvSpPr>
        <p:spPr bwMode="auto">
          <a:xfrm>
            <a:off x="1619695" y="5213901"/>
            <a:ext cx="683715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1978310896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2465337" y="5156751"/>
            <a:ext cx="1000422" cy="238124"/>
          </a:xfrm>
          <a:prstGeom prst="rect">
            <a:avLst/>
          </a:prstGeom>
        </p:spPr>
      </p:pic>
      <p:sp>
        <p:nvSpPr>
          <p:cNvPr id="2045769097" name="Text 21"/>
          <p:cNvSpPr txBox="1"/>
          <p:nvPr/>
        </p:nvSpPr>
        <p:spPr bwMode="auto">
          <a:xfrm>
            <a:off x="2551062" y="5213901"/>
            <a:ext cx="828972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  <p:pic>
        <p:nvPicPr>
          <p:cNvPr id="1953428459" name="Image 8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6162674" y="4529143"/>
            <a:ext cx="5495924" cy="1410444"/>
          </a:xfrm>
          <a:prstGeom prst="rect">
            <a:avLst/>
          </a:prstGeom>
        </p:spPr>
      </p:pic>
      <p:sp>
        <p:nvSpPr>
          <p:cNvPr id="1239033773" name="Text 16"/>
          <p:cNvSpPr txBox="1"/>
          <p:nvPr/>
        </p:nvSpPr>
        <p:spPr bwMode="auto">
          <a:xfrm>
            <a:off x="6172200" y="4538668"/>
            <a:ext cx="5476874" cy="190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4"/>
              </a:lnSpc>
              <a:buNone/>
              <a:defRPr/>
            </a:pPr>
            <a:endParaRPr lang="en-US" sz="1350"/>
          </a:p>
        </p:txBody>
      </p:sp>
      <p:sp>
        <p:nvSpPr>
          <p:cNvPr id="178917849" name="Text 17"/>
          <p:cNvSpPr txBox="1"/>
          <p:nvPr/>
        </p:nvSpPr>
        <p:spPr bwMode="auto">
          <a:xfrm>
            <a:off x="6343650" y="4691067"/>
            <a:ext cx="611865" cy="1464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9"/>
              </a:lnSpc>
              <a:buNone/>
              <a:defRPr/>
            </a:pPr>
            <a:r>
              <a:rPr lang="de-DE" sz="900" b="1" spc="1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Composite</a:t>
            </a:r>
            <a:endParaRPr lang="en-US" sz="900"/>
          </a:p>
        </p:txBody>
      </p:sp>
      <p:sp>
        <p:nvSpPr>
          <p:cNvPr id="1816509743" name="Text 18"/>
          <p:cNvSpPr txBox="1"/>
          <p:nvPr/>
        </p:nvSpPr>
        <p:spPr bwMode="auto">
          <a:xfrm>
            <a:off x="6343650" y="4913863"/>
            <a:ext cx="975675" cy="15483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7"/>
              </a:lnSpc>
              <a:buNone/>
              <a:defRPr/>
            </a:pPr>
            <a:r>
              <a:rPr lang="de-DE" sz="850">
                <a:solidFill>
                  <a:srgbClr val="67F4E2"/>
                </a:solidFill>
                <a:latin typeface="JetBrains Mono"/>
                <a:ea typeface="JetBrains Mono"/>
                <a:cs typeface="JetBrains Mono"/>
              </a:rPr>
              <a:t>anomaly + error rate</a:t>
            </a:r>
            <a:endParaRPr lang="en-US" sz="850"/>
          </a:p>
        </p:txBody>
      </p:sp>
      <p:pic>
        <p:nvPicPr>
          <p:cNvPr id="2116047351" name="Image 9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6343650" y="5156751"/>
            <a:ext cx="780900" cy="238124"/>
          </a:xfrm>
          <a:prstGeom prst="rect">
            <a:avLst/>
          </a:prstGeom>
        </p:spPr>
      </p:pic>
      <p:sp>
        <p:nvSpPr>
          <p:cNvPr id="1547949446" name="Text 19"/>
          <p:cNvSpPr txBox="1"/>
          <p:nvPr/>
        </p:nvSpPr>
        <p:spPr bwMode="auto">
          <a:xfrm>
            <a:off x="6429375" y="5213901"/>
            <a:ext cx="609450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EF2"/>
                </a:solidFill>
                <a:highlight>
                  <a:srgbClr val="6BF7DE"/>
                </a:highlight>
                <a:latin typeface="Inter"/>
                <a:ea typeface="Inter"/>
                <a:cs typeface="Inter"/>
              </a:rPr>
              <a:t>Health-check</a:t>
            </a:r>
            <a:endParaRPr lang="en-US" sz="750"/>
          </a:p>
        </p:txBody>
      </p:sp>
      <p:pic>
        <p:nvPicPr>
          <p:cNvPr id="1790551738" name="Image 10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7200750" y="5156751"/>
            <a:ext cx="855165" cy="238124"/>
          </a:xfrm>
          <a:prstGeom prst="rect">
            <a:avLst/>
          </a:prstGeom>
        </p:spPr>
      </p:pic>
      <p:sp>
        <p:nvSpPr>
          <p:cNvPr id="1926220060" name="Text 20"/>
          <p:cNvSpPr txBox="1"/>
          <p:nvPr/>
        </p:nvSpPr>
        <p:spPr bwMode="auto">
          <a:xfrm>
            <a:off x="7286475" y="5213901"/>
            <a:ext cx="683715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1 req /5min min</a:t>
            </a:r>
            <a:endParaRPr lang="en-US" sz="750"/>
          </a:p>
        </p:txBody>
      </p:sp>
      <p:pic>
        <p:nvPicPr>
          <p:cNvPr id="820684858" name="Image 11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8132117" y="5156751"/>
            <a:ext cx="1000422" cy="238124"/>
          </a:xfrm>
          <a:prstGeom prst="rect">
            <a:avLst/>
          </a:prstGeom>
        </p:spPr>
      </p:pic>
      <p:sp>
        <p:nvSpPr>
          <p:cNvPr id="458286246" name="Text 21"/>
          <p:cNvSpPr txBox="1"/>
          <p:nvPr/>
        </p:nvSpPr>
        <p:spPr bwMode="auto">
          <a:xfrm>
            <a:off x="8217842" y="5213901"/>
            <a:ext cx="828972" cy="13334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4"/>
              </a:lnSpc>
              <a:buNone/>
              <a:defRPr/>
            </a:pPr>
            <a:r>
              <a:rPr lang="en-US" sz="750">
                <a:solidFill>
                  <a:srgbClr val="EAEDF2">
                    <a:alpha val="80000"/>
                  </a:srgbClr>
                </a:solidFill>
                <a:highlight>
                  <a:srgbClr val="E6F2F2"/>
                </a:highlight>
                <a:latin typeface="Inter"/>
                <a:ea typeface="Inter"/>
                <a:cs typeface="Inter"/>
              </a:rPr>
              <a:t>Missing → ALARM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74014" name="Text 0"/>
          <p:cNvSpPr txBox="1"/>
          <p:nvPr/>
        </p:nvSpPr>
        <p:spPr bwMode="auto">
          <a:xfrm>
            <a:off x="533399" y="457200"/>
            <a:ext cx="3907618" cy="41648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Structured Logging </a:t>
            </a:r>
            <a:endParaRPr lang="en-US" sz="3450"/>
          </a:p>
        </p:txBody>
      </p:sp>
      <p:sp>
        <p:nvSpPr>
          <p:cNvPr id="374197078" name="Text 3"/>
          <p:cNvSpPr txBox="1"/>
          <p:nvPr/>
        </p:nvSpPr>
        <p:spPr bwMode="auto">
          <a:xfrm>
            <a:off x="533399" y="4416622"/>
            <a:ext cx="756" cy="17359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endParaRPr lang="en-US" sz="1000"/>
          </a:p>
        </p:txBody>
      </p:sp>
      <p:sp>
        <p:nvSpPr>
          <p:cNvPr id="2045544628" name="Text 8"/>
          <p:cNvSpPr txBox="1"/>
          <p:nvPr/>
        </p:nvSpPr>
        <p:spPr bwMode="auto">
          <a:xfrm>
            <a:off x="3490019" y="1325661"/>
            <a:ext cx="521196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Inter"/>
                <a:ea typeface="Inter"/>
                <a:cs typeface="Inter"/>
              </a:rPr>
              <a:t>OUTPUT — app.log / journalctl -u myapp</a:t>
            </a:r>
            <a:endParaRPr lang="en-US" sz="850"/>
          </a:p>
        </p:txBody>
      </p:sp>
      <p:pic>
        <p:nvPicPr>
          <p:cNvPr id="1476744041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75203" y="1847849"/>
            <a:ext cx="5211961" cy="3152775"/>
          </a:xfrm>
          <a:prstGeom prst="rect">
            <a:avLst/>
          </a:prstGeom>
        </p:spPr>
      </p:pic>
      <p:sp>
        <p:nvSpPr>
          <p:cNvPr id="1565175968" name="Text 9"/>
          <p:cNvSpPr txBox="1"/>
          <p:nvPr/>
        </p:nvSpPr>
        <p:spPr bwMode="auto">
          <a:xfrm>
            <a:off x="2956178" y="2019299"/>
            <a:ext cx="4850011" cy="28194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{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"event": "order_created",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"order_id": "09bcdd18-fd61-48b5-94a8...",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"amount": 150,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"correlation_id": "51e9ef29-4528-4582-a712...",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"timestamp": "2026-08-13T12:58:26.558Z"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}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{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"event": "request_completed",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"correlation_id": "51e9ef29...",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"method": "POST",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"path": "/orders",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"status_code": 201,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"latency_ms": 41,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"level": "INFO",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"timestamp": "2026-08-13T12:58:26.599Z"</a:t>
            </a:r>
            <a:endParaRPr sz="1400">
              <a:latin typeface="Calibri"/>
              <a:cs typeface="Calibri"/>
            </a:endParaRPr>
          </a:p>
          <a:p>
            <a:pPr marL="0" indent="0" algn="l">
              <a:lnSpc>
                <a:spcPts val="1238"/>
              </a:lnSpc>
              <a:buNone/>
              <a:defRPr/>
            </a:pPr>
            <a:r>
              <a:rPr lang="en-US" sz="1400">
                <a:solidFill>
                  <a:srgbClr val="EAEEF2"/>
                </a:solidFill>
                <a:latin typeface="Calibri"/>
                <a:ea typeface="Calibri"/>
                <a:cs typeface="Calibri"/>
              </a:rPr>
              <a:t> } 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5544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6744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5175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013417" name="Text 0"/>
          <p:cNvSpPr txBox="1"/>
          <p:nvPr/>
        </p:nvSpPr>
        <p:spPr bwMode="auto">
          <a:xfrm>
            <a:off x="533399" y="457200"/>
            <a:ext cx="6618767" cy="42224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Instrumentation — </a:t>
            </a:r>
            <a:r>
              <a:rPr lang="de-DE" sz="3450" b="1" spc="-68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Key Decitions</a:t>
            </a:r>
            <a:endParaRPr lang="en-US" sz="3450"/>
          </a:p>
        </p:txBody>
      </p:sp>
      <p:pic>
        <p:nvPicPr>
          <p:cNvPr id="173217516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82873"/>
            <a:ext cx="5476875" cy="2496592"/>
          </a:xfrm>
          <a:prstGeom prst="rect">
            <a:avLst/>
          </a:prstGeom>
        </p:spPr>
      </p:pic>
      <p:sp>
        <p:nvSpPr>
          <p:cNvPr id="131450688" name="Text 1"/>
          <p:cNvSpPr txBox="1"/>
          <p:nvPr/>
        </p:nvSpPr>
        <p:spPr bwMode="auto">
          <a:xfrm>
            <a:off x="752475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STRUCTURED LOGGING</a:t>
            </a:r>
            <a:endParaRPr lang="en-US" sz="850"/>
          </a:p>
        </p:txBody>
      </p:sp>
      <p:sp>
        <p:nvSpPr>
          <p:cNvPr id="341541080" name="Text 2"/>
          <p:cNvSpPr txBox="1"/>
          <p:nvPr/>
        </p:nvSpPr>
        <p:spPr bwMode="auto">
          <a:xfrm>
            <a:off x="752475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structlog JSONRenderer + TimeStamper ISO</a:t>
            </a:r>
            <a:endParaRPr lang="en-US" sz="1500"/>
          </a:p>
        </p:txBody>
      </p:sp>
      <p:pic>
        <p:nvPicPr>
          <p:cNvPr id="82809293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52475" y="1808559"/>
            <a:ext cx="5038725" cy="362843"/>
          </a:xfrm>
          <a:prstGeom prst="rect">
            <a:avLst/>
          </a:prstGeom>
        </p:spPr>
      </p:pic>
      <p:sp>
        <p:nvSpPr>
          <p:cNvPr id="400132352" name="Text 3"/>
          <p:cNvSpPr txBox="1"/>
          <p:nvPr/>
        </p:nvSpPr>
        <p:spPr bwMode="auto">
          <a:xfrm>
            <a:off x="876299" y="1922859"/>
            <a:ext cx="4791075" cy="1437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log.info("request_completed", correlation_id, method, path, status_code, latency_ms, level)</a:t>
            </a:r>
            <a:endParaRPr lang="en-US" sz="850"/>
          </a:p>
        </p:txBody>
      </p:sp>
      <p:sp>
        <p:nvSpPr>
          <p:cNvPr id="920859234" name="Text 4"/>
          <p:cNvSpPr txBox="1"/>
          <p:nvPr/>
        </p:nvSpPr>
        <p:spPr bwMode="auto">
          <a:xfrm>
            <a:off x="752475" y="2276177"/>
            <a:ext cx="5038725" cy="38219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Decision: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CloudWatch Logs Insights auto-parses JSON → 20+ fields </a:t>
            </a:r>
            <a:endParaRPr lang="en-US" sz="1000"/>
          </a:p>
        </p:txBody>
      </p:sp>
      <p:pic>
        <p:nvPicPr>
          <p:cNvPr id="194255097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81725" y="1082873"/>
            <a:ext cx="5476875" cy="2496592"/>
          </a:xfrm>
          <a:prstGeom prst="rect">
            <a:avLst/>
          </a:prstGeom>
        </p:spPr>
      </p:pic>
      <p:sp>
        <p:nvSpPr>
          <p:cNvPr id="326931667" name="Text 5"/>
          <p:cNvSpPr txBox="1"/>
          <p:nvPr/>
        </p:nvSpPr>
        <p:spPr bwMode="auto">
          <a:xfrm>
            <a:off x="6400800" y="1282898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CORRELATION</a:t>
            </a:r>
            <a:endParaRPr lang="en-US" sz="850"/>
          </a:p>
        </p:txBody>
      </p:sp>
      <p:sp>
        <p:nvSpPr>
          <p:cNvPr id="367809030" name="Text 6"/>
          <p:cNvSpPr txBox="1"/>
          <p:nvPr/>
        </p:nvSpPr>
        <p:spPr bwMode="auto">
          <a:xfrm>
            <a:off x="6400800" y="1503758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before_request → correlation_id</a:t>
            </a:r>
            <a:endParaRPr lang="en-US" sz="1500"/>
          </a:p>
        </p:txBody>
      </p:sp>
      <p:pic>
        <p:nvPicPr>
          <p:cNvPr id="197563011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400800" y="1808559"/>
            <a:ext cx="5038725" cy="516136"/>
          </a:xfrm>
          <a:prstGeom prst="rect">
            <a:avLst/>
          </a:prstGeom>
        </p:spPr>
      </p:pic>
      <p:sp>
        <p:nvSpPr>
          <p:cNvPr id="341992437" name="Text 7"/>
          <p:cNvSpPr txBox="1"/>
          <p:nvPr/>
        </p:nvSpPr>
        <p:spPr bwMode="auto">
          <a:xfrm>
            <a:off x="6524625" y="1922859"/>
            <a:ext cx="4791075" cy="29706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g.correlation_id = request.headers.get("X-Correlation-ID", uuid4())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g.start_time = time()</a:t>
            </a:r>
            <a:endParaRPr lang="en-US" sz="850"/>
          </a:p>
        </p:txBody>
      </p:sp>
      <p:sp>
        <p:nvSpPr>
          <p:cNvPr id="941684454" name="Text 8"/>
          <p:cNvSpPr txBox="1"/>
          <p:nvPr/>
        </p:nvSpPr>
        <p:spPr bwMode="auto">
          <a:xfrm>
            <a:off x="6400800" y="2429470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Every log line carries same ID → </a:t>
            </a:r>
            <a:r>
              <a:rPr lang="en-US" sz="1000">
                <a:solidFill>
                  <a:srgbClr val="38BDF8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finds full flow.</a:t>
            </a:r>
            <a:endParaRPr lang="en-US" sz="1000"/>
          </a:p>
        </p:txBody>
      </p:sp>
      <p:pic>
        <p:nvPicPr>
          <p:cNvPr id="187115439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3750915"/>
            <a:ext cx="5476875" cy="2649885"/>
          </a:xfrm>
          <a:prstGeom prst="rect">
            <a:avLst/>
          </a:prstGeom>
        </p:spPr>
      </p:pic>
      <p:sp>
        <p:nvSpPr>
          <p:cNvPr id="413860581" name="Text 9"/>
          <p:cNvSpPr txBox="1"/>
          <p:nvPr/>
        </p:nvSpPr>
        <p:spPr bwMode="auto">
          <a:xfrm>
            <a:off x="752475" y="3950940"/>
            <a:ext cx="503872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CUSTOM METRICS</a:t>
            </a:r>
            <a:endParaRPr lang="en-US" sz="850"/>
          </a:p>
        </p:txBody>
      </p:sp>
      <p:sp>
        <p:nvSpPr>
          <p:cNvPr id="572929706" name="Text 10"/>
          <p:cNvSpPr txBox="1"/>
          <p:nvPr/>
        </p:nvSpPr>
        <p:spPr bwMode="auto">
          <a:xfrm>
            <a:off x="752475" y="4171801"/>
            <a:ext cx="503872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en-US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boto3 put_metric_data • Namespace Proj2/MyApp</a:t>
            </a:r>
            <a:endParaRPr lang="en-US" sz="1500"/>
          </a:p>
        </p:txBody>
      </p:sp>
      <p:pic>
        <p:nvPicPr>
          <p:cNvPr id="1560686790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52475" y="4476601"/>
            <a:ext cx="5038725" cy="669429"/>
          </a:xfrm>
          <a:prstGeom prst="rect">
            <a:avLst/>
          </a:prstGeom>
        </p:spPr>
      </p:pic>
      <p:sp>
        <p:nvSpPr>
          <p:cNvPr id="190886780" name="Text 11"/>
          <p:cNvSpPr txBox="1"/>
          <p:nvPr/>
        </p:nvSpPr>
        <p:spPr bwMode="auto">
          <a:xfrm>
            <a:off x="876299" y="4590901"/>
            <a:ext cx="4791075" cy="45035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cloudwatch.put_metric_data(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Namespace="Proj2/MyApp",</a:t>
            </a:r>
            <a:endParaRPr lang="en-US" sz="850"/>
          </a:p>
          <a:p>
            <a:pPr marL="0" indent="0" algn="l">
              <a:lnSpc>
                <a:spcPts val="1208"/>
              </a:lnSpc>
              <a:buNone/>
              <a:defRPr/>
            </a:pPr>
            <a:r>
              <a:rPr lang="en-US" sz="850">
                <a:solidFill>
                  <a:srgbClr val="EAEEF2"/>
                </a:solidFill>
                <a:latin typeface="Inter"/>
                <a:ea typeface="Inter"/>
                <a:cs typeface="Inter"/>
              </a:rPr>
              <a:t> MetricData=[{Name: "request_count", Value:1, Timestamp:utcnow()}])</a:t>
            </a:r>
            <a:endParaRPr lang="en-US" sz="850"/>
          </a:p>
        </p:txBody>
      </p:sp>
      <p:sp>
        <p:nvSpPr>
          <p:cNvPr id="1644430675" name="Text 12"/>
          <p:cNvSpPr txBox="1"/>
          <p:nvPr/>
        </p:nvSpPr>
        <p:spPr bwMode="auto">
          <a:xfrm>
            <a:off x="752475" y="5250805"/>
            <a:ext cx="5038725" cy="36314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5 signals in after_request + business hook. </a:t>
            </a:r>
            <a:endParaRPr lang="en-US" sz="1000"/>
          </a:p>
        </p:txBody>
      </p:sp>
      <p:pic>
        <p:nvPicPr>
          <p:cNvPr id="19309316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181725" y="3750915"/>
            <a:ext cx="5476875" cy="2649885"/>
          </a:xfrm>
          <a:prstGeom prst="rect">
            <a:avLst/>
          </a:prstGeom>
        </p:spPr>
      </p:pic>
      <p:sp>
        <p:nvSpPr>
          <p:cNvPr id="1038410754" name="Text 13"/>
          <p:cNvSpPr txBox="1"/>
          <p:nvPr/>
        </p:nvSpPr>
        <p:spPr bwMode="auto">
          <a:xfrm>
            <a:off x="6400800" y="3950939"/>
            <a:ext cx="906727" cy="1310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de-DE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ERROR LEVEL</a:t>
            </a:r>
            <a:endParaRPr lang="en-US" sz="850"/>
          </a:p>
        </p:txBody>
      </p:sp>
      <p:sp>
        <p:nvSpPr>
          <p:cNvPr id="78344148" name="Text 14"/>
          <p:cNvSpPr txBox="1"/>
          <p:nvPr/>
        </p:nvSpPr>
        <p:spPr bwMode="auto">
          <a:xfrm>
            <a:off x="6400800" y="4171800"/>
            <a:ext cx="1372105" cy="21926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  <a:defRPr/>
            </a:pPr>
            <a:r>
              <a:rPr lang="de-DE" sz="1500" b="1" spc="-2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3 levels of error</a:t>
            </a:r>
            <a:endParaRPr lang="en-US" sz="1500"/>
          </a:p>
        </p:txBody>
      </p:sp>
      <p:sp>
        <p:nvSpPr>
          <p:cNvPr id="454851743" name="Text 15"/>
          <p:cNvSpPr txBox="1"/>
          <p:nvPr/>
        </p:nvSpPr>
        <p:spPr bwMode="auto">
          <a:xfrm>
            <a:off x="6400800" y="4486126"/>
            <a:ext cx="5038725" cy="5494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WARN-ERROR-INFO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2175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50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54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092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132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859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550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931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809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5630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99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68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115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860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9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0686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886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4430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09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410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44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85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37995" name="Text 0"/>
          <p:cNvSpPr txBox="1"/>
          <p:nvPr/>
        </p:nvSpPr>
        <p:spPr bwMode="auto">
          <a:xfrm>
            <a:off x="533400" y="4191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RED / USE Analysis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— how we triaged</a:t>
            </a:r>
            <a:endParaRPr lang="en-US" sz="3450"/>
          </a:p>
        </p:txBody>
      </p:sp>
      <p:pic>
        <p:nvPicPr>
          <p:cNvPr id="189476185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937768" y="978097"/>
            <a:ext cx="5972175" cy="5460802"/>
          </a:xfrm>
          <a:prstGeom prst="rect">
            <a:avLst/>
          </a:prstGeom>
        </p:spPr>
      </p:pic>
      <p:sp>
        <p:nvSpPr>
          <p:cNvPr id="1106923826" name="Text 1"/>
          <p:cNvSpPr txBox="1"/>
          <p:nvPr/>
        </p:nvSpPr>
        <p:spPr bwMode="auto">
          <a:xfrm>
            <a:off x="7303790" y="1120972"/>
            <a:ext cx="125372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 spc="90">
                <a:solidFill>
                  <a:srgbClr val="EAEEF2">
                    <a:alpha val="75000"/>
                  </a:srgbClr>
                </a:solidFill>
                <a:latin typeface="Inter"/>
                <a:ea typeface="Inter"/>
                <a:cs typeface="Inter"/>
              </a:rPr>
              <a:t>DASHBOARD MAPPING</a:t>
            </a:r>
            <a:endParaRPr lang="en-US" sz="750"/>
          </a:p>
        </p:txBody>
      </p:sp>
      <p:pic>
        <p:nvPicPr>
          <p:cNvPr id="478113773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671192" y="1809599"/>
            <a:ext cx="4886325" cy="1198513"/>
          </a:xfrm>
          <a:prstGeom prst="rect">
            <a:avLst/>
          </a:prstGeom>
        </p:spPr>
      </p:pic>
      <p:sp>
        <p:nvSpPr>
          <p:cNvPr id="1606213410" name="Text 2"/>
          <p:cNvSpPr txBox="1"/>
          <p:nvPr/>
        </p:nvSpPr>
        <p:spPr bwMode="auto">
          <a:xfrm>
            <a:off x="3852167" y="1971524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RED — SERVICE VIEW</a:t>
            </a:r>
            <a:endParaRPr lang="en-US" sz="850"/>
          </a:p>
        </p:txBody>
      </p:sp>
      <p:sp>
        <p:nvSpPr>
          <p:cNvPr id="124883763" name="Text 3"/>
          <p:cNvSpPr txBox="1"/>
          <p:nvPr/>
        </p:nvSpPr>
        <p:spPr bwMode="auto">
          <a:xfrm>
            <a:off x="3852167" y="2173335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Rate</a:t>
            </a:r>
            <a:endParaRPr lang="en-US" sz="1000"/>
          </a:p>
        </p:txBody>
      </p:sp>
      <p:sp>
        <p:nvSpPr>
          <p:cNvPr id="2070455389" name="Text 4"/>
          <p:cNvSpPr txBox="1"/>
          <p:nvPr/>
        </p:nvSpPr>
        <p:spPr bwMode="auto">
          <a:xfrm>
            <a:off x="4747518" y="2173335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request_count Sum • Traffic timeSeries</a:t>
            </a:r>
            <a:endParaRPr lang="en-US" sz="850"/>
          </a:p>
        </p:txBody>
      </p:sp>
      <p:sp>
        <p:nvSpPr>
          <p:cNvPr id="1402567752" name="Text 5"/>
          <p:cNvSpPr txBox="1"/>
          <p:nvPr/>
        </p:nvSpPr>
        <p:spPr bwMode="auto">
          <a:xfrm>
            <a:off x="3852167" y="2397619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833050934" name="Text 6"/>
          <p:cNvSpPr txBox="1"/>
          <p:nvPr/>
        </p:nvSpPr>
        <p:spPr bwMode="auto">
          <a:xfrm>
            <a:off x="4747518" y="2397619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error_count Sum • red spike</a:t>
            </a:r>
            <a:endParaRPr lang="en-US" sz="850"/>
          </a:p>
        </p:txBody>
      </p:sp>
      <p:sp>
        <p:nvSpPr>
          <p:cNvPr id="82946327" name="Text 7"/>
          <p:cNvSpPr txBox="1"/>
          <p:nvPr/>
        </p:nvSpPr>
        <p:spPr bwMode="auto">
          <a:xfrm>
            <a:off x="3852167" y="2621903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Duration</a:t>
            </a:r>
            <a:endParaRPr lang="en-US" sz="1000"/>
          </a:p>
        </p:txBody>
      </p:sp>
      <p:sp>
        <p:nvSpPr>
          <p:cNvPr id="856170407" name="Text 8"/>
          <p:cNvSpPr txBox="1"/>
          <p:nvPr/>
        </p:nvSpPr>
        <p:spPr bwMode="auto">
          <a:xfrm>
            <a:off x="4747518" y="2621903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api_latency Avg / Max / P95</a:t>
            </a:r>
            <a:endParaRPr lang="en-US" sz="850"/>
          </a:p>
        </p:txBody>
      </p:sp>
      <p:pic>
        <p:nvPicPr>
          <p:cNvPr id="507931814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671192" y="3141462"/>
            <a:ext cx="4886325" cy="1198513"/>
          </a:xfrm>
          <a:prstGeom prst="rect">
            <a:avLst/>
          </a:prstGeom>
        </p:spPr>
      </p:pic>
      <p:sp>
        <p:nvSpPr>
          <p:cNvPr id="508486452" name="Text 9"/>
          <p:cNvSpPr txBox="1"/>
          <p:nvPr/>
        </p:nvSpPr>
        <p:spPr bwMode="auto">
          <a:xfrm>
            <a:off x="3852167" y="3303387"/>
            <a:ext cx="4524375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600"/>
              </a:spcAft>
              <a:buNone/>
              <a:defRPr/>
            </a:pPr>
            <a:r>
              <a:rPr lang="en-US" sz="850" b="1" spc="99">
                <a:solidFill>
                  <a:srgbClr val="38BDF8"/>
                </a:solidFill>
                <a:latin typeface="Space Grotesk"/>
                <a:ea typeface="Space Grotesk"/>
                <a:cs typeface="Space Grotesk"/>
              </a:rPr>
              <a:t>USE — RESOURCE VIEW</a:t>
            </a:r>
            <a:endParaRPr lang="en-US" sz="850"/>
          </a:p>
        </p:txBody>
      </p:sp>
      <p:sp>
        <p:nvSpPr>
          <p:cNvPr id="35714813" name="Text 10"/>
          <p:cNvSpPr txBox="1"/>
          <p:nvPr/>
        </p:nvSpPr>
        <p:spPr bwMode="auto">
          <a:xfrm>
            <a:off x="3852167" y="3505198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Utilization</a:t>
            </a:r>
            <a:endParaRPr lang="en-US" sz="1000"/>
          </a:p>
        </p:txBody>
      </p:sp>
      <p:sp>
        <p:nvSpPr>
          <p:cNvPr id="639957214" name="Text 11"/>
          <p:cNvSpPr txBox="1"/>
          <p:nvPr/>
        </p:nvSpPr>
        <p:spPr bwMode="auto">
          <a:xfrm>
            <a:off x="4747518" y="3505198"/>
            <a:ext cx="1764563" cy="17145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CPUUtilization + mem_used% + disk </a:t>
            </a:r>
            <a:endParaRPr lang="en-US" sz="850"/>
          </a:p>
        </p:txBody>
      </p:sp>
      <p:sp>
        <p:nvSpPr>
          <p:cNvPr id="671815212" name="Text 12"/>
          <p:cNvSpPr txBox="1"/>
          <p:nvPr/>
        </p:nvSpPr>
        <p:spPr bwMode="auto">
          <a:xfrm>
            <a:off x="3852167" y="3729483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Saturation</a:t>
            </a:r>
            <a:endParaRPr lang="en-US" sz="1000"/>
          </a:p>
        </p:txBody>
      </p:sp>
      <p:sp>
        <p:nvSpPr>
          <p:cNvPr id="707787162" name="Text 13"/>
          <p:cNvSpPr txBox="1"/>
          <p:nvPr/>
        </p:nvSpPr>
        <p:spPr bwMode="auto">
          <a:xfrm>
            <a:off x="4747518" y="3729483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orders_per_minute • business queue</a:t>
            </a:r>
            <a:endParaRPr lang="en-US" sz="850"/>
          </a:p>
        </p:txBody>
      </p:sp>
      <p:sp>
        <p:nvSpPr>
          <p:cNvPr id="654338214" name="Text 14"/>
          <p:cNvSpPr txBox="1"/>
          <p:nvPr/>
        </p:nvSpPr>
        <p:spPr bwMode="auto">
          <a:xfrm>
            <a:off x="3852167" y="3953766"/>
            <a:ext cx="838200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Errors</a:t>
            </a:r>
            <a:endParaRPr lang="en-US" sz="1000"/>
          </a:p>
        </p:txBody>
      </p:sp>
      <p:sp>
        <p:nvSpPr>
          <p:cNvPr id="2032519025" name="Text 15"/>
          <p:cNvSpPr txBox="1"/>
          <p:nvPr/>
        </p:nvSpPr>
        <p:spPr bwMode="auto">
          <a:xfrm>
            <a:off x="4747518" y="3953766"/>
            <a:ext cx="3629025" cy="1671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64"/>
              </a:lnSpc>
              <a:buNone/>
              <a:defRPr/>
            </a:pPr>
            <a:r>
              <a:rPr lang="en-US" sz="850">
                <a:solidFill>
                  <a:srgbClr val="EAEEF3">
                    <a:alpha val="72000"/>
                  </a:srgbClr>
                </a:solidFill>
                <a:latin typeface="JetBrains Mono"/>
                <a:ea typeface="JetBrains Mono"/>
                <a:cs typeface="JetBrains Mono"/>
              </a:rPr>
              <a:t>same error_count • overlay correlation</a:t>
            </a:r>
            <a:endParaRPr lang="en-US" sz="850"/>
          </a:p>
        </p:txBody>
      </p:sp>
      <p:pic>
        <p:nvPicPr>
          <p:cNvPr id="1079941447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671192" y="4473325"/>
            <a:ext cx="4886325" cy="737146"/>
          </a:xfrm>
          <a:prstGeom prst="rect">
            <a:avLst/>
          </a:prstGeom>
        </p:spPr>
      </p:pic>
      <p:sp>
        <p:nvSpPr>
          <p:cNvPr id="1660875931" name="Text 16"/>
          <p:cNvSpPr txBox="1"/>
          <p:nvPr/>
        </p:nvSpPr>
        <p:spPr bwMode="auto">
          <a:xfrm>
            <a:off x="3814067" y="4597150"/>
            <a:ext cx="4600575" cy="48949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Evidence: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Injected 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monospace"/>
                <a:ea typeface="monospace"/>
                <a:cs typeface="monospace"/>
              </a:rPr>
              <a:t>/fail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 20x → Error Rate ↑ 5+ in 60s, Latency flat 30ms, CPU 8% flat →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 error not infra</a:t>
            </a:r>
            <a:r>
              <a:rPr lang="en-US" sz="900">
                <a:solidFill>
                  <a:srgbClr val="EAEEF2">
                    <a:alpha val="82000"/>
                  </a:srgbClr>
                </a:solidFill>
                <a:latin typeface="Inter"/>
                <a:ea typeface="Inter"/>
                <a:cs typeface="Inter"/>
              </a:rPr>
              <a:t>. Top row = RED single value, Middle = Golden Signals, Bottom = USE, Correlation = all overlayed. 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761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923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113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6213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83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45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567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050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6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170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31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486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14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957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15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787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338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2519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9941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0875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179006" name="Text 0"/>
          <p:cNvSpPr txBox="1"/>
          <p:nvPr/>
        </p:nvSpPr>
        <p:spPr bwMode="auto">
          <a:xfrm>
            <a:off x="533400" y="495300"/>
            <a:ext cx="11125200" cy="44380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600" b="1" spc="-72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Live Demo Plan — </a:t>
            </a:r>
            <a:r>
              <a:rPr lang="en-US" sz="3600" b="1" spc="-72">
                <a:solidFill>
                  <a:srgbClr val="67F4E2"/>
                </a:solidFill>
                <a:latin typeface="Inter"/>
                <a:ea typeface="Inter"/>
                <a:cs typeface="Inter"/>
              </a:rPr>
              <a:t>proj2-dashboard</a:t>
            </a:r>
            <a:endParaRPr lang="en-US" sz="3600"/>
          </a:p>
        </p:txBody>
      </p:sp>
      <p:pic>
        <p:nvPicPr>
          <p:cNvPr id="189171270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2217093"/>
            <a:ext cx="3048000" cy="814983"/>
          </a:xfrm>
          <a:prstGeom prst="rect">
            <a:avLst/>
          </a:prstGeom>
        </p:spPr>
      </p:pic>
      <p:sp>
        <p:nvSpPr>
          <p:cNvPr id="292167856" name="Text 1"/>
          <p:cNvSpPr txBox="1"/>
          <p:nvPr/>
        </p:nvSpPr>
        <p:spPr bwMode="auto">
          <a:xfrm>
            <a:off x="695325" y="2359968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DASHBOARD</a:t>
            </a:r>
            <a:endParaRPr lang="en-US" sz="850"/>
          </a:p>
        </p:txBody>
      </p:sp>
      <p:sp>
        <p:nvSpPr>
          <p:cNvPr id="556874629" name="Text 2"/>
          <p:cNvSpPr txBox="1"/>
          <p:nvPr/>
        </p:nvSpPr>
        <p:spPr bwMode="auto">
          <a:xfrm>
            <a:off x="695325" y="2552254"/>
            <a:ext cx="27241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proj2-dashboard</a:t>
            </a: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 • 12 widgets • Period 60s • Region us-east-1 • Auto-refresh 60s</a:t>
            </a:r>
            <a:endParaRPr lang="en-US" sz="1000"/>
          </a:p>
        </p:txBody>
      </p:sp>
      <p:pic>
        <p:nvPicPr>
          <p:cNvPr id="472900280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3400" y="3165425"/>
            <a:ext cx="3048000" cy="988219"/>
          </a:xfrm>
          <a:prstGeom prst="rect">
            <a:avLst/>
          </a:prstGeom>
        </p:spPr>
      </p:pic>
      <p:sp>
        <p:nvSpPr>
          <p:cNvPr id="1929457719" name="Text 3"/>
          <p:cNvSpPr txBox="1"/>
          <p:nvPr/>
        </p:nvSpPr>
        <p:spPr bwMode="auto">
          <a:xfrm>
            <a:off x="695325" y="3308300"/>
            <a:ext cx="27241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spcAft>
                <a:spcPts val="450"/>
              </a:spcAft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QUICK STATS</a:t>
            </a:r>
            <a:endParaRPr lang="en-US" sz="850"/>
          </a:p>
        </p:txBody>
      </p:sp>
      <p:sp>
        <p:nvSpPr>
          <p:cNvPr id="1091122813" name="Text 4"/>
          <p:cNvSpPr txBox="1"/>
          <p:nvPr/>
        </p:nvSpPr>
        <p:spPr bwMode="auto">
          <a:xfrm>
            <a:off x="695325" y="3500586"/>
            <a:ext cx="2724150" cy="51018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DF2">
                    <a:alpha val="80000"/>
                  </a:srgbClr>
                </a:solidFill>
                <a:latin typeface="Inter"/>
                <a:ea typeface="Inter"/>
                <a:cs typeface="Inter"/>
              </a:rPr>
              <a:t>SingleValue → timeSeries → correlation. All three namespaces: Proj2/MyApp + CWAgent + AWS/EC2</a:t>
            </a:r>
            <a:endParaRPr lang="en-US" sz="1000"/>
          </a:p>
        </p:txBody>
      </p:sp>
      <p:pic>
        <p:nvPicPr>
          <p:cNvPr id="595467186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86200" y="1129605"/>
            <a:ext cx="3810000" cy="2540347"/>
          </a:xfrm>
          <a:prstGeom prst="rect">
            <a:avLst/>
          </a:prstGeom>
        </p:spPr>
      </p:pic>
      <p:sp>
        <p:nvSpPr>
          <p:cNvPr id="1283486187" name="Text 7"/>
          <p:cNvSpPr txBox="1"/>
          <p:nvPr/>
        </p:nvSpPr>
        <p:spPr bwMode="auto">
          <a:xfrm>
            <a:off x="38957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2119201055" name="Text 8"/>
          <p:cNvSpPr txBox="1"/>
          <p:nvPr/>
        </p:nvSpPr>
        <p:spPr bwMode="auto">
          <a:xfrm>
            <a:off x="40671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01 — TOP ROW</a:t>
            </a:r>
            <a:endParaRPr lang="en-US" sz="900"/>
          </a:p>
        </p:txBody>
      </p:sp>
      <p:sp>
        <p:nvSpPr>
          <p:cNvPr id="975719635" name="Text 9"/>
          <p:cNvSpPr txBox="1"/>
          <p:nvPr/>
        </p:nvSpPr>
        <p:spPr bwMode="auto">
          <a:xfrm>
            <a:off x="40671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SingleValue at a glance</a:t>
            </a:r>
            <a:endParaRPr lang="en-US" sz="1150"/>
          </a:p>
        </p:txBody>
      </p:sp>
      <p:sp>
        <p:nvSpPr>
          <p:cNvPr id="1223919339" name="Text 10"/>
          <p:cNvSpPr txBox="1"/>
          <p:nvPr/>
        </p:nvSpPr>
        <p:spPr bwMode="auto">
          <a:xfrm>
            <a:off x="40671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Current rate for decision in 3 seconds</a:t>
            </a:r>
            <a:endParaRPr lang="en-US" sz="1000"/>
          </a:p>
        </p:txBody>
      </p:sp>
      <p:pic>
        <p:nvPicPr>
          <p:cNvPr id="457318115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067175" y="2067223"/>
            <a:ext cx="1039267" cy="238125"/>
          </a:xfrm>
          <a:prstGeom prst="rect">
            <a:avLst/>
          </a:prstGeom>
        </p:spPr>
      </p:pic>
      <p:sp>
        <p:nvSpPr>
          <p:cNvPr id="1386262369" name="Text 11"/>
          <p:cNvSpPr txBox="1"/>
          <p:nvPr/>
        </p:nvSpPr>
        <p:spPr bwMode="auto">
          <a:xfrm>
            <a:off x="4152900" y="2124373"/>
            <a:ext cx="86781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 Sum</a:t>
            </a:r>
            <a:endParaRPr lang="en-US" sz="750"/>
          </a:p>
        </p:txBody>
      </p:sp>
      <p:pic>
        <p:nvPicPr>
          <p:cNvPr id="1648922159" name="Image 5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163592" y="2067223"/>
            <a:ext cx="917972" cy="238125"/>
          </a:xfrm>
          <a:prstGeom prst="rect">
            <a:avLst/>
          </a:prstGeom>
        </p:spPr>
      </p:pic>
      <p:sp>
        <p:nvSpPr>
          <p:cNvPr id="392180301" name="Text 12"/>
          <p:cNvSpPr txBox="1"/>
          <p:nvPr/>
        </p:nvSpPr>
        <p:spPr bwMode="auto">
          <a:xfrm>
            <a:off x="5249317" y="2124373"/>
            <a:ext cx="74652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 Sum</a:t>
            </a:r>
            <a:endParaRPr lang="en-US" sz="750"/>
          </a:p>
        </p:txBody>
      </p:sp>
      <p:pic>
        <p:nvPicPr>
          <p:cNvPr id="1978264488" name="Image 6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138714" y="2067223"/>
            <a:ext cx="873919" cy="238125"/>
          </a:xfrm>
          <a:prstGeom prst="rect">
            <a:avLst/>
          </a:prstGeom>
        </p:spPr>
      </p:pic>
      <p:sp>
        <p:nvSpPr>
          <p:cNvPr id="2049441948" name="Text 13"/>
          <p:cNvSpPr txBox="1"/>
          <p:nvPr/>
        </p:nvSpPr>
        <p:spPr bwMode="auto">
          <a:xfrm>
            <a:off x="6224439" y="2124373"/>
            <a:ext cx="70246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 Avg</a:t>
            </a:r>
            <a:endParaRPr lang="en-US" sz="750"/>
          </a:p>
        </p:txBody>
      </p:sp>
      <p:pic>
        <p:nvPicPr>
          <p:cNvPr id="1083175447" name="Image 7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4067175" y="2362497"/>
            <a:ext cx="887611" cy="238125"/>
          </a:xfrm>
          <a:prstGeom prst="rect">
            <a:avLst/>
          </a:prstGeom>
        </p:spPr>
      </p:pic>
      <p:sp>
        <p:nvSpPr>
          <p:cNvPr id="680083754" name="Text 14"/>
          <p:cNvSpPr txBox="1"/>
          <p:nvPr/>
        </p:nvSpPr>
        <p:spPr bwMode="auto">
          <a:xfrm>
            <a:off x="4152900" y="2419648"/>
            <a:ext cx="7161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orders/min Sum</a:t>
            </a:r>
            <a:endParaRPr lang="en-US" sz="750"/>
          </a:p>
        </p:txBody>
      </p:sp>
      <p:pic>
        <p:nvPicPr>
          <p:cNvPr id="710454915" name="Image 8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848600" y="1129605"/>
            <a:ext cx="3810000" cy="2540347"/>
          </a:xfrm>
          <a:prstGeom prst="rect">
            <a:avLst/>
          </a:prstGeom>
        </p:spPr>
      </p:pic>
      <p:sp>
        <p:nvSpPr>
          <p:cNvPr id="448480150" name="Text 15"/>
          <p:cNvSpPr txBox="1"/>
          <p:nvPr/>
        </p:nvSpPr>
        <p:spPr bwMode="auto">
          <a:xfrm>
            <a:off x="7858125" y="1139130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1461337025" name="Text 16"/>
          <p:cNvSpPr txBox="1"/>
          <p:nvPr/>
        </p:nvSpPr>
        <p:spPr bwMode="auto">
          <a:xfrm>
            <a:off x="8029575" y="1320105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02 — MIDDLE</a:t>
            </a:r>
            <a:endParaRPr lang="en-US" sz="900"/>
          </a:p>
        </p:txBody>
      </p:sp>
      <p:sp>
        <p:nvSpPr>
          <p:cNvPr id="1540631370" name="Text 17"/>
          <p:cNvSpPr txBox="1"/>
          <p:nvPr/>
        </p:nvSpPr>
        <p:spPr bwMode="auto">
          <a:xfrm>
            <a:off x="8029575" y="1577280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Golden Signals</a:t>
            </a:r>
            <a:endParaRPr lang="en-US" sz="1150"/>
          </a:p>
        </p:txBody>
      </p:sp>
      <p:sp>
        <p:nvSpPr>
          <p:cNvPr id="1794853249" name="Text 18"/>
          <p:cNvSpPr txBox="1"/>
          <p:nvPr/>
        </p:nvSpPr>
        <p:spPr bwMode="auto">
          <a:xfrm>
            <a:off x="8029575" y="1827312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RED mapping: traffic, errors, duration, saturation</a:t>
            </a:r>
            <a:endParaRPr lang="en-US" sz="1000"/>
          </a:p>
        </p:txBody>
      </p:sp>
      <p:pic>
        <p:nvPicPr>
          <p:cNvPr id="1528533999" name="Image 9" descr="preencoded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8029575" y="2067223"/>
            <a:ext cx="1128117" cy="238125"/>
          </a:xfrm>
          <a:prstGeom prst="rect">
            <a:avLst/>
          </a:prstGeom>
        </p:spPr>
      </p:pic>
      <p:sp>
        <p:nvSpPr>
          <p:cNvPr id="1321563589" name="Text 19"/>
          <p:cNvSpPr txBox="1"/>
          <p:nvPr/>
        </p:nvSpPr>
        <p:spPr bwMode="auto">
          <a:xfrm>
            <a:off x="8115300" y="2124373"/>
            <a:ext cx="956667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Traffic request_count</a:t>
            </a:r>
            <a:endParaRPr lang="en-US" sz="750"/>
          </a:p>
        </p:txBody>
      </p:sp>
      <p:pic>
        <p:nvPicPr>
          <p:cNvPr id="1441051214" name="Image 10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9214842" y="2067223"/>
            <a:ext cx="989260" cy="238125"/>
          </a:xfrm>
          <a:prstGeom prst="rect">
            <a:avLst/>
          </a:prstGeom>
        </p:spPr>
      </p:pic>
      <p:sp>
        <p:nvSpPr>
          <p:cNvPr id="397752642" name="Text 20"/>
          <p:cNvSpPr txBox="1"/>
          <p:nvPr/>
        </p:nvSpPr>
        <p:spPr bwMode="auto">
          <a:xfrm>
            <a:off x="9300567" y="2124373"/>
            <a:ext cx="81781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Errors error_count</a:t>
            </a:r>
            <a:endParaRPr lang="en-US" sz="750"/>
          </a:p>
        </p:txBody>
      </p:sp>
      <p:pic>
        <p:nvPicPr>
          <p:cNvPr id="121864097" name="Image 11" descr="preencoded.png"/>
          <p:cNvPicPr>
            <a:picLocks noChangeAspect="1"/>
          </p:cNvPicPr>
          <p:nvPr/>
        </p:nvPicPr>
        <p:blipFill rotWithShape="1">
          <a:blip r:embed="rId13"/>
          <a:stretch/>
        </p:blipFill>
        <p:spPr bwMode="auto">
          <a:xfrm>
            <a:off x="10261253" y="2067223"/>
            <a:ext cx="948928" cy="238125"/>
          </a:xfrm>
          <a:prstGeom prst="rect">
            <a:avLst/>
          </a:prstGeom>
        </p:spPr>
      </p:pic>
      <p:sp>
        <p:nvSpPr>
          <p:cNvPr id="733717491" name="Text 21"/>
          <p:cNvSpPr txBox="1"/>
          <p:nvPr/>
        </p:nvSpPr>
        <p:spPr bwMode="auto">
          <a:xfrm>
            <a:off x="10346978" y="2124373"/>
            <a:ext cx="7774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Latency Avg/Max</a:t>
            </a:r>
            <a:endParaRPr lang="en-US" sz="750"/>
          </a:p>
        </p:txBody>
      </p:sp>
      <p:pic>
        <p:nvPicPr>
          <p:cNvPr id="850724257" name="Image 12" descr="preencoded.png"/>
          <p:cNvPicPr>
            <a:picLocks noChangeAspect="1"/>
          </p:cNvPicPr>
          <p:nvPr/>
        </p:nvPicPr>
        <p:blipFill rotWithShape="1">
          <a:blip r:embed="rId14"/>
          <a:stretch/>
        </p:blipFill>
        <p:spPr bwMode="auto">
          <a:xfrm>
            <a:off x="8029575" y="2362497"/>
            <a:ext cx="796528" cy="238125"/>
          </a:xfrm>
          <a:prstGeom prst="rect">
            <a:avLst/>
          </a:prstGeom>
        </p:spPr>
      </p:pic>
      <p:sp>
        <p:nvSpPr>
          <p:cNvPr id="650431944" name="Text 22"/>
          <p:cNvSpPr txBox="1"/>
          <p:nvPr/>
        </p:nvSpPr>
        <p:spPr bwMode="auto">
          <a:xfrm>
            <a:off x="8115300" y="2419648"/>
            <a:ext cx="62507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+ Orders</a:t>
            </a:r>
            <a:endParaRPr lang="en-US" sz="750"/>
          </a:p>
        </p:txBody>
      </p:sp>
      <p:pic>
        <p:nvPicPr>
          <p:cNvPr id="1740979989" name="Image 13" descr="preencoded.png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>
            <a:off x="3886200" y="3822353"/>
            <a:ext cx="3810000" cy="2540347"/>
          </a:xfrm>
          <a:prstGeom prst="rect">
            <a:avLst/>
          </a:prstGeom>
        </p:spPr>
      </p:pic>
      <p:sp>
        <p:nvSpPr>
          <p:cNvPr id="683314344" name="Text 23"/>
          <p:cNvSpPr txBox="1"/>
          <p:nvPr/>
        </p:nvSpPr>
        <p:spPr bwMode="auto">
          <a:xfrm>
            <a:off x="38957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304851579" name="Text 24"/>
          <p:cNvSpPr txBox="1"/>
          <p:nvPr/>
        </p:nvSpPr>
        <p:spPr bwMode="auto">
          <a:xfrm>
            <a:off x="40671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03 — BOTTOM</a:t>
            </a:r>
            <a:endParaRPr lang="en-US" sz="900"/>
          </a:p>
        </p:txBody>
      </p:sp>
      <p:sp>
        <p:nvSpPr>
          <p:cNvPr id="679600229" name="Text 25"/>
          <p:cNvSpPr txBox="1"/>
          <p:nvPr/>
        </p:nvSpPr>
        <p:spPr bwMode="auto">
          <a:xfrm>
            <a:off x="40671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EC2 USE Resources</a:t>
            </a:r>
            <a:endParaRPr lang="en-US" sz="1150"/>
          </a:p>
        </p:txBody>
      </p:sp>
      <p:sp>
        <p:nvSpPr>
          <p:cNvPr id="781632173" name="Text 26"/>
          <p:cNvSpPr txBox="1"/>
          <p:nvPr/>
        </p:nvSpPr>
        <p:spPr bwMode="auto">
          <a:xfrm>
            <a:off x="4067175" y="4520059"/>
            <a:ext cx="3448050" cy="1637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Utilization + Saturation. Disk uses SEARCH</a:t>
            </a:r>
            <a:endParaRPr lang="en-US" sz="1000"/>
          </a:p>
        </p:txBody>
      </p:sp>
      <p:pic>
        <p:nvPicPr>
          <p:cNvPr id="1926275563" name="Image 14" descr="preencoded.png"/>
          <p:cNvPicPr>
            <a:picLocks noChangeAspect="1"/>
          </p:cNvPicPr>
          <p:nvPr/>
        </p:nvPicPr>
        <p:blipFill rotWithShape="1">
          <a:blip r:embed="rId16"/>
          <a:stretch/>
        </p:blipFill>
        <p:spPr bwMode="auto">
          <a:xfrm>
            <a:off x="4067175" y="4759970"/>
            <a:ext cx="817811" cy="238125"/>
          </a:xfrm>
          <a:prstGeom prst="rect">
            <a:avLst/>
          </a:prstGeom>
        </p:spPr>
      </p:pic>
      <p:sp>
        <p:nvSpPr>
          <p:cNvPr id="1569622519" name="Text 27"/>
          <p:cNvSpPr txBox="1"/>
          <p:nvPr/>
        </p:nvSpPr>
        <p:spPr bwMode="auto">
          <a:xfrm>
            <a:off x="4152900" y="4817120"/>
            <a:ext cx="646361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CPUUtilization</a:t>
            </a:r>
            <a:endParaRPr lang="en-US" sz="750"/>
          </a:p>
        </p:txBody>
      </p:sp>
      <p:pic>
        <p:nvPicPr>
          <p:cNvPr id="26618853" name="Image 15" descr="preencoded.png"/>
          <p:cNvPicPr>
            <a:picLocks noChangeAspect="1"/>
          </p:cNvPicPr>
          <p:nvPr/>
        </p:nvPicPr>
        <p:blipFill rotWithShape="1">
          <a:blip r:embed="rId17"/>
          <a:stretch/>
        </p:blipFill>
        <p:spPr bwMode="auto">
          <a:xfrm>
            <a:off x="4942135" y="4759970"/>
            <a:ext cx="1049982" cy="238125"/>
          </a:xfrm>
          <a:prstGeom prst="rect">
            <a:avLst/>
          </a:prstGeom>
        </p:spPr>
      </p:pic>
      <p:sp>
        <p:nvSpPr>
          <p:cNvPr id="1737447359" name="Text 28"/>
          <p:cNvSpPr txBox="1"/>
          <p:nvPr/>
        </p:nvSpPr>
        <p:spPr bwMode="auto">
          <a:xfrm>
            <a:off x="5027861" y="4817120"/>
            <a:ext cx="878532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mem_used_percent</a:t>
            </a:r>
            <a:endParaRPr lang="en-US" sz="750"/>
          </a:p>
        </p:txBody>
      </p:sp>
      <p:pic>
        <p:nvPicPr>
          <p:cNvPr id="2040892461" name="Image 16" descr="preencoded.png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>
            <a:off x="6049268" y="4759970"/>
            <a:ext cx="857548" cy="238125"/>
          </a:xfrm>
          <a:prstGeom prst="rect">
            <a:avLst/>
          </a:prstGeom>
        </p:spPr>
      </p:pic>
      <p:sp>
        <p:nvSpPr>
          <p:cNvPr id="1447647494" name="Text 29"/>
          <p:cNvSpPr txBox="1"/>
          <p:nvPr/>
        </p:nvSpPr>
        <p:spPr bwMode="auto">
          <a:xfrm>
            <a:off x="6134993" y="4817120"/>
            <a:ext cx="68609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Network In/Out</a:t>
            </a:r>
            <a:endParaRPr lang="en-US" sz="750"/>
          </a:p>
        </p:txBody>
      </p:sp>
      <p:pic>
        <p:nvPicPr>
          <p:cNvPr id="1522059353" name="Image 17" descr="preencoded.png"/>
          <p:cNvPicPr>
            <a:picLocks noChangeAspect="1"/>
          </p:cNvPicPr>
          <p:nvPr/>
        </p:nvPicPr>
        <p:blipFill rotWithShape="1">
          <a:blip r:embed="rId19"/>
          <a:stretch/>
        </p:blipFill>
        <p:spPr bwMode="auto">
          <a:xfrm>
            <a:off x="4067175" y="5055245"/>
            <a:ext cx="1176040" cy="238125"/>
          </a:xfrm>
          <a:prstGeom prst="rect">
            <a:avLst/>
          </a:prstGeom>
        </p:spPr>
      </p:pic>
      <p:sp>
        <p:nvSpPr>
          <p:cNvPr id="1806694202" name="Text 30"/>
          <p:cNvSpPr txBox="1"/>
          <p:nvPr/>
        </p:nvSpPr>
        <p:spPr bwMode="auto">
          <a:xfrm>
            <a:off x="4152900" y="5112395"/>
            <a:ext cx="1004590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SEARCH disk% → [[ ]]</a:t>
            </a:r>
            <a:endParaRPr lang="en-US" sz="750"/>
          </a:p>
        </p:txBody>
      </p:sp>
      <p:pic>
        <p:nvPicPr>
          <p:cNvPr id="1515208384" name="Image 18" descr="preencoded.png"/>
          <p:cNvPicPr>
            <a:picLocks noChangeAspect="1"/>
          </p:cNvPicPr>
          <p:nvPr/>
        </p:nvPicPr>
        <p:blipFill rotWithShape="1">
          <a:blip r:embed="rId20"/>
          <a:stretch/>
        </p:blipFill>
        <p:spPr bwMode="auto">
          <a:xfrm>
            <a:off x="7848600" y="3822353"/>
            <a:ext cx="3810000" cy="2540347"/>
          </a:xfrm>
          <a:prstGeom prst="rect">
            <a:avLst/>
          </a:prstGeom>
        </p:spPr>
      </p:pic>
      <p:sp>
        <p:nvSpPr>
          <p:cNvPr id="1823288274" name="Text 31"/>
          <p:cNvSpPr txBox="1"/>
          <p:nvPr/>
        </p:nvSpPr>
        <p:spPr bwMode="auto">
          <a:xfrm>
            <a:off x="7858125" y="3831878"/>
            <a:ext cx="3790949" cy="190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  <a:defRPr/>
            </a:pPr>
            <a:endParaRPr lang="en-US" sz="1350"/>
          </a:p>
        </p:txBody>
      </p:sp>
      <p:sp>
        <p:nvSpPr>
          <p:cNvPr id="631962053" name="Text 32"/>
          <p:cNvSpPr txBox="1"/>
          <p:nvPr/>
        </p:nvSpPr>
        <p:spPr bwMode="auto">
          <a:xfrm>
            <a:off x="8029575" y="4012853"/>
            <a:ext cx="3448050" cy="1619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750"/>
              </a:spcAft>
              <a:buNone/>
              <a:defRPr/>
            </a:pPr>
            <a:r>
              <a:rPr lang="en-US" sz="900" b="1" spc="125">
                <a:solidFill>
                  <a:srgbClr val="67F4E2"/>
                </a:solidFill>
                <a:latin typeface="Inter"/>
                <a:ea typeface="Inter"/>
                <a:cs typeface="Inter"/>
              </a:rPr>
              <a:t>04 — CORRELATION</a:t>
            </a:r>
            <a:endParaRPr lang="en-US" sz="900"/>
          </a:p>
        </p:txBody>
      </p:sp>
      <p:sp>
        <p:nvSpPr>
          <p:cNvPr id="2100455923" name="Text 33"/>
          <p:cNvSpPr txBox="1"/>
          <p:nvPr/>
        </p:nvSpPr>
        <p:spPr bwMode="auto">
          <a:xfrm>
            <a:off x="8029575" y="4270028"/>
            <a:ext cx="3448050" cy="1643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4"/>
              </a:lnSpc>
              <a:spcAft>
                <a:spcPts val="600"/>
              </a:spcAft>
              <a:buNone/>
              <a:defRPr/>
            </a:pPr>
            <a:r>
              <a:rPr lang="en-US" sz="1150" b="1" spc="-17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Latency vs Traffic vs Errors vs CPU</a:t>
            </a:r>
            <a:endParaRPr lang="en-US" sz="1150"/>
          </a:p>
        </p:txBody>
      </p:sp>
      <p:sp>
        <p:nvSpPr>
          <p:cNvPr id="110748498" name="Text 34"/>
          <p:cNvSpPr txBox="1"/>
          <p:nvPr/>
        </p:nvSpPr>
        <p:spPr bwMode="auto">
          <a:xfrm>
            <a:off x="8029575" y="4520059"/>
            <a:ext cx="3448050" cy="3369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  <a:defRPr/>
            </a:pPr>
            <a:r>
              <a:rPr lang="en-US" sz="1000">
                <a:solidFill>
                  <a:srgbClr val="EAEEF2">
                    <a:alpha val="70000"/>
                  </a:srgbClr>
                </a:solidFill>
                <a:latin typeface="Inter"/>
                <a:ea typeface="Inter"/>
                <a:cs typeface="Inter"/>
              </a:rPr>
              <a:t>Overlay all in one graph. When /fail injected: Error spikes, Latency flat, CPU flat → app error not infra</a:t>
            </a:r>
            <a:endParaRPr lang="en-US" sz="1000"/>
          </a:p>
        </p:txBody>
      </p:sp>
      <p:pic>
        <p:nvPicPr>
          <p:cNvPr id="1430767126" name="Image 19" descr="preencoded.png"/>
          <p:cNvPicPr>
            <a:picLocks noChangeAspect="1"/>
          </p:cNvPicPr>
          <p:nvPr/>
        </p:nvPicPr>
        <p:blipFill rotWithShape="1">
          <a:blip r:embed="rId21"/>
          <a:stretch/>
        </p:blipFill>
        <p:spPr bwMode="auto">
          <a:xfrm>
            <a:off x="8029575" y="4933206"/>
            <a:ext cx="677763" cy="238125"/>
          </a:xfrm>
          <a:prstGeom prst="rect">
            <a:avLst/>
          </a:prstGeom>
        </p:spPr>
      </p:pic>
      <p:sp>
        <p:nvSpPr>
          <p:cNvPr id="1743862419" name="Text 35"/>
          <p:cNvSpPr txBox="1"/>
          <p:nvPr/>
        </p:nvSpPr>
        <p:spPr bwMode="auto">
          <a:xfrm>
            <a:off x="8115300" y="4990356"/>
            <a:ext cx="506313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api_latency</a:t>
            </a:r>
            <a:endParaRPr lang="en-US" sz="750"/>
          </a:p>
        </p:txBody>
      </p:sp>
      <p:pic>
        <p:nvPicPr>
          <p:cNvPr id="747258964" name="Image 20" descr="preencoded.png"/>
          <p:cNvPicPr>
            <a:picLocks noChangeAspect="1"/>
          </p:cNvPicPr>
          <p:nvPr/>
        </p:nvPicPr>
        <p:blipFill rotWithShape="1">
          <a:blip r:embed="rId22"/>
          <a:stretch/>
        </p:blipFill>
        <p:spPr bwMode="auto">
          <a:xfrm>
            <a:off x="8764488" y="4933206"/>
            <a:ext cx="811709" cy="238125"/>
          </a:xfrm>
          <a:prstGeom prst="rect">
            <a:avLst/>
          </a:prstGeom>
        </p:spPr>
      </p:pic>
      <p:sp>
        <p:nvSpPr>
          <p:cNvPr id="148207405" name="Text 36"/>
          <p:cNvSpPr txBox="1"/>
          <p:nvPr/>
        </p:nvSpPr>
        <p:spPr bwMode="auto">
          <a:xfrm>
            <a:off x="8850213" y="4990356"/>
            <a:ext cx="640259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request_count</a:t>
            </a:r>
            <a:endParaRPr lang="en-US" sz="750"/>
          </a:p>
        </p:txBody>
      </p:sp>
      <p:pic>
        <p:nvPicPr>
          <p:cNvPr id="2142436019" name="Image 21" descr="preencoded.png"/>
          <p:cNvPicPr>
            <a:picLocks noChangeAspect="1"/>
          </p:cNvPicPr>
          <p:nvPr/>
        </p:nvPicPr>
        <p:blipFill rotWithShape="1">
          <a:blip r:embed="rId23"/>
          <a:stretch/>
        </p:blipFill>
        <p:spPr bwMode="auto">
          <a:xfrm>
            <a:off x="9633347" y="4933206"/>
            <a:ext cx="690414" cy="238125"/>
          </a:xfrm>
          <a:prstGeom prst="rect">
            <a:avLst/>
          </a:prstGeom>
        </p:spPr>
      </p:pic>
      <p:sp>
        <p:nvSpPr>
          <p:cNvPr id="681707958" name="Text 37"/>
          <p:cNvSpPr txBox="1"/>
          <p:nvPr/>
        </p:nvSpPr>
        <p:spPr bwMode="auto">
          <a:xfrm>
            <a:off x="9719072" y="4990356"/>
            <a:ext cx="518964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error_count</a:t>
            </a:r>
            <a:endParaRPr lang="en-US" sz="750"/>
          </a:p>
        </p:txBody>
      </p:sp>
      <p:pic>
        <p:nvPicPr>
          <p:cNvPr id="1596447050" name="Image 22" descr="preencoded.png"/>
          <p:cNvPicPr>
            <a:picLocks noChangeAspect="1"/>
          </p:cNvPicPr>
          <p:nvPr/>
        </p:nvPicPr>
        <p:blipFill rotWithShape="1">
          <a:blip r:embed="rId24"/>
          <a:stretch/>
        </p:blipFill>
        <p:spPr bwMode="auto">
          <a:xfrm>
            <a:off x="10380911" y="4933206"/>
            <a:ext cx="493068" cy="238125"/>
          </a:xfrm>
          <a:prstGeom prst="rect">
            <a:avLst/>
          </a:prstGeom>
        </p:spPr>
      </p:pic>
      <p:sp>
        <p:nvSpPr>
          <p:cNvPr id="1961879411" name="Text 38"/>
          <p:cNvSpPr txBox="1"/>
          <p:nvPr/>
        </p:nvSpPr>
        <p:spPr bwMode="auto">
          <a:xfrm>
            <a:off x="10466636" y="4990356"/>
            <a:ext cx="321618" cy="1333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  <a:defRPr/>
            </a:pPr>
            <a:r>
              <a:rPr lang="en-US" sz="750">
                <a:solidFill>
                  <a:srgbClr val="EAEFF2">
                    <a:alpha val="85000"/>
                  </a:srgbClr>
                </a:solidFill>
                <a:latin typeface="Inter"/>
                <a:ea typeface="Inter"/>
                <a:cs typeface="Inter"/>
              </a:rPr>
              <a:t>CPU %</a:t>
            </a:r>
            <a:endParaRPr lang="en-US" sz="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06568" name="Text 0"/>
          <p:cNvSpPr txBox="1"/>
          <p:nvPr/>
        </p:nvSpPr>
        <p:spPr bwMode="auto">
          <a:xfrm>
            <a:off x="533400" y="495300"/>
            <a:ext cx="6275784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Learnings —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What I Learned</a:t>
            </a:r>
            <a:endParaRPr lang="en-US" sz="3450"/>
          </a:p>
        </p:txBody>
      </p:sp>
      <p:pic>
        <p:nvPicPr>
          <p:cNvPr id="76215623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483668"/>
            <a:ext cx="6275784" cy="785515"/>
          </a:xfrm>
          <a:prstGeom prst="rect">
            <a:avLst/>
          </a:prstGeom>
        </p:spPr>
      </p:pic>
      <p:pic>
        <p:nvPicPr>
          <p:cNvPr id="174742374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6275" y="1607493"/>
            <a:ext cx="266700" cy="266700"/>
          </a:xfrm>
          <a:prstGeom prst="rect">
            <a:avLst/>
          </a:prstGeom>
        </p:spPr>
      </p:pic>
      <p:sp>
        <p:nvSpPr>
          <p:cNvPr id="271028162" name="Text 1"/>
          <p:cNvSpPr txBox="1"/>
          <p:nvPr/>
        </p:nvSpPr>
        <p:spPr bwMode="auto">
          <a:xfrm>
            <a:off x="746373" y="1664643"/>
            <a:ext cx="187077" cy="2000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01</a:t>
            </a:r>
            <a:endParaRPr lang="en-US" sz="900"/>
          </a:p>
        </p:txBody>
      </p:sp>
      <p:sp>
        <p:nvSpPr>
          <p:cNvPr id="1595793843" name="Text 2"/>
          <p:cNvSpPr txBox="1"/>
          <p:nvPr/>
        </p:nvSpPr>
        <p:spPr bwMode="auto">
          <a:xfrm>
            <a:off x="1095375" y="1607493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Separation of concerns: access.log vs app.log</a:t>
            </a:r>
            <a:endParaRPr lang="en-US" sz="1000"/>
          </a:p>
        </p:txBody>
      </p:sp>
      <p:sp>
        <p:nvSpPr>
          <p:cNvPr id="1653165853" name="Text 3"/>
          <p:cNvSpPr txBox="1"/>
          <p:nvPr/>
        </p:nvSpPr>
        <p:spPr bwMode="auto">
          <a:xfrm>
            <a:off x="1095375" y="1806327"/>
            <a:ext cx="5570934" cy="3390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Pointing both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--access-logfile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and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--error-logfile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to same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app.log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mixes Apache format 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monospace"/>
                <a:ea typeface="monospace"/>
                <a:cs typeface="monospace"/>
              </a:rPr>
              <a:t>91.0.58.40 - - [13/Aug...]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with JSON. Parser breaks → Discovered fields 11, no level.</a:t>
            </a:r>
            <a:endParaRPr lang="en-US" sz="900"/>
          </a:p>
        </p:txBody>
      </p:sp>
      <p:pic>
        <p:nvPicPr>
          <p:cNvPr id="1021744352" name="Image 6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3399" y="3260580"/>
            <a:ext cx="6275784" cy="766465"/>
          </a:xfrm>
          <a:prstGeom prst="rect">
            <a:avLst/>
          </a:prstGeom>
        </p:spPr>
      </p:pic>
      <p:pic>
        <p:nvPicPr>
          <p:cNvPr id="138554795" name="Image 7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76274" y="3384406"/>
            <a:ext cx="266700" cy="266700"/>
          </a:xfrm>
          <a:prstGeom prst="rect">
            <a:avLst/>
          </a:prstGeom>
        </p:spPr>
      </p:pic>
      <p:sp>
        <p:nvSpPr>
          <p:cNvPr id="1549017094" name="Text 10"/>
          <p:cNvSpPr txBox="1"/>
          <p:nvPr/>
        </p:nvSpPr>
        <p:spPr bwMode="auto">
          <a:xfrm>
            <a:off x="732382" y="3441556"/>
            <a:ext cx="127853" cy="20074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0</a:t>
            </a:r>
            <a:r>
              <a:rPr lang="de-DE" sz="900" b="1">
                <a:solidFill>
                  <a:srgbClr val="67F4E2"/>
                </a:solidFill>
                <a:latin typeface="Inter"/>
                <a:ea typeface="Inter"/>
                <a:cs typeface="Inter"/>
              </a:rPr>
              <a:t>2</a:t>
            </a:r>
            <a:endParaRPr lang="en-US" sz="900"/>
          </a:p>
        </p:txBody>
      </p:sp>
      <p:sp>
        <p:nvSpPr>
          <p:cNvPr id="952876413" name="Text 11"/>
          <p:cNvSpPr txBox="1"/>
          <p:nvPr/>
        </p:nvSpPr>
        <p:spPr bwMode="auto">
          <a:xfrm>
            <a:off x="1095374" y="3384406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IAM least privilege bite</a:t>
            </a:r>
            <a:endParaRPr lang="en-US" sz="1000"/>
          </a:p>
        </p:txBody>
      </p:sp>
      <p:sp>
        <p:nvSpPr>
          <p:cNvPr id="2054748881" name="Text 12"/>
          <p:cNvSpPr txBox="1"/>
          <p:nvPr/>
        </p:nvSpPr>
        <p:spPr bwMode="auto">
          <a:xfrm>
            <a:off x="1095374" y="3583240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proj2-ec2-role PutMetricData works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but ListMetrics fails. Validate from Admin console, not EC2. Learned to test both planes.</a:t>
            </a:r>
            <a:endParaRPr lang="en-US" sz="900"/>
          </a:p>
        </p:txBody>
      </p:sp>
      <p:pic>
        <p:nvPicPr>
          <p:cNvPr id="809438734" name="Image 8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3400" y="5204817"/>
            <a:ext cx="6275784" cy="766465"/>
          </a:xfrm>
          <a:prstGeom prst="rect">
            <a:avLst/>
          </a:prstGeom>
        </p:spPr>
      </p:pic>
      <p:pic>
        <p:nvPicPr>
          <p:cNvPr id="441130701" name="Image 9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76275" y="5328642"/>
            <a:ext cx="266700" cy="266700"/>
          </a:xfrm>
          <a:prstGeom prst="rect">
            <a:avLst/>
          </a:prstGeom>
        </p:spPr>
      </p:pic>
      <p:sp>
        <p:nvSpPr>
          <p:cNvPr id="737708261" name="Text 13"/>
          <p:cNvSpPr txBox="1"/>
          <p:nvPr/>
        </p:nvSpPr>
        <p:spPr bwMode="auto">
          <a:xfrm>
            <a:off x="735508" y="5385791"/>
            <a:ext cx="127853" cy="20074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  <a:defRPr/>
            </a:pPr>
            <a:r>
              <a:rPr lang="en-US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0</a:t>
            </a:r>
            <a:r>
              <a:rPr lang="de-DE" sz="900" b="1">
                <a:solidFill>
                  <a:srgbClr val="38BDF8"/>
                </a:solidFill>
                <a:latin typeface="Inter"/>
                <a:ea typeface="Inter"/>
                <a:cs typeface="Inter"/>
              </a:rPr>
              <a:t>3</a:t>
            </a:r>
            <a:endParaRPr lang="en-US" sz="900"/>
          </a:p>
        </p:txBody>
      </p:sp>
      <p:sp>
        <p:nvSpPr>
          <p:cNvPr id="302308025" name="Text 14"/>
          <p:cNvSpPr txBox="1"/>
          <p:nvPr/>
        </p:nvSpPr>
        <p:spPr bwMode="auto">
          <a:xfrm>
            <a:off x="1095375" y="5328642"/>
            <a:ext cx="557093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spcAft>
                <a:spcPts val="300"/>
              </a:spcAft>
              <a:buNone/>
              <a:defRPr/>
            </a:pPr>
            <a:r>
              <a:rPr lang="en-US" sz="1000" b="1" spc="-1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Correlation ID is game changer</a:t>
            </a:r>
            <a:endParaRPr lang="en-US" sz="1000"/>
          </a:p>
        </p:txBody>
      </p:sp>
      <p:sp>
        <p:nvSpPr>
          <p:cNvPr id="991159331" name="Text 15"/>
          <p:cNvSpPr txBox="1"/>
          <p:nvPr/>
        </p:nvSpPr>
        <p:spPr bwMode="auto">
          <a:xfrm>
            <a:off x="1095375" y="5527477"/>
            <a:ext cx="5570934" cy="31998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One header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X-Correlation-ID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=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51e9ef29-4528…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 ties order_created + request_completed. Without X-Ray, full trace in Logs Insights via </a:t>
            </a:r>
            <a:r>
              <a:rPr lang="en-US" sz="900" b="1">
                <a:solidFill>
                  <a:srgbClr val="EAEEF2"/>
                </a:solidFill>
                <a:latin typeface="Inter"/>
                <a:ea typeface="Inter"/>
                <a:cs typeface="Inter"/>
              </a:rPr>
              <a:t>filter correlation_id="demo-123"</a:t>
            </a:r>
            <a:r>
              <a:rPr lang="en-US" sz="900">
                <a:solidFill>
                  <a:srgbClr val="EAEEF3">
                    <a:alpha val="72000"/>
                  </a:srgbClr>
                </a:solidFill>
                <a:latin typeface="Inter"/>
                <a:ea typeface="Inter"/>
                <a:cs typeface="Inter"/>
              </a:rPr>
              <a:t>.</a:t>
            </a:r>
            <a:endParaRPr lang="en-US" sz="900"/>
          </a:p>
        </p:txBody>
      </p:sp>
      <p:pic>
        <p:nvPicPr>
          <p:cNvPr id="420986989" name="Image 10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13984" y="495300"/>
            <a:ext cx="4544616" cy="5867399"/>
          </a:xfrm>
          <a:prstGeom prst="rect">
            <a:avLst/>
          </a:prstGeom>
        </p:spPr>
      </p:pic>
      <p:pic>
        <p:nvPicPr>
          <p:cNvPr id="1298759790" name="Image 11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123509" y="504825"/>
            <a:ext cx="4525566" cy="5848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142829" name="Text 0"/>
          <p:cNvSpPr txBox="1"/>
          <p:nvPr/>
        </p:nvSpPr>
        <p:spPr bwMode="auto">
          <a:xfrm>
            <a:off x="533400" y="457200"/>
            <a:ext cx="11125200" cy="4256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3450" b="1" spc="-69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What Would I Do </a:t>
            </a:r>
            <a:r>
              <a:rPr lang="en-US" sz="3450" b="1" spc="-69">
                <a:solidFill>
                  <a:srgbClr val="67F4E2"/>
                </a:solidFill>
                <a:latin typeface="Inter"/>
                <a:ea typeface="Inter"/>
                <a:cs typeface="Inter"/>
              </a:rPr>
              <a:t>Differently?</a:t>
            </a:r>
            <a:endParaRPr lang="en-US" sz="3450"/>
          </a:p>
        </p:txBody>
      </p:sp>
      <p:pic>
        <p:nvPicPr>
          <p:cNvPr id="24815722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3400" y="1073348"/>
            <a:ext cx="5486400" cy="2587526"/>
          </a:xfrm>
          <a:prstGeom prst="rect">
            <a:avLst/>
          </a:prstGeom>
        </p:spPr>
      </p:pic>
      <p:sp>
        <p:nvSpPr>
          <p:cNvPr id="1041541578" name="Text 1"/>
          <p:cNvSpPr txBox="1"/>
          <p:nvPr/>
        </p:nvSpPr>
        <p:spPr bwMode="auto">
          <a:xfrm>
            <a:off x="752475" y="1273373"/>
            <a:ext cx="504825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01 — INSTRUMENTATION</a:t>
            </a:r>
            <a:endParaRPr lang="en-US" sz="850"/>
          </a:p>
        </p:txBody>
      </p:sp>
      <p:sp>
        <p:nvSpPr>
          <p:cNvPr id="711491210" name="Text 2"/>
          <p:cNvSpPr txBox="1"/>
          <p:nvPr/>
        </p:nvSpPr>
        <p:spPr bwMode="auto">
          <a:xfrm>
            <a:off x="752475" y="1494234"/>
            <a:ext cx="5048250" cy="19704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en-US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Use OpenTelemetry SDK, not manual boto3 put_metric_data</a:t>
            </a:r>
            <a:endParaRPr lang="en-US" sz="1350"/>
          </a:p>
        </p:txBody>
      </p:sp>
      <p:sp>
        <p:nvSpPr>
          <p:cNvPr id="1313056614" name="Text 3"/>
          <p:cNvSpPr txBox="1"/>
          <p:nvPr/>
        </p:nvSpPr>
        <p:spPr bwMode="auto">
          <a:xfrm>
            <a:off x="7524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en-US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Dimensions out of the box, context propagation, no try/except hand-rolled. OTEL → CloudWatch exporter keeps native but adds trace id.</a:t>
            </a:r>
            <a:endParaRPr lang="en-US" sz="1000"/>
          </a:p>
        </p:txBody>
      </p:sp>
      <p:pic>
        <p:nvPicPr>
          <p:cNvPr id="1452051950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172200" y="1073348"/>
            <a:ext cx="5486400" cy="2587526"/>
          </a:xfrm>
          <a:prstGeom prst="rect">
            <a:avLst/>
          </a:prstGeom>
        </p:spPr>
      </p:pic>
      <p:sp>
        <p:nvSpPr>
          <p:cNvPr id="1043547750" name="Text 5"/>
          <p:cNvSpPr txBox="1"/>
          <p:nvPr/>
        </p:nvSpPr>
        <p:spPr bwMode="auto">
          <a:xfrm>
            <a:off x="6391274" y="1273372"/>
            <a:ext cx="1426582" cy="13281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  <a:defRPr/>
            </a:pPr>
            <a:r>
              <a:rPr lang="en-US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02 — </a:t>
            </a:r>
            <a:r>
              <a:rPr lang="de-DE" sz="850" b="1" spc="99">
                <a:solidFill>
                  <a:srgbClr val="67F4E2"/>
                </a:solidFill>
                <a:latin typeface="Space Grotesk"/>
                <a:ea typeface="Space Grotesk"/>
                <a:cs typeface="Space Grotesk"/>
              </a:rPr>
              <a:t>USING GRAFANA </a:t>
            </a:r>
            <a:endParaRPr lang="en-US" sz="850"/>
          </a:p>
        </p:txBody>
      </p:sp>
      <p:sp>
        <p:nvSpPr>
          <p:cNvPr id="301536887" name="Text 6"/>
          <p:cNvSpPr txBox="1"/>
          <p:nvPr/>
        </p:nvSpPr>
        <p:spPr bwMode="auto">
          <a:xfrm>
            <a:off x="6391274" y="1494234"/>
            <a:ext cx="3468853" cy="2146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2"/>
              </a:lnSpc>
              <a:buNone/>
              <a:defRPr/>
            </a:pPr>
            <a:r>
              <a:rPr lang="de-DE" sz="1350" b="1" spc="-20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Using a third-parthy opensource dashboard</a:t>
            </a:r>
            <a:endParaRPr lang="en-US" sz="1350"/>
          </a:p>
        </p:txBody>
      </p:sp>
      <p:sp>
        <p:nvSpPr>
          <p:cNvPr id="1956537930" name="Text 7"/>
          <p:cNvSpPr txBox="1"/>
          <p:nvPr/>
        </p:nvSpPr>
        <p:spPr bwMode="auto">
          <a:xfrm>
            <a:off x="6391275" y="1796058"/>
            <a:ext cx="5048250" cy="34944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4"/>
              </a:lnSpc>
              <a:buNone/>
              <a:defRPr/>
            </a:pPr>
            <a:r>
              <a:rPr lang="de-DE" sz="1000">
                <a:solidFill>
                  <a:srgbClr val="EAEEF2">
                    <a:alpha val="76000"/>
                  </a:srgbClr>
                </a:solidFill>
                <a:latin typeface="Inter"/>
                <a:ea typeface="Inter"/>
                <a:cs typeface="Inter"/>
              </a:rPr>
              <a:t>It cloud be a good practice for multi-cloud environmet with no dependency on Cloudwatch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18162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767702" name="Text 0"/>
          <p:cNvSpPr txBox="1"/>
          <p:nvPr/>
        </p:nvSpPr>
        <p:spPr bwMode="auto">
          <a:xfrm>
            <a:off x="609600" y="1148358"/>
            <a:ext cx="10972800" cy="1140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Thank You </a:t>
            </a:r>
            <a:endParaRPr lang="en-US" sz="4800"/>
          </a:p>
          <a:p>
            <a:pPr marL="0" indent="0" algn="ctr">
              <a:buNone/>
              <a:defRPr/>
            </a:pPr>
            <a:endParaRPr lang="en-US" sz="4800" b="1" spc="-95">
              <a:solidFill>
                <a:srgbClr val="EAEEF2"/>
              </a:solidFill>
              <a:latin typeface="Space Grotesk"/>
              <a:ea typeface="Space Grotesk"/>
              <a:cs typeface="Space Grotesk"/>
            </a:endParaRPr>
          </a:p>
          <a:p>
            <a:pPr marL="0" indent="0" algn="ctr">
              <a:buNone/>
              <a:defRPr/>
            </a:pPr>
            <a:r>
              <a:rPr lang="en-US" sz="4800" b="1" spc="-95">
                <a:solidFill>
                  <a:srgbClr val="EAEEF2"/>
                </a:solidFill>
                <a:latin typeface="Space Grotesk"/>
                <a:ea typeface="Space Grotesk"/>
                <a:cs typeface="Space Grotesk"/>
              </a:rPr>
              <a:t> </a:t>
            </a:r>
            <a:r>
              <a:rPr lang="de-DE" sz="4800" b="1" spc="-95">
                <a:solidFill>
                  <a:srgbClr val="67F4E2"/>
                </a:solidFill>
                <a:latin typeface="Inter"/>
                <a:ea typeface="Inter"/>
                <a:cs typeface="Inter"/>
              </a:rPr>
              <a:t>Q&amp;A</a:t>
            </a:r>
            <a:endParaRPr lang="en-US" sz="4800"/>
          </a:p>
        </p:txBody>
      </p:sp>
      <p:sp>
        <p:nvSpPr>
          <p:cNvPr id="359305169" name="Shape 11"/>
          <p:cNvSpPr/>
          <p:nvPr/>
        </p:nvSpPr>
        <p:spPr bwMode="auto">
          <a:xfrm>
            <a:off x="1619250" y="5210175"/>
            <a:ext cx="8953500" cy="9525"/>
          </a:xfrm>
          <a:prstGeom prst="rect">
            <a:avLst/>
          </a:prstGeom>
          <a:solidFill>
            <a:srgbClr val="EBEBF5">
              <a:alpha val="10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Proj2-Observability-Deep-Dive</dc:title>
  <dc:subject>PptxGenJS Presentation</dc:subject>
  <dc:creator>PptxGenJS</dc:creator>
  <cp:lastModifiedBy/>
  <cp:revision>3</cp:revision>
  <dcterms:created xsi:type="dcterms:W3CDTF">2026-08-14T09:44:03Z</dcterms:created>
  <dcterms:modified xsi:type="dcterms:W3CDTF">2026-08-17T10:38:06Z</dcterms:modified>
</cp:coreProperties>
</file>