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30180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765506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92011065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4395416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5322217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743881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94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25383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1636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265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6977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5231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6723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5252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Test note</a:t>
            </a:r>
            <a:endParaRPr lang="en-US"/>
          </a:p>
        </p:txBody>
      </p:sp>
      <p:sp>
        <p:nvSpPr>
          <p:cNvPr id="690417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43400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6427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42426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C7331-0136-E50C-3B6B-53C18218AC2D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43842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57528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9975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1229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2065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95462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5008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449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1684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601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9517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9076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40776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24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06963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4847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2532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6607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586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4692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1826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54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4253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26045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293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37393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3848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Relationship Id="rId12" Type="http://schemas.openxmlformats.org/officeDocument/2006/relationships/image" Target="../media/image33.png"/><Relationship Id="rId13" Type="http://schemas.openxmlformats.org/officeDocument/2006/relationships/image" Target="../media/image34.pn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png"/><Relationship Id="rId18" Type="http://schemas.openxmlformats.org/officeDocument/2006/relationships/image" Target="../media/image39.png"/><Relationship Id="rId19" Type="http://schemas.openxmlformats.org/officeDocument/2006/relationships/image" Target="../media/image4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image" Target="../media/image53.png"/><Relationship Id="rId15" Type="http://schemas.openxmlformats.org/officeDocument/2006/relationships/image" Target="../media/image54.png"/><Relationship Id="rId16" Type="http://schemas.openxmlformats.org/officeDocument/2006/relationships/image" Target="../media/image55.png"/><Relationship Id="rId17" Type="http://schemas.openxmlformats.org/officeDocument/2006/relationships/image" Target="../media/image56.png"/><Relationship Id="rId18" Type="http://schemas.openxmlformats.org/officeDocument/2006/relationships/image" Target="../media/image57.png"/><Relationship Id="rId19" Type="http://schemas.openxmlformats.org/officeDocument/2006/relationships/image" Target="../media/image58.png"/><Relationship Id="rId20" Type="http://schemas.openxmlformats.org/officeDocument/2006/relationships/image" Target="../media/image59.png"/><Relationship Id="rId21" Type="http://schemas.openxmlformats.org/officeDocument/2006/relationships/image" Target="../media/image60.png"/><Relationship Id="rId22" Type="http://schemas.openxmlformats.org/officeDocument/2006/relationships/image" Target="../media/image61.png"/><Relationship Id="rId23" Type="http://schemas.openxmlformats.org/officeDocument/2006/relationships/image" Target="../media/image62.png"/><Relationship Id="rId24" Type="http://schemas.openxmlformats.org/officeDocument/2006/relationships/image" Target="../media/image6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Relationship Id="rId8" Type="http://schemas.openxmlformats.org/officeDocument/2006/relationships/image" Target="../media/image80.png"/><Relationship Id="rId9" Type="http://schemas.openxmlformats.org/officeDocument/2006/relationships/image" Target="../media/image81.png"/><Relationship Id="rId10" Type="http://schemas.openxmlformats.org/officeDocument/2006/relationships/image" Target="../media/image8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085484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6827490" cy="6858000"/>
          </a:xfrm>
          <a:prstGeom prst="rect">
            <a:avLst/>
          </a:prstGeom>
        </p:spPr>
      </p:pic>
      <p:sp>
        <p:nvSpPr>
          <p:cNvPr id="1103982102" name="Text 0"/>
          <p:cNvSpPr txBox="1"/>
          <p:nvPr/>
        </p:nvSpPr>
        <p:spPr bwMode="auto">
          <a:xfrm>
            <a:off x="0" y="0"/>
            <a:ext cx="6827491" cy="68580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987172948" name="Shape 1"/>
          <p:cNvSpPr/>
          <p:nvPr/>
        </p:nvSpPr>
        <p:spPr bwMode="auto">
          <a:xfrm>
            <a:off x="6829425" y="0"/>
            <a:ext cx="5362575" cy="6858000"/>
          </a:xfrm>
          <a:prstGeom prst="rect">
            <a:avLst/>
          </a:prstGeom>
          <a:solidFill>
            <a:srgbClr val="181622"/>
          </a:solidFill>
          <a:ln/>
        </p:spPr>
      </p:sp>
      <p:sp>
        <p:nvSpPr>
          <p:cNvPr id="374997968" name="Text 2"/>
          <p:cNvSpPr txBox="1"/>
          <p:nvPr/>
        </p:nvSpPr>
        <p:spPr bwMode="auto">
          <a:xfrm flipH="0" flipV="0">
            <a:off x="7284690" y="2313383"/>
            <a:ext cx="4432931" cy="36194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marR="0" indent="0" algn="l">
              <a:lnSpc>
                <a:spcPts val="1459"/>
              </a:lnSpc>
              <a:spcBef>
                <a:spcPts val="0"/>
              </a:spcBef>
              <a:spcAft>
                <a:spcPts val="1499"/>
              </a:spcAft>
              <a:buNone/>
              <a:defRPr/>
            </a:pP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Instrume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nted 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&amp; Monitored Cloud Service</a:t>
            </a:r>
            <a:endParaRPr sz="1400"/>
          </a:p>
        </p:txBody>
      </p:sp>
      <p:sp>
        <p:nvSpPr>
          <p:cNvPr id="1416254869" name="Text 3"/>
          <p:cNvSpPr txBox="1"/>
          <p:nvPr/>
        </p:nvSpPr>
        <p:spPr bwMode="auto">
          <a:xfrm>
            <a:off x="7284690" y="2865834"/>
            <a:ext cx="3704593" cy="113469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Observability</a:t>
            </a:r>
            <a:endParaRPr lang="en-US" sz="4800"/>
          </a:p>
          <a:p>
            <a:pPr marL="0" indent="0" algn="l">
              <a:lnSpc>
                <a:spcPts val="4800"/>
              </a:lnSpc>
              <a:buNone/>
              <a:defRPr/>
            </a:pP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Monitoring</a:t>
            </a:r>
            <a:endParaRPr lang="en-US" sz="4800"/>
          </a:p>
        </p:txBody>
      </p:sp>
      <p:pic>
        <p:nvPicPr>
          <p:cNvPr id="25585241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84690" y="4263628"/>
            <a:ext cx="1913186" cy="290513"/>
          </a:xfrm>
          <a:prstGeom prst="rect">
            <a:avLst/>
          </a:prstGeom>
        </p:spPr>
      </p:pic>
      <p:sp>
        <p:nvSpPr>
          <p:cNvPr id="62364659" name="Text 4"/>
          <p:cNvSpPr txBox="1"/>
          <p:nvPr/>
        </p:nvSpPr>
        <p:spPr bwMode="auto">
          <a:xfrm>
            <a:off x="7408514" y="4339827"/>
            <a:ext cx="1773236" cy="1580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defRPr/>
            </a:pP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Cloud Engineer</a:t>
            </a: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 / Ironhack</a:t>
            </a:r>
            <a:endParaRPr lang="de-DE" sz="850" b="1" i="0" u="none" strike="noStrike" cap="none" spc="136">
              <a:solidFill>
                <a:srgbClr val="67F4E2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pic>
        <p:nvPicPr>
          <p:cNvPr id="1363199995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312175" y="4263627"/>
            <a:ext cx="1869085" cy="290512"/>
          </a:xfrm>
          <a:prstGeom prst="rect">
            <a:avLst/>
          </a:prstGeom>
        </p:spPr>
      </p:pic>
      <p:sp>
        <p:nvSpPr>
          <p:cNvPr id="1398778243" name="Text 5"/>
          <p:cNvSpPr txBox="1"/>
          <p:nvPr/>
        </p:nvSpPr>
        <p:spPr bwMode="auto">
          <a:xfrm>
            <a:off x="9436000" y="4335065"/>
            <a:ext cx="1650776" cy="1724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de-DE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Faramarz Karamizadeh, Aug.2026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5187855" name="Text 0"/>
          <p:cNvSpPr txBox="1"/>
          <p:nvPr/>
        </p:nvSpPr>
        <p:spPr bwMode="auto">
          <a:xfrm>
            <a:off x="533399" y="533399"/>
            <a:ext cx="1757541" cy="49565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Agenda </a:t>
            </a:r>
            <a:endParaRPr lang="en-US" sz="3900"/>
          </a:p>
        </p:txBody>
      </p:sp>
      <p:pic>
        <p:nvPicPr>
          <p:cNvPr id="1534050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914525"/>
            <a:ext cx="7048500" cy="514350"/>
          </a:xfrm>
          <a:prstGeom prst="rect">
            <a:avLst/>
          </a:prstGeom>
        </p:spPr>
      </p:pic>
      <p:sp>
        <p:nvSpPr>
          <p:cNvPr id="1974308808" name="Text 1"/>
          <p:cNvSpPr txBox="1"/>
          <p:nvPr/>
        </p:nvSpPr>
        <p:spPr bwMode="auto">
          <a:xfrm>
            <a:off x="714375" y="2095499"/>
            <a:ext cx="73431" cy="16444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1</a:t>
            </a:r>
            <a:endParaRPr lang="en-US" sz="900"/>
          </a:p>
        </p:txBody>
      </p:sp>
      <p:sp>
        <p:nvSpPr>
          <p:cNvPr id="1190610241" name="Text 2"/>
          <p:cNvSpPr txBox="1"/>
          <p:nvPr/>
        </p:nvSpPr>
        <p:spPr bwMode="auto">
          <a:xfrm>
            <a:off x="1666875" y="20764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1. Architecture &amp; Instrumentation</a:t>
            </a:r>
            <a:endParaRPr lang="en-US" sz="1200"/>
          </a:p>
        </p:txBody>
      </p:sp>
      <p:pic>
        <p:nvPicPr>
          <p:cNvPr id="1597982780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2562225"/>
            <a:ext cx="7048500" cy="514350"/>
          </a:xfrm>
          <a:prstGeom prst="rect">
            <a:avLst/>
          </a:prstGeom>
        </p:spPr>
      </p:pic>
      <p:sp>
        <p:nvSpPr>
          <p:cNvPr id="1857229611" name="Text 4"/>
          <p:cNvSpPr txBox="1"/>
          <p:nvPr/>
        </p:nvSpPr>
        <p:spPr bwMode="auto">
          <a:xfrm>
            <a:off x="714375" y="2743200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2</a:t>
            </a:r>
            <a:endParaRPr lang="en-US" sz="900"/>
          </a:p>
        </p:txBody>
      </p:sp>
      <p:sp>
        <p:nvSpPr>
          <p:cNvPr id="1203154848" name="Text 5"/>
          <p:cNvSpPr txBox="1"/>
          <p:nvPr/>
        </p:nvSpPr>
        <p:spPr bwMode="auto">
          <a:xfrm>
            <a:off x="1666875" y="27241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2. Live Demo — Dashboard &amp; Monitoring</a:t>
            </a:r>
            <a:endParaRPr lang="en-US" sz="1200"/>
          </a:p>
        </p:txBody>
      </p:sp>
      <p:pic>
        <p:nvPicPr>
          <p:cNvPr id="46826117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400" y="3209925"/>
            <a:ext cx="7048500" cy="514350"/>
          </a:xfrm>
          <a:prstGeom prst="rect">
            <a:avLst/>
          </a:prstGeom>
        </p:spPr>
      </p:pic>
      <p:sp>
        <p:nvSpPr>
          <p:cNvPr id="1073037135" name="Text 7"/>
          <p:cNvSpPr txBox="1"/>
          <p:nvPr/>
        </p:nvSpPr>
        <p:spPr bwMode="auto">
          <a:xfrm>
            <a:off x="714375" y="33908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3</a:t>
            </a:r>
            <a:endParaRPr lang="en-US" sz="900"/>
          </a:p>
        </p:txBody>
      </p:sp>
      <p:sp>
        <p:nvSpPr>
          <p:cNvPr id="1655380821" name="Text 8"/>
          <p:cNvSpPr txBox="1"/>
          <p:nvPr/>
        </p:nvSpPr>
        <p:spPr bwMode="auto">
          <a:xfrm>
            <a:off x="1666875" y="33718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3. Incident Response Simulation</a:t>
            </a:r>
            <a:endParaRPr lang="en-US" sz="1200"/>
          </a:p>
        </p:txBody>
      </p:sp>
      <p:pic>
        <p:nvPicPr>
          <p:cNvPr id="1777907751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33400" y="3857625"/>
            <a:ext cx="7048500" cy="514350"/>
          </a:xfrm>
          <a:prstGeom prst="rect">
            <a:avLst/>
          </a:prstGeom>
        </p:spPr>
      </p:pic>
      <p:sp>
        <p:nvSpPr>
          <p:cNvPr id="675693236" name="Text 10"/>
          <p:cNvSpPr txBox="1"/>
          <p:nvPr/>
        </p:nvSpPr>
        <p:spPr bwMode="auto">
          <a:xfrm>
            <a:off x="714375" y="40385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4</a:t>
            </a:r>
            <a:endParaRPr lang="en-US" sz="900"/>
          </a:p>
        </p:txBody>
      </p:sp>
      <p:sp>
        <p:nvSpPr>
          <p:cNvPr id="1857350021" name="Text 11"/>
          <p:cNvSpPr txBox="1"/>
          <p:nvPr/>
        </p:nvSpPr>
        <p:spPr bwMode="auto">
          <a:xfrm>
            <a:off x="1666875" y="40195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4. Alerting &amp; Response</a:t>
            </a:r>
            <a:endParaRPr lang="en-US" sz="1200"/>
          </a:p>
        </p:txBody>
      </p:sp>
      <p:pic>
        <p:nvPicPr>
          <p:cNvPr id="1295238982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4505325"/>
            <a:ext cx="7048500" cy="514350"/>
          </a:xfrm>
          <a:prstGeom prst="rect">
            <a:avLst/>
          </a:prstGeom>
        </p:spPr>
      </p:pic>
      <p:sp>
        <p:nvSpPr>
          <p:cNvPr id="1917713560" name="Text 13"/>
          <p:cNvSpPr txBox="1"/>
          <p:nvPr/>
        </p:nvSpPr>
        <p:spPr bwMode="auto">
          <a:xfrm>
            <a:off x="714375" y="4686300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5</a:t>
            </a:r>
            <a:endParaRPr lang="en-US" sz="900"/>
          </a:p>
        </p:txBody>
      </p:sp>
      <p:sp>
        <p:nvSpPr>
          <p:cNvPr id="2083221882" name="Text 14"/>
          <p:cNvSpPr txBox="1"/>
          <p:nvPr/>
        </p:nvSpPr>
        <p:spPr bwMode="auto">
          <a:xfrm>
            <a:off x="1666875" y="46672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5. Learnings &amp; Improvements</a:t>
            </a:r>
            <a:endParaRPr lang="en-US" sz="1200"/>
          </a:p>
        </p:txBody>
      </p:sp>
      <p:pic>
        <p:nvPicPr>
          <p:cNvPr id="1422765395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533400" y="5153024"/>
            <a:ext cx="7048500" cy="514350"/>
          </a:xfrm>
          <a:prstGeom prst="rect">
            <a:avLst/>
          </a:prstGeom>
        </p:spPr>
      </p:pic>
      <p:sp>
        <p:nvSpPr>
          <p:cNvPr id="950390260" name="Text 16"/>
          <p:cNvSpPr txBox="1"/>
          <p:nvPr/>
        </p:nvSpPr>
        <p:spPr bwMode="auto">
          <a:xfrm>
            <a:off x="714375" y="53339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6</a:t>
            </a:r>
            <a:endParaRPr lang="en-US" sz="900"/>
          </a:p>
        </p:txBody>
      </p:sp>
      <p:sp>
        <p:nvSpPr>
          <p:cNvPr id="1716889157" name="Text 17"/>
          <p:cNvSpPr txBox="1"/>
          <p:nvPr/>
        </p:nvSpPr>
        <p:spPr bwMode="auto">
          <a:xfrm>
            <a:off x="1666874" y="5314949"/>
            <a:ext cx="508813" cy="2099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6. Q&amp;A </a:t>
            </a:r>
            <a:endParaRPr lang="en-US" sz="1200"/>
          </a:p>
        </p:txBody>
      </p:sp>
      <p:pic>
        <p:nvPicPr>
          <p:cNvPr id="1243244039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8039100" y="1257300"/>
            <a:ext cx="3619500" cy="5067300"/>
          </a:xfrm>
          <a:prstGeom prst="rect">
            <a:avLst/>
          </a:prstGeom>
        </p:spPr>
      </p:pic>
      <p:sp>
        <p:nvSpPr>
          <p:cNvPr id="585618759" name="Text 19"/>
          <p:cNvSpPr txBox="1"/>
          <p:nvPr/>
        </p:nvSpPr>
        <p:spPr bwMode="auto">
          <a:xfrm>
            <a:off x="8277224" y="2581423"/>
            <a:ext cx="1753882" cy="34362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1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6</a:t>
            </a: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 widgets</a:t>
            </a:r>
            <a:endParaRPr lang="en-US" sz="2700"/>
          </a:p>
        </p:txBody>
      </p:sp>
      <p:sp>
        <p:nvSpPr>
          <p:cNvPr id="466100602" name="Text 20"/>
          <p:cNvSpPr txBox="1"/>
          <p:nvPr/>
        </p:nvSpPr>
        <p:spPr bwMode="auto">
          <a:xfrm>
            <a:off x="8277225" y="2981474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 • Period 60s • SingleValue + Golden Signals + Correlation</a:t>
            </a:r>
            <a:endParaRPr lang="en-US" sz="900"/>
          </a:p>
        </p:txBody>
      </p:sp>
      <p:sp>
        <p:nvSpPr>
          <p:cNvPr id="1981412189" name="Shape 21"/>
          <p:cNvSpPr/>
          <p:nvPr/>
        </p:nvSpPr>
        <p:spPr bwMode="auto">
          <a:xfrm>
            <a:off x="8277225" y="344805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  <p:sp>
        <p:nvSpPr>
          <p:cNvPr id="135509323" name="Text 22"/>
          <p:cNvSpPr txBox="1"/>
          <p:nvPr/>
        </p:nvSpPr>
        <p:spPr bwMode="auto">
          <a:xfrm>
            <a:off x="8277224" y="3630960"/>
            <a:ext cx="2878179" cy="34793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5 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2700"/>
          </a:p>
        </p:txBody>
      </p:sp>
      <p:sp>
        <p:nvSpPr>
          <p:cNvPr id="2126721908" name="Text 23"/>
          <p:cNvSpPr txBox="1"/>
          <p:nvPr/>
        </p:nvSpPr>
        <p:spPr bwMode="auto">
          <a:xfrm>
            <a:off x="8277225" y="4031010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request_count • api_latency • error_count • orders_per_minute • order_value</a:t>
            </a:r>
            <a:endParaRPr lang="en-US" sz="900"/>
          </a:p>
        </p:txBody>
      </p:sp>
      <p:sp>
        <p:nvSpPr>
          <p:cNvPr id="1727217499" name="Shape 24"/>
          <p:cNvSpPr/>
          <p:nvPr/>
        </p:nvSpPr>
        <p:spPr bwMode="auto">
          <a:xfrm>
            <a:off x="8277225" y="449580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Bar dir="horz"/>
      </p:transition>
    </mc:Choice>
    <mc:Fallback>
      <p:transition spd="fast" advClick="1">
        <p:randomBar dir="horz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40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4308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0610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98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7229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154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26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3037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380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7907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693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7350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238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7713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3221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2765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390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6889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244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618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100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1412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509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6721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217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32277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42254" y="2052960"/>
            <a:ext cx="11507491" cy="4805038"/>
          </a:xfrm>
          <a:prstGeom prst="rect">
            <a:avLst/>
          </a:prstGeom>
        </p:spPr>
      </p:pic>
      <p:sp>
        <p:nvSpPr>
          <p:cNvPr id="1324815327" name="Text 0"/>
          <p:cNvSpPr txBox="1"/>
          <p:nvPr/>
        </p:nvSpPr>
        <p:spPr bwMode="auto">
          <a:xfrm>
            <a:off x="255972" y="24783"/>
            <a:ext cx="1536819" cy="8700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22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Architecture</a:t>
            </a:r>
            <a:endParaRPr sz="2200"/>
          </a:p>
          <a:p>
            <a:pPr marL="0" indent="0" algn="l">
              <a:lnSpc>
                <a:spcPts val="3600"/>
              </a:lnSpc>
              <a:buNone/>
              <a:defRPr/>
            </a:pPr>
            <a:endParaRPr lang="en-US" sz="3600"/>
          </a:p>
        </p:txBody>
      </p:sp>
      <p:pic>
        <p:nvPicPr>
          <p:cNvPr id="1861418617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397329" y="841826"/>
            <a:ext cx="3357800" cy="1111550"/>
          </a:xfrm>
          <a:prstGeom prst="rect">
            <a:avLst/>
          </a:prstGeom>
        </p:spPr>
      </p:pic>
      <p:sp>
        <p:nvSpPr>
          <p:cNvPr id="1451229824" name="Text 1"/>
          <p:cNvSpPr txBox="1"/>
          <p:nvPr/>
        </p:nvSpPr>
        <p:spPr bwMode="auto">
          <a:xfrm flipH="0" flipV="0">
            <a:off x="1465962" y="957513"/>
            <a:ext cx="310819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INSTANCE</a:t>
            </a:r>
            <a:endParaRPr lang="en-US" sz="850"/>
          </a:p>
        </p:txBody>
      </p:sp>
      <p:sp>
        <p:nvSpPr>
          <p:cNvPr id="281291991" name="Text 2"/>
          <p:cNvSpPr txBox="1"/>
          <p:nvPr/>
        </p:nvSpPr>
        <p:spPr bwMode="auto">
          <a:xfrm flipH="0" flipV="0">
            <a:off x="1465962" y="1168850"/>
            <a:ext cx="310819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i-01b</a:t>
            </a:r>
            <a:r>
              <a:rPr lang="de-DE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xxx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 myapp.service • Flask + Gunicorn 2 sync workers</a:t>
            </a:r>
            <a:r>
              <a:rPr lang="de-DE" sz="1050">
                <a:solidFill>
                  <a:schemeClr val="bg1"/>
                </a:solidFill>
              </a:rPr>
              <a:t>. Systemd service</a:t>
            </a:r>
            <a:endParaRPr lang="en-US" sz="1050"/>
          </a:p>
        </p:txBody>
      </p:sp>
      <p:pic>
        <p:nvPicPr>
          <p:cNvPr id="1646175095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268276" y="884315"/>
            <a:ext cx="3168843" cy="1069061"/>
          </a:xfrm>
          <a:prstGeom prst="rect">
            <a:avLst/>
          </a:prstGeom>
        </p:spPr>
      </p:pic>
      <p:sp>
        <p:nvSpPr>
          <p:cNvPr id="1203867388" name="Text 3"/>
          <p:cNvSpPr txBox="1"/>
          <p:nvPr/>
        </p:nvSpPr>
        <p:spPr bwMode="auto">
          <a:xfrm flipH="0" flipV="0">
            <a:off x="8322863" y="104624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LOGGING PIPELINE</a:t>
            </a:r>
            <a:endParaRPr lang="en-US" sz="850"/>
          </a:p>
        </p:txBody>
      </p:sp>
      <p:sp>
        <p:nvSpPr>
          <p:cNvPr id="1807994458" name="Text 4"/>
          <p:cNvSpPr txBox="1"/>
          <p:nvPr/>
        </p:nvSpPr>
        <p:spPr bwMode="auto">
          <a:xfrm flipH="0" flipV="0">
            <a:off x="8322863" y="1257576"/>
            <a:ext cx="293328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systemd StandardOutput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 JSON only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 • gunicorn-error.log • CWAgent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proj2-logs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log group</a:t>
            </a:r>
            <a:endParaRPr lang="en-US" sz="1050"/>
          </a:p>
        </p:txBody>
      </p:sp>
      <p:pic>
        <p:nvPicPr>
          <p:cNvPr id="510352535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939150" y="871735"/>
            <a:ext cx="3168843" cy="1081641"/>
          </a:xfrm>
          <a:prstGeom prst="rect">
            <a:avLst/>
          </a:prstGeom>
        </p:spPr>
      </p:pic>
      <p:sp>
        <p:nvSpPr>
          <p:cNvPr id="1439619424" name="Text 5"/>
          <p:cNvSpPr txBox="1"/>
          <p:nvPr/>
        </p:nvSpPr>
        <p:spPr bwMode="auto">
          <a:xfrm flipH="0" flipV="0">
            <a:off x="4993736" y="103366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METRICS</a:t>
            </a:r>
            <a:endParaRPr lang="en-US" sz="850"/>
          </a:p>
        </p:txBody>
      </p:sp>
      <p:sp>
        <p:nvSpPr>
          <p:cNvPr id="152557129" name="Text 6"/>
          <p:cNvSpPr txBox="1"/>
          <p:nvPr/>
        </p:nvSpPr>
        <p:spPr bwMode="auto">
          <a:xfrm flipH="0" flipV="0">
            <a:off x="4993736" y="1244996"/>
            <a:ext cx="293328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Namespaces: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Proj2/MyApp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(custom) + CWAgent (mem/disk) + AWS/EC2 (CPU/Network) • boto3 put_metric_data • period 60s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418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1229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29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35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619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57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6175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867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994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3227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052774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3515" y="745566"/>
            <a:ext cx="2949677" cy="6112433"/>
          </a:xfrm>
          <a:prstGeom prst="rect">
            <a:avLst/>
          </a:prstGeom>
        </p:spPr>
      </p:pic>
      <p:sp>
        <p:nvSpPr>
          <p:cNvPr id="413373103" name="TextBox 1"/>
          <p:cNvSpPr txBox="1"/>
          <p:nvPr/>
        </p:nvSpPr>
        <p:spPr bwMode="auto">
          <a:xfrm>
            <a:off x="457200" y="44166"/>
            <a:ext cx="10987919" cy="701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AEEF2"/>
                </a:solidFill>
                <a:latin typeface="Space Grotesk"/>
              </a:defRPr>
            </a:pPr>
            <a:r>
              <a:rPr/>
              <a:t>Project Highlights</a:t>
            </a:r>
            <a:endParaRPr/>
          </a:p>
          <a:p>
            <a:pPr>
              <a:defRPr sz="2800" b="1">
                <a:solidFill>
                  <a:srgbClr val="EAEEF2"/>
                </a:solidFill>
                <a:latin typeface="Space Grotesk"/>
              </a:defRPr>
            </a:pPr>
            <a:r>
              <a:rPr/>
              <a:t> </a:t>
            </a:r>
            <a:r>
              <a:rPr sz="1200">
                <a:solidFill>
                  <a:srgbClr val="67F4E2"/>
                </a:solidFill>
              </a:rPr>
              <a:t>  100% IaC • Terraform + Ansible </a:t>
            </a:r>
            <a:endParaRPr/>
          </a:p>
        </p:txBody>
      </p:sp>
      <p:sp>
        <p:nvSpPr>
          <p:cNvPr id="1280774865" name="Rectangle 2"/>
          <p:cNvSpPr/>
          <p:nvPr/>
        </p:nvSpPr>
        <p:spPr bwMode="auto">
          <a:xfrm flipH="0" flipV="0">
            <a:off x="4202466" y="128356"/>
            <a:ext cx="3474720" cy="1134455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Infra as Code 100%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Terraform</a:t>
            </a:r>
            <a:r>
              <a:rPr lang="de-DE"/>
              <a:t> modular</a:t>
            </a:r>
            <a:r>
              <a:rPr/>
              <a:t> + Ansible full stack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VPC, EC2 i-01b04296, SG, IAM-role, CWAgent</a:t>
            </a:r>
            <a:r>
              <a:rPr lang="de-DE"/>
              <a:t> configs</a:t>
            </a:r>
            <a:r>
              <a:rPr/>
              <a:t>, myapp.service. Reproducible.</a:t>
            </a:r>
            <a:endParaRPr/>
          </a:p>
        </p:txBody>
      </p:sp>
      <p:sp>
        <p:nvSpPr>
          <p:cNvPr id="1921641251" name="Rectangle 3"/>
          <p:cNvSpPr/>
          <p:nvPr/>
        </p:nvSpPr>
        <p:spPr bwMode="auto">
          <a:xfrm flipH="0" flipV="0">
            <a:off x="4206240" y="1376778"/>
            <a:ext cx="3474720" cy="126802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5 Custom Metrics [Business]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orders_per_minute + order_value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request_count api_latency error_count + biz orders_per_minute order_value via boto3.</a:t>
            </a:r>
            <a:endParaRPr/>
          </a:p>
        </p:txBody>
      </p:sp>
      <p:sp>
        <p:nvSpPr>
          <p:cNvPr id="285417814" name="Rectangle 4"/>
          <p:cNvSpPr/>
          <p:nvPr/>
        </p:nvSpPr>
        <p:spPr bwMode="auto">
          <a:xfrm flipH="0" flipV="0">
            <a:off x="8556369" y="683210"/>
            <a:ext cx="3474720" cy="111081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Memory Anomaly</a:t>
            </a:r>
            <a:r>
              <a:rPr lang="de-DE"/>
              <a:t> alarm and dashboard</a:t>
            </a:r>
            <a:r>
              <a:rPr/>
              <a:t> [USE]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mem_used_percent detection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Infra saturation signal from CWAgent. SingleValue widget + anomaly band vs latency.</a:t>
            </a:r>
            <a:endParaRPr/>
          </a:p>
        </p:txBody>
      </p:sp>
      <p:sp>
        <p:nvSpPr>
          <p:cNvPr id="1756044410" name="Rectangle 5"/>
          <p:cNvSpPr/>
          <p:nvPr/>
        </p:nvSpPr>
        <p:spPr bwMode="auto">
          <a:xfrm flipH="0" flipV="0">
            <a:off x="8548825" y="4790241"/>
            <a:ext cx="3474720" cy="12996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Correlation Dashboard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Latency vs Traffic vs Errors vs CPU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One view: P95 latency ↔ request_count ↔ error_count ↔ CPU. Golden + USE.</a:t>
            </a:r>
            <a:endParaRPr/>
          </a:p>
        </p:txBody>
      </p:sp>
      <p:sp>
        <p:nvSpPr>
          <p:cNvPr id="767097795" name="Rectangle 6"/>
          <p:cNvSpPr/>
          <p:nvPr/>
        </p:nvSpPr>
        <p:spPr bwMode="auto">
          <a:xfrm flipH="0" flipV="0">
            <a:off x="4206240" y="2792544"/>
            <a:ext cx="3474720" cy="11944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6 Warn / Critical</a:t>
            </a:r>
            <a:r>
              <a:rPr/>
              <a:t> Alarms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high-error, high-latency, no-traffic, high-cpu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&gt;5 errors /2x60s, P95 &gt;800ms, no traffic 5m, cpu &gt;85% → SNS proj2-alerts.</a:t>
            </a:r>
            <a:endParaRPr/>
          </a:p>
        </p:txBody>
      </p:sp>
      <p:sp>
        <p:nvSpPr>
          <p:cNvPr id="2097730900" name="Rectangle 7"/>
          <p:cNvSpPr/>
          <p:nvPr/>
        </p:nvSpPr>
        <p:spPr bwMode="auto">
          <a:xfrm flipH="0" flipV="0">
            <a:off x="8556369" y="1914024"/>
            <a:ext cx="3474720" cy="119315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Golden signals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 lang="de-DE"/>
              <a:t>Traffic</a:t>
            </a:r>
            <a:r>
              <a:rPr/>
              <a:t>→ </a:t>
            </a:r>
            <a:r>
              <a:rPr lang="de-DE"/>
              <a:t>Error</a:t>
            </a:r>
            <a:r>
              <a:rPr/>
              <a:t>→ </a:t>
            </a:r>
            <a:r>
              <a:rPr lang="de-DE"/>
              <a:t>Latency</a:t>
            </a:r>
            <a:r>
              <a:rPr/>
              <a:t>→ </a:t>
            </a:r>
            <a:r>
              <a:rPr lang="de-DE"/>
              <a:t>Saturation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EC2 → Gunicorn → Flask → CWAgent → CloudWatch - full traceability</a:t>
            </a:r>
            <a:endParaRPr/>
          </a:p>
        </p:txBody>
      </p:sp>
      <p:sp>
        <p:nvSpPr>
          <p:cNvPr id="667671514" name="Rectangle 8"/>
          <p:cNvSpPr/>
          <p:nvPr/>
        </p:nvSpPr>
        <p:spPr bwMode="auto">
          <a:xfrm flipH="0" flipV="0">
            <a:off x="4202466" y="5456733"/>
            <a:ext cx="3474720" cy="126625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Custom Widgets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SingleValue + USE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 Rate, Duration, Errors, Saturation unified.</a:t>
            </a:r>
            <a:endParaRPr/>
          </a:p>
        </p:txBody>
      </p:sp>
      <p:sp>
        <p:nvSpPr>
          <p:cNvPr id="1176312906" name="Rectangle 9"/>
          <p:cNvSpPr/>
          <p:nvPr/>
        </p:nvSpPr>
        <p:spPr bwMode="auto">
          <a:xfrm flipH="0" flipV="0">
            <a:off x="4206240" y="4115835"/>
            <a:ext cx="3474720" cy="122926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Structured Logging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correlation_id • level • latency_ms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structlog JSON → 20+ fields. X-Corr-ID 51e9ef29 → filter correlation_id='demo-123'.</a:t>
            </a:r>
            <a:endParaRPr/>
          </a:p>
        </p:txBody>
      </p:sp>
      <p:sp>
        <p:nvSpPr>
          <p:cNvPr id="351822082" name="Rectangle 9"/>
          <p:cNvSpPr/>
          <p:nvPr/>
        </p:nvSpPr>
        <p:spPr bwMode="auto">
          <a:xfrm flipH="0" flipV="0">
            <a:off x="8556369" y="3452968"/>
            <a:ext cx="3474720" cy="1217054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AEEF2"/>
                </a:solidFill>
              </a:defRPr>
            </a:pPr>
            <a:r>
              <a:rPr lang="en-US" sz="900" b="1" i="0" u="none" strike="noStrike" cap="none" spc="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Composite alarms </a:t>
            </a:r>
            <a:endParaRPr/>
          </a:p>
          <a:p>
            <a:pPr marL="0" marR="0" indent="0" algn="ctr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1200" b="1" i="0" u="none" strike="noStrike" cap="none" spc="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combining multiple conditions</a:t>
            </a:r>
            <a:endParaRPr lang="en-US" sz="1200" b="1" i="0" u="none" strike="noStrike" cap="none" spc="0">
              <a:solidFill>
                <a:srgbClr val="EAEEF2"/>
              </a:solidFill>
              <a:latin typeface="Times New Roman"/>
              <a:cs typeface="Times New Roman"/>
            </a:endParaRPr>
          </a:p>
          <a:p>
            <a:pPr marL="0" marR="0" indent="0" algn="ctr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mem-use-anomaly-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detection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&amp; 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high-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latency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774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527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64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097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312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67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417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7730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822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6044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981120" name="Text 0"/>
          <p:cNvSpPr txBox="1"/>
          <p:nvPr/>
        </p:nvSpPr>
        <p:spPr bwMode="auto">
          <a:xfrm>
            <a:off x="533400" y="1418332"/>
            <a:ext cx="11125200" cy="95041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Custom Metrics — </a:t>
            </a:r>
            <a:r>
              <a:rPr lang="en-US" sz="3900" b="1" spc="-77">
                <a:solidFill>
                  <a:srgbClr val="67F4E2"/>
                </a:solidFill>
                <a:latin typeface="Inter"/>
                <a:ea typeface="Inter"/>
                <a:cs typeface="Inter"/>
              </a:rPr>
              <a:t>5 signals</a:t>
            </a: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via boto3 put_metric_data</a:t>
            </a:r>
            <a:endParaRPr lang="en-US" sz="3900"/>
          </a:p>
        </p:txBody>
      </p:sp>
      <p:pic>
        <p:nvPicPr>
          <p:cNvPr id="14541787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635448"/>
            <a:ext cx="3619500" cy="1167705"/>
          </a:xfrm>
          <a:prstGeom prst="rect">
            <a:avLst/>
          </a:prstGeom>
        </p:spPr>
      </p:pic>
      <p:sp>
        <p:nvSpPr>
          <p:cNvPr id="1248840091" name="Text 1"/>
          <p:cNvSpPr txBox="1"/>
          <p:nvPr/>
        </p:nvSpPr>
        <p:spPr bwMode="auto">
          <a:xfrm>
            <a:off x="8572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request_count</a:t>
            </a:r>
            <a:endParaRPr lang="en-US" sz="1150"/>
          </a:p>
        </p:txBody>
      </p:sp>
      <p:pic>
        <p:nvPicPr>
          <p:cNvPr id="111744172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871192"/>
            <a:ext cx="66675" cy="66675"/>
          </a:xfrm>
          <a:prstGeom prst="rect">
            <a:avLst/>
          </a:prstGeom>
        </p:spPr>
      </p:pic>
      <p:sp>
        <p:nvSpPr>
          <p:cNvPr id="324119865" name="Text 2"/>
          <p:cNvSpPr txBox="1"/>
          <p:nvPr/>
        </p:nvSpPr>
        <p:spPr bwMode="auto">
          <a:xfrm>
            <a:off x="7143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644253918" name="Text 3"/>
          <p:cNvSpPr txBox="1"/>
          <p:nvPr/>
        </p:nvSpPr>
        <p:spPr bwMode="auto">
          <a:xfrm>
            <a:off x="7143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after_request</a:t>
            </a:r>
            <a:endParaRPr lang="en-US" sz="850"/>
          </a:p>
        </p:txBody>
      </p:sp>
      <p:sp>
        <p:nvSpPr>
          <p:cNvPr id="7412150" name="Text 4"/>
          <p:cNvSpPr txBox="1"/>
          <p:nvPr/>
        </p:nvSpPr>
        <p:spPr bwMode="auto">
          <a:xfrm>
            <a:off x="7143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Every request increments. Fuels Rate &amp; health. Never rely on ALB logs.</a:t>
            </a:r>
            <a:endParaRPr lang="en-US" sz="900"/>
          </a:p>
        </p:txBody>
      </p:sp>
      <p:pic>
        <p:nvPicPr>
          <p:cNvPr id="1516019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286250" y="2635448"/>
            <a:ext cx="3619500" cy="1167705"/>
          </a:xfrm>
          <a:prstGeom prst="rect">
            <a:avLst/>
          </a:prstGeom>
        </p:spPr>
      </p:pic>
      <p:sp>
        <p:nvSpPr>
          <p:cNvPr id="2028711291" name="Text 5"/>
          <p:cNvSpPr txBox="1"/>
          <p:nvPr/>
        </p:nvSpPr>
        <p:spPr bwMode="auto">
          <a:xfrm>
            <a:off x="461010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api_latency</a:t>
            </a:r>
            <a:endParaRPr lang="en-US" sz="1150"/>
          </a:p>
        </p:txBody>
      </p:sp>
      <p:pic>
        <p:nvPicPr>
          <p:cNvPr id="143419637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467225" y="2871192"/>
            <a:ext cx="66675" cy="66675"/>
          </a:xfrm>
          <a:prstGeom prst="rect">
            <a:avLst/>
          </a:prstGeom>
        </p:spPr>
      </p:pic>
      <p:sp>
        <p:nvSpPr>
          <p:cNvPr id="666454656" name="Text 6"/>
          <p:cNvSpPr txBox="1"/>
          <p:nvPr/>
        </p:nvSpPr>
        <p:spPr bwMode="auto">
          <a:xfrm>
            <a:off x="446722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567744394" name="Text 7"/>
          <p:cNvSpPr txBox="1"/>
          <p:nvPr/>
        </p:nvSpPr>
        <p:spPr bwMode="auto">
          <a:xfrm>
            <a:off x="446722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MILLISECONDS • Avg/Max/P95</a:t>
            </a:r>
            <a:endParaRPr lang="en-US" sz="850"/>
          </a:p>
        </p:txBody>
      </p:sp>
      <p:sp>
        <p:nvSpPr>
          <p:cNvPr id="433442660" name="Text 8"/>
          <p:cNvSpPr txBox="1"/>
          <p:nvPr/>
        </p:nvSpPr>
        <p:spPr bwMode="auto">
          <a:xfrm>
            <a:off x="4467225" y="3321248"/>
            <a:ext cx="3257550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latency_ms = (now - g.start)*1000. Duration golden signal.</a:t>
            </a:r>
            <a:endParaRPr lang="en-US" sz="900"/>
          </a:p>
        </p:txBody>
      </p:sp>
      <p:pic>
        <p:nvPicPr>
          <p:cNvPr id="1270494219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039100" y="2635448"/>
            <a:ext cx="3619500" cy="1167705"/>
          </a:xfrm>
          <a:prstGeom prst="rect">
            <a:avLst/>
          </a:prstGeom>
        </p:spPr>
      </p:pic>
      <p:sp>
        <p:nvSpPr>
          <p:cNvPr id="1320203385" name="Text 9"/>
          <p:cNvSpPr txBox="1"/>
          <p:nvPr/>
        </p:nvSpPr>
        <p:spPr bwMode="auto">
          <a:xfrm>
            <a:off x="83629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error_count</a:t>
            </a:r>
            <a:endParaRPr lang="en-US" sz="1150"/>
          </a:p>
        </p:txBody>
      </p:sp>
      <p:pic>
        <p:nvPicPr>
          <p:cNvPr id="1746258718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220075" y="2871192"/>
            <a:ext cx="66675" cy="66675"/>
          </a:xfrm>
          <a:prstGeom prst="rect">
            <a:avLst/>
          </a:prstGeom>
        </p:spPr>
      </p:pic>
      <p:sp>
        <p:nvSpPr>
          <p:cNvPr id="1052691593" name="Text 10"/>
          <p:cNvSpPr txBox="1"/>
          <p:nvPr/>
        </p:nvSpPr>
        <p:spPr bwMode="auto">
          <a:xfrm>
            <a:off x="82200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240064298" name="Text 11"/>
          <p:cNvSpPr txBox="1"/>
          <p:nvPr/>
        </p:nvSpPr>
        <p:spPr bwMode="auto">
          <a:xfrm>
            <a:off x="82200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if status &gt;=400</a:t>
            </a:r>
            <a:endParaRPr lang="en-US" sz="850"/>
          </a:p>
        </p:txBody>
      </p:sp>
      <p:sp>
        <p:nvSpPr>
          <p:cNvPr id="2098267253" name="Text 12"/>
          <p:cNvSpPr txBox="1"/>
          <p:nvPr/>
        </p:nvSpPr>
        <p:spPr bwMode="auto">
          <a:xfrm>
            <a:off x="82200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Errors golden signal. Triggers high-error alarm when &gt;5 in 2x60s.</a:t>
            </a:r>
            <a:endParaRPr lang="en-US" sz="900"/>
          </a:p>
        </p:txBody>
      </p:sp>
      <p:pic>
        <p:nvPicPr>
          <p:cNvPr id="1460131383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33400" y="4069854"/>
            <a:ext cx="5495925" cy="736253"/>
          </a:xfrm>
          <a:prstGeom prst="rect">
            <a:avLst/>
          </a:prstGeom>
        </p:spPr>
      </p:pic>
      <p:sp>
        <p:nvSpPr>
          <p:cNvPr id="36740409" name="Text 13"/>
          <p:cNvSpPr txBox="1"/>
          <p:nvPr/>
        </p:nvSpPr>
        <p:spPr bwMode="auto">
          <a:xfrm>
            <a:off x="714375" y="4241304"/>
            <a:ext cx="2353717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orders_per_minute</a:t>
            </a:r>
            <a:endParaRPr lang="en-US" sz="1150"/>
          </a:p>
        </p:txBody>
      </p:sp>
      <p:sp>
        <p:nvSpPr>
          <p:cNvPr id="470064925" name="Text 14"/>
          <p:cNvSpPr txBox="1"/>
          <p:nvPr/>
        </p:nvSpPr>
        <p:spPr bwMode="auto">
          <a:xfrm>
            <a:off x="714375" y="4484191"/>
            <a:ext cx="2353717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Business saturation signal. Sum per minute.</a:t>
            </a:r>
            <a:endParaRPr lang="en-US" sz="900"/>
          </a:p>
        </p:txBody>
      </p:sp>
      <p:sp>
        <p:nvSpPr>
          <p:cNvPr id="1478320677" name="Text 15"/>
          <p:cNvSpPr txBox="1"/>
          <p:nvPr/>
        </p:nvSpPr>
        <p:spPr bwMode="auto">
          <a:xfrm>
            <a:off x="5258692" y="4368850"/>
            <a:ext cx="589657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BUSINESS</a:t>
            </a:r>
            <a:endParaRPr lang="en-US" sz="850"/>
          </a:p>
        </p:txBody>
      </p:sp>
      <p:pic>
        <p:nvPicPr>
          <p:cNvPr id="271075674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6162675" y="4069854"/>
            <a:ext cx="5495925" cy="736253"/>
          </a:xfrm>
          <a:prstGeom prst="rect">
            <a:avLst/>
          </a:prstGeom>
        </p:spPr>
      </p:pic>
      <p:sp>
        <p:nvSpPr>
          <p:cNvPr id="1046149120" name="Text 16"/>
          <p:cNvSpPr txBox="1"/>
          <p:nvPr/>
        </p:nvSpPr>
        <p:spPr bwMode="auto">
          <a:xfrm>
            <a:off x="6343650" y="4241304"/>
            <a:ext cx="2486769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order_value</a:t>
            </a:r>
            <a:endParaRPr lang="en-US" sz="1150"/>
          </a:p>
        </p:txBody>
      </p:sp>
      <p:sp>
        <p:nvSpPr>
          <p:cNvPr id="509778607" name="Text 17"/>
          <p:cNvSpPr txBox="1"/>
          <p:nvPr/>
        </p:nvSpPr>
        <p:spPr bwMode="auto">
          <a:xfrm>
            <a:off x="6343650" y="4484191"/>
            <a:ext cx="2486769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Amount metric. Tracks revenue proxy, no unit.</a:t>
            </a:r>
            <a:endParaRPr lang="en-US" sz="900"/>
          </a:p>
        </p:txBody>
      </p:sp>
      <p:sp>
        <p:nvSpPr>
          <p:cNvPr id="1534253061" name="Text 18"/>
          <p:cNvSpPr txBox="1"/>
          <p:nvPr/>
        </p:nvSpPr>
        <p:spPr bwMode="auto">
          <a:xfrm>
            <a:off x="11174611" y="4368850"/>
            <a:ext cx="30301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None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840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7441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119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4253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2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60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87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9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454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744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442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0494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0203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258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691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064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8267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0131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40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064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320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075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149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778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4253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514437" name="Text 0"/>
          <p:cNvSpPr txBox="1"/>
          <p:nvPr/>
        </p:nvSpPr>
        <p:spPr bwMode="auto">
          <a:xfrm>
            <a:off x="533399" y="457200"/>
            <a:ext cx="6602931" cy="42600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Alerting — </a:t>
            </a:r>
            <a:r>
              <a:rPr lang="de-DE" sz="3450" b="1" spc="-68">
                <a:solidFill>
                  <a:srgbClr val="67F4E2"/>
                </a:solidFill>
                <a:latin typeface="Inter"/>
                <a:ea typeface="Inter"/>
                <a:cs typeface="Inter"/>
              </a:rPr>
              <a:t>6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 Alarms</a:t>
            </a: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CloudWatch</a:t>
            </a:r>
            <a:endParaRPr lang="en-US" sz="3450"/>
          </a:p>
        </p:txBody>
      </p:sp>
      <p:pic>
        <p:nvPicPr>
          <p:cNvPr id="165940609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599009"/>
            <a:ext cx="5495925" cy="1257151"/>
          </a:xfrm>
          <a:prstGeom prst="rect">
            <a:avLst/>
          </a:prstGeom>
        </p:spPr>
      </p:pic>
      <p:sp>
        <p:nvSpPr>
          <p:cNvPr id="346749435" name="Text 2"/>
          <p:cNvSpPr txBox="1"/>
          <p:nvPr/>
        </p:nvSpPr>
        <p:spPr bwMode="auto">
          <a:xfrm>
            <a:off x="542925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046299860" name="Text 3"/>
          <p:cNvSpPr txBox="1"/>
          <p:nvPr/>
        </p:nvSpPr>
        <p:spPr bwMode="auto">
          <a:xfrm>
            <a:off x="714375" y="1760933"/>
            <a:ext cx="538142" cy="1413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error-rate</a:t>
            </a:r>
            <a:endParaRPr lang="en-US" sz="900"/>
          </a:p>
        </p:txBody>
      </p:sp>
      <p:sp>
        <p:nvSpPr>
          <p:cNvPr id="701136704" name="Text 4"/>
          <p:cNvSpPr txBox="1"/>
          <p:nvPr/>
        </p:nvSpPr>
        <p:spPr bwMode="auto">
          <a:xfrm>
            <a:off x="714375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error_count • Sum &gt;5 • 2 periods of 60s</a:t>
            </a:r>
            <a:endParaRPr lang="en-US" sz="850"/>
          </a:p>
        </p:txBody>
      </p:sp>
      <p:pic>
        <p:nvPicPr>
          <p:cNvPr id="1857774326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226618"/>
            <a:ext cx="657671" cy="238125"/>
          </a:xfrm>
          <a:prstGeom prst="rect">
            <a:avLst/>
          </a:prstGeom>
        </p:spPr>
      </p:pic>
      <p:sp>
        <p:nvSpPr>
          <p:cNvPr id="452731647" name="Text 5"/>
          <p:cNvSpPr txBox="1"/>
          <p:nvPr/>
        </p:nvSpPr>
        <p:spPr bwMode="auto">
          <a:xfrm>
            <a:off x="800100" y="2283768"/>
            <a:ext cx="48622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Errors</a:t>
            </a:r>
            <a:endParaRPr lang="en-US" sz="750"/>
          </a:p>
        </p:txBody>
      </p:sp>
      <p:pic>
        <p:nvPicPr>
          <p:cNvPr id="1581634341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448246" y="2226618"/>
            <a:ext cx="576560" cy="238125"/>
          </a:xfrm>
          <a:prstGeom prst="rect">
            <a:avLst/>
          </a:prstGeom>
        </p:spPr>
      </p:pic>
      <p:sp>
        <p:nvSpPr>
          <p:cNvPr id="1129833728" name="Text 6"/>
          <p:cNvSpPr txBox="1"/>
          <p:nvPr/>
        </p:nvSpPr>
        <p:spPr bwMode="auto">
          <a:xfrm>
            <a:off x="1533971" y="2283768"/>
            <a:ext cx="40511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Stat Sum</a:t>
            </a:r>
            <a:endParaRPr lang="en-US" sz="750"/>
          </a:p>
        </p:txBody>
      </p:sp>
      <p:pic>
        <p:nvPicPr>
          <p:cNvPr id="20278169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101007" y="2226618"/>
            <a:ext cx="1569541" cy="238125"/>
          </a:xfrm>
          <a:prstGeom prst="rect">
            <a:avLst/>
          </a:prstGeom>
        </p:spPr>
      </p:pic>
      <p:sp>
        <p:nvSpPr>
          <p:cNvPr id="295217874" name="Text 7"/>
          <p:cNvSpPr txBox="1"/>
          <p:nvPr/>
        </p:nvSpPr>
        <p:spPr bwMode="auto">
          <a:xfrm>
            <a:off x="2186732" y="2283768"/>
            <a:ext cx="139809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Treat missing as not-breaching</a:t>
            </a:r>
            <a:endParaRPr lang="en-US" sz="750"/>
          </a:p>
        </p:txBody>
      </p:sp>
      <p:pic>
        <p:nvPicPr>
          <p:cNvPr id="2032402814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162675" y="1599009"/>
            <a:ext cx="5495925" cy="1257151"/>
          </a:xfrm>
          <a:prstGeom prst="rect">
            <a:avLst/>
          </a:prstGeom>
        </p:spPr>
      </p:pic>
      <p:sp>
        <p:nvSpPr>
          <p:cNvPr id="1276550942" name="Text 9"/>
          <p:cNvSpPr txBox="1"/>
          <p:nvPr/>
        </p:nvSpPr>
        <p:spPr bwMode="auto">
          <a:xfrm>
            <a:off x="6172200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569266625" name="Text 10"/>
          <p:cNvSpPr txBox="1"/>
          <p:nvPr/>
        </p:nvSpPr>
        <p:spPr bwMode="auto">
          <a:xfrm>
            <a:off x="6343650" y="1760933"/>
            <a:ext cx="410619" cy="1417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latency</a:t>
            </a:r>
            <a:endParaRPr lang="en-US" sz="900"/>
          </a:p>
        </p:txBody>
      </p:sp>
      <p:sp>
        <p:nvSpPr>
          <p:cNvPr id="1194746160" name="Text 11"/>
          <p:cNvSpPr txBox="1"/>
          <p:nvPr/>
        </p:nvSpPr>
        <p:spPr bwMode="auto">
          <a:xfrm>
            <a:off x="6343650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api_latency • Average &gt;500ms • 2 periods</a:t>
            </a:r>
            <a:endParaRPr lang="en-US" sz="850"/>
          </a:p>
        </p:txBody>
      </p:sp>
      <p:pic>
        <p:nvPicPr>
          <p:cNvPr id="1954353136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343650" y="2226618"/>
            <a:ext cx="767655" cy="238125"/>
          </a:xfrm>
          <a:prstGeom prst="rect">
            <a:avLst/>
          </a:prstGeom>
        </p:spPr>
      </p:pic>
      <p:sp>
        <p:nvSpPr>
          <p:cNvPr id="1149829385" name="Text 12"/>
          <p:cNvSpPr txBox="1"/>
          <p:nvPr/>
        </p:nvSpPr>
        <p:spPr bwMode="auto">
          <a:xfrm>
            <a:off x="6429375" y="2283768"/>
            <a:ext cx="596205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Duration</a:t>
            </a:r>
            <a:endParaRPr lang="en-US" sz="750"/>
          </a:p>
        </p:txBody>
      </p:sp>
      <p:pic>
        <p:nvPicPr>
          <p:cNvPr id="305929721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87505" y="2226618"/>
            <a:ext cx="340816" cy="238125"/>
          </a:xfrm>
          <a:prstGeom prst="rect">
            <a:avLst/>
          </a:prstGeom>
        </p:spPr>
      </p:pic>
      <p:sp>
        <p:nvSpPr>
          <p:cNvPr id="1154913561" name="Text 13"/>
          <p:cNvSpPr txBox="1"/>
          <p:nvPr/>
        </p:nvSpPr>
        <p:spPr bwMode="auto">
          <a:xfrm>
            <a:off x="7273230" y="2283768"/>
            <a:ext cx="16936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</a:t>
            </a:r>
            <a:endParaRPr lang="en-US" sz="750"/>
          </a:p>
        </p:txBody>
      </p:sp>
      <p:pic>
        <p:nvPicPr>
          <p:cNvPr id="1334274889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604522" y="2226618"/>
            <a:ext cx="693837" cy="238125"/>
          </a:xfrm>
          <a:prstGeom prst="rect">
            <a:avLst/>
          </a:prstGeom>
        </p:spPr>
      </p:pic>
      <p:sp>
        <p:nvSpPr>
          <p:cNvPr id="1158473696" name="Text 14"/>
          <p:cNvSpPr txBox="1"/>
          <p:nvPr/>
        </p:nvSpPr>
        <p:spPr bwMode="auto">
          <a:xfrm>
            <a:off x="7690247" y="2283768"/>
            <a:ext cx="52238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SLO 500ms</a:t>
            </a:r>
            <a:endParaRPr lang="en-US" sz="750"/>
          </a:p>
        </p:txBody>
      </p:sp>
      <p:pic>
        <p:nvPicPr>
          <p:cNvPr id="1893910031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533400" y="2989511"/>
            <a:ext cx="5495925" cy="1410444"/>
          </a:xfrm>
          <a:prstGeom prst="rect">
            <a:avLst/>
          </a:prstGeom>
        </p:spPr>
      </p:pic>
      <p:sp>
        <p:nvSpPr>
          <p:cNvPr id="1826984494" name="Text 16"/>
          <p:cNvSpPr txBox="1"/>
          <p:nvPr/>
        </p:nvSpPr>
        <p:spPr bwMode="auto">
          <a:xfrm>
            <a:off x="542925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190148850" name="Text 17"/>
          <p:cNvSpPr txBox="1"/>
          <p:nvPr/>
        </p:nvSpPr>
        <p:spPr bwMode="auto">
          <a:xfrm>
            <a:off x="714375" y="3151434"/>
            <a:ext cx="459124" cy="1392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memory</a:t>
            </a:r>
            <a:endParaRPr lang="en-US" sz="900"/>
          </a:p>
        </p:txBody>
      </p:sp>
      <p:sp>
        <p:nvSpPr>
          <p:cNvPr id="1316650376" name="Text 18"/>
          <p:cNvSpPr txBox="1"/>
          <p:nvPr/>
        </p:nvSpPr>
        <p:spPr bwMode="auto">
          <a:xfrm>
            <a:off x="714375" y="3374231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request_count • Sum &lt;1 • 300s period • missing data BREACHING</a:t>
            </a:r>
            <a:endParaRPr lang="en-US" sz="850"/>
          </a:p>
        </p:txBody>
      </p:sp>
      <p:pic>
        <p:nvPicPr>
          <p:cNvPr id="422423567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14375" y="3617119"/>
            <a:ext cx="780901" cy="238125"/>
          </a:xfrm>
          <a:prstGeom prst="rect">
            <a:avLst/>
          </a:prstGeom>
        </p:spPr>
      </p:pic>
      <p:sp>
        <p:nvSpPr>
          <p:cNvPr id="2017752726" name="Text 19"/>
          <p:cNvSpPr txBox="1"/>
          <p:nvPr/>
        </p:nvSpPr>
        <p:spPr bwMode="auto">
          <a:xfrm>
            <a:off x="800100" y="3674269"/>
            <a:ext cx="60945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366519191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571476" y="3617119"/>
            <a:ext cx="855166" cy="238125"/>
          </a:xfrm>
          <a:prstGeom prst="rect">
            <a:avLst/>
          </a:prstGeom>
        </p:spPr>
      </p:pic>
      <p:sp>
        <p:nvSpPr>
          <p:cNvPr id="1378294160" name="Text 20"/>
          <p:cNvSpPr txBox="1"/>
          <p:nvPr/>
        </p:nvSpPr>
        <p:spPr bwMode="auto">
          <a:xfrm>
            <a:off x="1657201" y="3674269"/>
            <a:ext cx="68371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41745739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2502843" y="3617119"/>
            <a:ext cx="1000423" cy="238125"/>
          </a:xfrm>
          <a:prstGeom prst="rect">
            <a:avLst/>
          </a:prstGeom>
        </p:spPr>
      </p:pic>
      <p:sp>
        <p:nvSpPr>
          <p:cNvPr id="743554515" name="Text 21"/>
          <p:cNvSpPr txBox="1"/>
          <p:nvPr/>
        </p:nvSpPr>
        <p:spPr bwMode="auto">
          <a:xfrm>
            <a:off x="2588568" y="3674269"/>
            <a:ext cx="82897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  <p:pic>
        <p:nvPicPr>
          <p:cNvPr id="1434483147" name="Image 12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6162675" y="2989511"/>
            <a:ext cx="5495925" cy="1410444"/>
          </a:xfrm>
          <a:prstGeom prst="rect">
            <a:avLst/>
          </a:prstGeom>
        </p:spPr>
      </p:pic>
      <p:sp>
        <p:nvSpPr>
          <p:cNvPr id="493405095" name="Text 23"/>
          <p:cNvSpPr txBox="1"/>
          <p:nvPr/>
        </p:nvSpPr>
        <p:spPr bwMode="auto">
          <a:xfrm>
            <a:off x="6172200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100348900" name="Text 24"/>
          <p:cNvSpPr txBox="1"/>
          <p:nvPr/>
        </p:nvSpPr>
        <p:spPr bwMode="auto">
          <a:xfrm>
            <a:off x="6343650" y="3151434"/>
            <a:ext cx="238567" cy="1439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disk</a:t>
            </a:r>
            <a:endParaRPr lang="en-US" sz="900"/>
          </a:p>
        </p:txBody>
      </p:sp>
      <p:sp>
        <p:nvSpPr>
          <p:cNvPr id="489974244" name="Text 25"/>
          <p:cNvSpPr txBox="1"/>
          <p:nvPr/>
        </p:nvSpPr>
        <p:spPr bwMode="auto">
          <a:xfrm>
            <a:off x="6343650" y="3374230"/>
            <a:ext cx="3774297" cy="1490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de-DE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DISK</a:t>
            </a: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Utilization • Average &gt;80% • 2 periods 300s • Dim: InstanceId=i-01b042…</a:t>
            </a:r>
            <a:endParaRPr lang="en-US" sz="850"/>
          </a:p>
        </p:txBody>
      </p:sp>
      <p:pic>
        <p:nvPicPr>
          <p:cNvPr id="1939972107" name="Image 13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6343650" y="3617119"/>
            <a:ext cx="846534" cy="238125"/>
          </a:xfrm>
          <a:prstGeom prst="rect">
            <a:avLst/>
          </a:prstGeom>
        </p:spPr>
      </p:pic>
      <p:sp>
        <p:nvSpPr>
          <p:cNvPr id="256636360" name="Text 26"/>
          <p:cNvSpPr txBox="1"/>
          <p:nvPr/>
        </p:nvSpPr>
        <p:spPr bwMode="auto">
          <a:xfrm>
            <a:off x="6429375" y="3674269"/>
            <a:ext cx="67508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USE Saturation</a:t>
            </a:r>
            <a:endParaRPr lang="en-US" sz="750"/>
          </a:p>
        </p:txBody>
      </p:sp>
      <p:pic>
        <p:nvPicPr>
          <p:cNvPr id="1718368473" name="Image 14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7266384" y="3617119"/>
            <a:ext cx="606028" cy="238125"/>
          </a:xfrm>
          <a:prstGeom prst="rect">
            <a:avLst/>
          </a:prstGeom>
        </p:spPr>
      </p:pic>
      <p:sp>
        <p:nvSpPr>
          <p:cNvPr id="1637035320" name="Text 27"/>
          <p:cNvSpPr txBox="1"/>
          <p:nvPr/>
        </p:nvSpPr>
        <p:spPr bwMode="auto">
          <a:xfrm>
            <a:off x="7352109" y="3674269"/>
            <a:ext cx="4345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AWS/EC2</a:t>
            </a:r>
            <a:endParaRPr lang="en-US" sz="750"/>
          </a:p>
        </p:txBody>
      </p:sp>
      <p:pic>
        <p:nvPicPr>
          <p:cNvPr id="84521792" name="Image 15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7948613" y="3617119"/>
            <a:ext cx="580132" cy="238125"/>
          </a:xfrm>
          <a:prstGeom prst="rect">
            <a:avLst/>
          </a:prstGeom>
        </p:spPr>
      </p:pic>
      <p:sp>
        <p:nvSpPr>
          <p:cNvPr id="337542666" name="Text 28"/>
          <p:cNvSpPr txBox="1"/>
          <p:nvPr/>
        </p:nvSpPr>
        <p:spPr bwMode="auto">
          <a:xfrm>
            <a:off x="8034338" y="3674269"/>
            <a:ext cx="40868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 80%</a:t>
            </a:r>
            <a:endParaRPr lang="en-US" sz="750"/>
          </a:p>
        </p:txBody>
      </p:sp>
      <p:pic>
        <p:nvPicPr>
          <p:cNvPr id="472969313" name="Image 16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533400" y="5993160"/>
            <a:ext cx="11125200" cy="407640"/>
          </a:xfrm>
          <a:prstGeom prst="rect">
            <a:avLst/>
          </a:prstGeom>
        </p:spPr>
      </p:pic>
      <p:sp>
        <p:nvSpPr>
          <p:cNvPr id="1881685955" name="Shape 30"/>
          <p:cNvSpPr/>
          <p:nvPr/>
        </p:nvSpPr>
        <p:spPr bwMode="auto">
          <a:xfrm>
            <a:off x="676275" y="61626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166734576" name="Text 31"/>
          <p:cNvSpPr txBox="1"/>
          <p:nvPr/>
        </p:nvSpPr>
        <p:spPr bwMode="auto">
          <a:xfrm>
            <a:off x="904875" y="6116985"/>
            <a:ext cx="9758958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SNS → proj2-alerts + Email notification</a:t>
            </a:r>
            <a:r>
              <a:rPr lang="en-US" sz="90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• IAM proj2-ec2-role needs cloudwatch:PutMetricData only; ListMetrics from Admin • Thresholds tuned for low-traffic demo, not prod scale</a:t>
            </a:r>
            <a:endParaRPr lang="en-US" sz="900"/>
          </a:p>
        </p:txBody>
      </p:sp>
      <p:pic>
        <p:nvPicPr>
          <p:cNvPr id="546838245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495894" y="4529143"/>
            <a:ext cx="5495924" cy="1410444"/>
          </a:xfrm>
          <a:prstGeom prst="rect">
            <a:avLst/>
          </a:prstGeom>
        </p:spPr>
      </p:pic>
      <p:sp>
        <p:nvSpPr>
          <p:cNvPr id="11622021" name="Text 16"/>
          <p:cNvSpPr txBox="1"/>
          <p:nvPr/>
        </p:nvSpPr>
        <p:spPr bwMode="auto">
          <a:xfrm>
            <a:off x="505419" y="4538668"/>
            <a:ext cx="5476874" cy="190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4"/>
              </a:lnSpc>
              <a:buNone/>
              <a:defRPr/>
            </a:pPr>
            <a:endParaRPr lang="en-US" sz="1350"/>
          </a:p>
        </p:txBody>
      </p:sp>
      <p:sp>
        <p:nvSpPr>
          <p:cNvPr id="876165524" name="Text 17"/>
          <p:cNvSpPr txBox="1"/>
          <p:nvPr/>
        </p:nvSpPr>
        <p:spPr bwMode="auto">
          <a:xfrm>
            <a:off x="676869" y="4691067"/>
            <a:ext cx="972882" cy="1446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9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memory anomaly</a:t>
            </a:r>
            <a:endParaRPr lang="en-US" sz="900"/>
          </a:p>
        </p:txBody>
      </p:sp>
      <p:sp>
        <p:nvSpPr>
          <p:cNvPr id="1702799203" name="Text 18"/>
          <p:cNvSpPr txBox="1"/>
          <p:nvPr/>
        </p:nvSpPr>
        <p:spPr bwMode="auto">
          <a:xfrm>
            <a:off x="676869" y="4913863"/>
            <a:ext cx="5133974" cy="14763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7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request_count • Sum &lt;1 • 300s period • missing data BREACHING</a:t>
            </a:r>
            <a:endParaRPr lang="en-US" sz="850"/>
          </a:p>
        </p:txBody>
      </p:sp>
      <p:pic>
        <p:nvPicPr>
          <p:cNvPr id="258902609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76869" y="5156751"/>
            <a:ext cx="780900" cy="238124"/>
          </a:xfrm>
          <a:prstGeom prst="rect">
            <a:avLst/>
          </a:prstGeom>
        </p:spPr>
      </p:pic>
      <p:sp>
        <p:nvSpPr>
          <p:cNvPr id="1589504250" name="Text 19"/>
          <p:cNvSpPr txBox="1"/>
          <p:nvPr/>
        </p:nvSpPr>
        <p:spPr bwMode="auto">
          <a:xfrm>
            <a:off x="762594" y="5213901"/>
            <a:ext cx="609450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622623502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533970" y="5156751"/>
            <a:ext cx="855165" cy="238124"/>
          </a:xfrm>
          <a:prstGeom prst="rect">
            <a:avLst/>
          </a:prstGeom>
        </p:spPr>
      </p:pic>
      <p:sp>
        <p:nvSpPr>
          <p:cNvPr id="1894657873" name="Text 20"/>
          <p:cNvSpPr txBox="1"/>
          <p:nvPr/>
        </p:nvSpPr>
        <p:spPr bwMode="auto">
          <a:xfrm>
            <a:off x="1619695" y="5213901"/>
            <a:ext cx="683715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1978310896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2465337" y="5156751"/>
            <a:ext cx="1000422" cy="238124"/>
          </a:xfrm>
          <a:prstGeom prst="rect">
            <a:avLst/>
          </a:prstGeom>
        </p:spPr>
      </p:pic>
      <p:sp>
        <p:nvSpPr>
          <p:cNvPr id="2045769097" name="Text 21"/>
          <p:cNvSpPr txBox="1"/>
          <p:nvPr/>
        </p:nvSpPr>
        <p:spPr bwMode="auto">
          <a:xfrm>
            <a:off x="2551062" y="5213901"/>
            <a:ext cx="828972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  <p:pic>
        <p:nvPicPr>
          <p:cNvPr id="1953428459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6162674" y="4529143"/>
            <a:ext cx="5495924" cy="1410444"/>
          </a:xfrm>
          <a:prstGeom prst="rect">
            <a:avLst/>
          </a:prstGeom>
        </p:spPr>
      </p:pic>
      <p:sp>
        <p:nvSpPr>
          <p:cNvPr id="1239033773" name="Text 16"/>
          <p:cNvSpPr txBox="1"/>
          <p:nvPr/>
        </p:nvSpPr>
        <p:spPr bwMode="auto">
          <a:xfrm>
            <a:off x="6172200" y="4538668"/>
            <a:ext cx="5476874" cy="190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4"/>
              </a:lnSpc>
              <a:buNone/>
              <a:defRPr/>
            </a:pPr>
            <a:endParaRPr lang="en-US" sz="1350"/>
          </a:p>
        </p:txBody>
      </p:sp>
      <p:sp>
        <p:nvSpPr>
          <p:cNvPr id="178917849" name="Text 17"/>
          <p:cNvSpPr txBox="1"/>
          <p:nvPr/>
        </p:nvSpPr>
        <p:spPr bwMode="auto">
          <a:xfrm>
            <a:off x="6343650" y="4691067"/>
            <a:ext cx="611865" cy="1464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9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Composite</a:t>
            </a:r>
            <a:endParaRPr lang="en-US" sz="900"/>
          </a:p>
        </p:txBody>
      </p:sp>
      <p:sp>
        <p:nvSpPr>
          <p:cNvPr id="1816509743" name="Text 18"/>
          <p:cNvSpPr txBox="1"/>
          <p:nvPr/>
        </p:nvSpPr>
        <p:spPr bwMode="auto">
          <a:xfrm>
            <a:off x="6343650" y="4913863"/>
            <a:ext cx="975675" cy="15483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7"/>
              </a:lnSpc>
              <a:buNone/>
              <a:defRPr/>
            </a:pPr>
            <a:r>
              <a:rPr lang="de-DE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anomaly + error rate</a:t>
            </a:r>
            <a:endParaRPr lang="en-US" sz="850"/>
          </a:p>
        </p:txBody>
      </p:sp>
      <p:pic>
        <p:nvPicPr>
          <p:cNvPr id="2116047351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343650" y="5156751"/>
            <a:ext cx="780900" cy="238124"/>
          </a:xfrm>
          <a:prstGeom prst="rect">
            <a:avLst/>
          </a:prstGeom>
        </p:spPr>
      </p:pic>
      <p:sp>
        <p:nvSpPr>
          <p:cNvPr id="1547949446" name="Text 19"/>
          <p:cNvSpPr txBox="1"/>
          <p:nvPr/>
        </p:nvSpPr>
        <p:spPr bwMode="auto">
          <a:xfrm>
            <a:off x="6429375" y="5213901"/>
            <a:ext cx="609450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790551738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7200750" y="5156751"/>
            <a:ext cx="855165" cy="238124"/>
          </a:xfrm>
          <a:prstGeom prst="rect">
            <a:avLst/>
          </a:prstGeom>
        </p:spPr>
      </p:pic>
      <p:sp>
        <p:nvSpPr>
          <p:cNvPr id="1926220060" name="Text 20"/>
          <p:cNvSpPr txBox="1"/>
          <p:nvPr/>
        </p:nvSpPr>
        <p:spPr bwMode="auto">
          <a:xfrm>
            <a:off x="7286475" y="5213901"/>
            <a:ext cx="683715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820684858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8132117" y="5156751"/>
            <a:ext cx="1000422" cy="238124"/>
          </a:xfrm>
          <a:prstGeom prst="rect">
            <a:avLst/>
          </a:prstGeom>
        </p:spPr>
      </p:pic>
      <p:sp>
        <p:nvSpPr>
          <p:cNvPr id="458286246" name="Text 21"/>
          <p:cNvSpPr txBox="1"/>
          <p:nvPr/>
        </p:nvSpPr>
        <p:spPr bwMode="auto">
          <a:xfrm>
            <a:off x="8217842" y="5213901"/>
            <a:ext cx="828972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310092" name="Text 0"/>
          <p:cNvSpPr txBox="1"/>
          <p:nvPr/>
        </p:nvSpPr>
        <p:spPr bwMode="auto">
          <a:xfrm>
            <a:off x="533399" y="457200"/>
            <a:ext cx="3907618" cy="41648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Structured Logging </a:t>
            </a:r>
            <a:endParaRPr lang="en-US" sz="3450"/>
          </a:p>
        </p:txBody>
      </p:sp>
      <p:sp>
        <p:nvSpPr>
          <p:cNvPr id="451690850" name="Text 3"/>
          <p:cNvSpPr txBox="1"/>
          <p:nvPr/>
        </p:nvSpPr>
        <p:spPr bwMode="auto">
          <a:xfrm>
            <a:off x="533399" y="4416622"/>
            <a:ext cx="756" cy="17359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endParaRPr lang="en-US" sz="1000"/>
          </a:p>
        </p:txBody>
      </p:sp>
      <p:sp>
        <p:nvSpPr>
          <p:cNvPr id="24064267" name="Text 8"/>
          <p:cNvSpPr txBox="1"/>
          <p:nvPr/>
        </p:nvSpPr>
        <p:spPr bwMode="auto">
          <a:xfrm>
            <a:off x="3490019" y="1325661"/>
            <a:ext cx="521196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Inter"/>
                <a:ea typeface="Inter"/>
                <a:cs typeface="Inter"/>
              </a:rPr>
              <a:t>OUTPUT — app.log / journalctl -u myapp</a:t>
            </a:r>
            <a:endParaRPr lang="en-US" sz="850"/>
          </a:p>
        </p:txBody>
      </p:sp>
      <p:pic>
        <p:nvPicPr>
          <p:cNvPr id="1514237315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75203" y="1847849"/>
            <a:ext cx="5211961" cy="3152775"/>
          </a:xfrm>
          <a:prstGeom prst="rect">
            <a:avLst/>
          </a:prstGeom>
        </p:spPr>
      </p:pic>
      <p:sp>
        <p:nvSpPr>
          <p:cNvPr id="705181868" name="Text 9"/>
          <p:cNvSpPr txBox="1"/>
          <p:nvPr/>
        </p:nvSpPr>
        <p:spPr bwMode="auto">
          <a:xfrm>
            <a:off x="2956178" y="2019299"/>
            <a:ext cx="4850011" cy="28194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{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"event": "order_created",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"order_id": "09bcdd18-fd61-48b5-94a8...",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"amount": 150,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"correlation_id": "51e9ef29-4528-4582-a712...",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"timestamp": "2026-08-13T12:58:26.558Z"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}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{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"event": "request_completed",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"correlation_id": "51e9ef29...",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"method": "POST",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"path": "/orders",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"status_code": 201,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"latency_ms": 41,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"level": "INFO",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"timestamp": "2026-08-13T12:58:26.599Z"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} 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4237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181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445541" name="Text 0"/>
          <p:cNvSpPr txBox="1"/>
          <p:nvPr/>
        </p:nvSpPr>
        <p:spPr bwMode="auto">
          <a:xfrm>
            <a:off x="533400" y="495300"/>
            <a:ext cx="11125200" cy="44380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6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Live Demo Plan — </a:t>
            </a:r>
            <a:r>
              <a:rPr lang="en-US" sz="3600" b="1" spc="-72">
                <a:solidFill>
                  <a:srgbClr val="67F4E2"/>
                </a:solidFill>
                <a:latin typeface="Inter"/>
                <a:ea typeface="Inter"/>
                <a:cs typeface="Inter"/>
              </a:rPr>
              <a:t>proj2-dashboard</a:t>
            </a:r>
            <a:endParaRPr lang="en-US" sz="3600"/>
          </a:p>
        </p:txBody>
      </p:sp>
      <p:pic>
        <p:nvPicPr>
          <p:cNvPr id="11260047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217093"/>
            <a:ext cx="3048000" cy="814983"/>
          </a:xfrm>
          <a:prstGeom prst="rect">
            <a:avLst/>
          </a:prstGeom>
        </p:spPr>
      </p:pic>
      <p:sp>
        <p:nvSpPr>
          <p:cNvPr id="1101448434" name="Text 1"/>
          <p:cNvSpPr txBox="1"/>
          <p:nvPr/>
        </p:nvSpPr>
        <p:spPr bwMode="auto">
          <a:xfrm>
            <a:off x="695325" y="2359968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DASHBOARD</a:t>
            </a:r>
            <a:endParaRPr lang="en-US" sz="850"/>
          </a:p>
        </p:txBody>
      </p:sp>
      <p:sp>
        <p:nvSpPr>
          <p:cNvPr id="1026592706" name="Text 2"/>
          <p:cNvSpPr txBox="1"/>
          <p:nvPr/>
        </p:nvSpPr>
        <p:spPr bwMode="auto">
          <a:xfrm>
            <a:off x="695325" y="2552254"/>
            <a:ext cx="27241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proj2-dashboard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• 12 widgets • Period 60s • Region us-east-1 • Auto-refresh 60s</a:t>
            </a:r>
            <a:endParaRPr lang="en-US" sz="1000"/>
          </a:p>
        </p:txBody>
      </p:sp>
      <p:pic>
        <p:nvPicPr>
          <p:cNvPr id="49942928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3165425"/>
            <a:ext cx="3048000" cy="988219"/>
          </a:xfrm>
          <a:prstGeom prst="rect">
            <a:avLst/>
          </a:prstGeom>
        </p:spPr>
      </p:pic>
      <p:sp>
        <p:nvSpPr>
          <p:cNvPr id="1007872510" name="Text 3"/>
          <p:cNvSpPr txBox="1"/>
          <p:nvPr/>
        </p:nvSpPr>
        <p:spPr bwMode="auto">
          <a:xfrm>
            <a:off x="695325" y="3308300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QUICK STATS</a:t>
            </a:r>
            <a:endParaRPr lang="en-US" sz="850"/>
          </a:p>
        </p:txBody>
      </p:sp>
      <p:sp>
        <p:nvSpPr>
          <p:cNvPr id="606989707" name="Text 4"/>
          <p:cNvSpPr txBox="1"/>
          <p:nvPr/>
        </p:nvSpPr>
        <p:spPr bwMode="auto">
          <a:xfrm>
            <a:off x="695325" y="3500586"/>
            <a:ext cx="2724150" cy="51018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SingleValue → timeSeries → correlation. All three namespaces: Proj2/MyApp + CWAgent + AWS/EC2</a:t>
            </a:r>
            <a:endParaRPr lang="en-US" sz="1000"/>
          </a:p>
        </p:txBody>
      </p:sp>
      <p:pic>
        <p:nvPicPr>
          <p:cNvPr id="527502374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86200" y="1129605"/>
            <a:ext cx="3810000" cy="2540347"/>
          </a:xfrm>
          <a:prstGeom prst="rect">
            <a:avLst/>
          </a:prstGeom>
        </p:spPr>
      </p:pic>
      <p:sp>
        <p:nvSpPr>
          <p:cNvPr id="1785524107" name="Text 7"/>
          <p:cNvSpPr txBox="1"/>
          <p:nvPr/>
        </p:nvSpPr>
        <p:spPr bwMode="auto">
          <a:xfrm>
            <a:off x="38957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440919714" name="Text 8"/>
          <p:cNvSpPr txBox="1"/>
          <p:nvPr/>
        </p:nvSpPr>
        <p:spPr bwMode="auto">
          <a:xfrm>
            <a:off x="40671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01 — TOP ROW</a:t>
            </a:r>
            <a:endParaRPr lang="en-US" sz="900"/>
          </a:p>
        </p:txBody>
      </p:sp>
      <p:sp>
        <p:nvSpPr>
          <p:cNvPr id="816964093" name="Text 9"/>
          <p:cNvSpPr txBox="1"/>
          <p:nvPr/>
        </p:nvSpPr>
        <p:spPr bwMode="auto">
          <a:xfrm>
            <a:off x="40671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SingleValue at a glance</a:t>
            </a:r>
            <a:endParaRPr lang="en-US" sz="1150"/>
          </a:p>
        </p:txBody>
      </p:sp>
      <p:sp>
        <p:nvSpPr>
          <p:cNvPr id="1153424943" name="Text 10"/>
          <p:cNvSpPr txBox="1"/>
          <p:nvPr/>
        </p:nvSpPr>
        <p:spPr bwMode="auto">
          <a:xfrm>
            <a:off x="40671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Current rate for decision in 3 seconds</a:t>
            </a:r>
            <a:endParaRPr lang="en-US" sz="1000"/>
          </a:p>
        </p:txBody>
      </p:sp>
      <p:pic>
        <p:nvPicPr>
          <p:cNvPr id="1990168446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067175" y="2067223"/>
            <a:ext cx="1039267" cy="238125"/>
          </a:xfrm>
          <a:prstGeom prst="rect">
            <a:avLst/>
          </a:prstGeom>
        </p:spPr>
      </p:pic>
      <p:sp>
        <p:nvSpPr>
          <p:cNvPr id="214996294" name="Text 11"/>
          <p:cNvSpPr txBox="1"/>
          <p:nvPr/>
        </p:nvSpPr>
        <p:spPr bwMode="auto">
          <a:xfrm>
            <a:off x="4152900" y="2124373"/>
            <a:ext cx="86781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 Sum</a:t>
            </a:r>
            <a:endParaRPr lang="en-US" sz="750"/>
          </a:p>
        </p:txBody>
      </p:sp>
      <p:pic>
        <p:nvPicPr>
          <p:cNvPr id="1113405699" name="Image 5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163592" y="2067223"/>
            <a:ext cx="917972" cy="238125"/>
          </a:xfrm>
          <a:prstGeom prst="rect">
            <a:avLst/>
          </a:prstGeom>
        </p:spPr>
      </p:pic>
      <p:sp>
        <p:nvSpPr>
          <p:cNvPr id="327264977" name="Text 12"/>
          <p:cNvSpPr txBox="1"/>
          <p:nvPr/>
        </p:nvSpPr>
        <p:spPr bwMode="auto">
          <a:xfrm>
            <a:off x="5249317" y="2124373"/>
            <a:ext cx="74652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 Sum</a:t>
            </a:r>
            <a:endParaRPr lang="en-US" sz="750"/>
          </a:p>
        </p:txBody>
      </p:sp>
      <p:pic>
        <p:nvPicPr>
          <p:cNvPr id="1968542639" name="Image 6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138714" y="2067223"/>
            <a:ext cx="873919" cy="238125"/>
          </a:xfrm>
          <a:prstGeom prst="rect">
            <a:avLst/>
          </a:prstGeom>
        </p:spPr>
      </p:pic>
      <p:sp>
        <p:nvSpPr>
          <p:cNvPr id="233001431" name="Text 13"/>
          <p:cNvSpPr txBox="1"/>
          <p:nvPr/>
        </p:nvSpPr>
        <p:spPr bwMode="auto">
          <a:xfrm>
            <a:off x="6224439" y="2124373"/>
            <a:ext cx="70246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 Avg</a:t>
            </a:r>
            <a:endParaRPr lang="en-US" sz="750"/>
          </a:p>
        </p:txBody>
      </p:sp>
      <p:pic>
        <p:nvPicPr>
          <p:cNvPr id="1827342011" name="Image 7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4067175" y="2362497"/>
            <a:ext cx="887611" cy="238125"/>
          </a:xfrm>
          <a:prstGeom prst="rect">
            <a:avLst/>
          </a:prstGeom>
        </p:spPr>
      </p:pic>
      <p:sp>
        <p:nvSpPr>
          <p:cNvPr id="94696534" name="Text 14"/>
          <p:cNvSpPr txBox="1"/>
          <p:nvPr/>
        </p:nvSpPr>
        <p:spPr bwMode="auto">
          <a:xfrm>
            <a:off x="4152900" y="2419648"/>
            <a:ext cx="7161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orders/min Sum</a:t>
            </a:r>
            <a:endParaRPr lang="en-US" sz="750"/>
          </a:p>
        </p:txBody>
      </p:sp>
      <p:pic>
        <p:nvPicPr>
          <p:cNvPr id="1305863758" name="Image 8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848600" y="1129605"/>
            <a:ext cx="3810000" cy="2540347"/>
          </a:xfrm>
          <a:prstGeom prst="rect">
            <a:avLst/>
          </a:prstGeom>
        </p:spPr>
      </p:pic>
      <p:sp>
        <p:nvSpPr>
          <p:cNvPr id="41313036" name="Text 15"/>
          <p:cNvSpPr txBox="1"/>
          <p:nvPr/>
        </p:nvSpPr>
        <p:spPr bwMode="auto">
          <a:xfrm>
            <a:off x="78581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701620637" name="Text 16"/>
          <p:cNvSpPr txBox="1"/>
          <p:nvPr/>
        </p:nvSpPr>
        <p:spPr bwMode="auto">
          <a:xfrm>
            <a:off x="80295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02 — MIDDLE</a:t>
            </a:r>
            <a:endParaRPr lang="en-US" sz="900"/>
          </a:p>
        </p:txBody>
      </p:sp>
      <p:sp>
        <p:nvSpPr>
          <p:cNvPr id="119099168" name="Text 17"/>
          <p:cNvSpPr txBox="1"/>
          <p:nvPr/>
        </p:nvSpPr>
        <p:spPr bwMode="auto">
          <a:xfrm>
            <a:off x="80295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Golden Signals</a:t>
            </a:r>
            <a:endParaRPr lang="en-US" sz="1150"/>
          </a:p>
        </p:txBody>
      </p:sp>
      <p:sp>
        <p:nvSpPr>
          <p:cNvPr id="222333870" name="Text 18"/>
          <p:cNvSpPr txBox="1"/>
          <p:nvPr/>
        </p:nvSpPr>
        <p:spPr bwMode="auto">
          <a:xfrm>
            <a:off x="80295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RED mapping: traffic, errors, duration, saturation</a:t>
            </a:r>
            <a:endParaRPr lang="en-US" sz="1000"/>
          </a:p>
        </p:txBody>
      </p:sp>
      <p:pic>
        <p:nvPicPr>
          <p:cNvPr id="151555438" name="Image 9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8029575" y="2067223"/>
            <a:ext cx="1128117" cy="238125"/>
          </a:xfrm>
          <a:prstGeom prst="rect">
            <a:avLst/>
          </a:prstGeom>
        </p:spPr>
      </p:pic>
      <p:sp>
        <p:nvSpPr>
          <p:cNvPr id="1753476208" name="Text 19"/>
          <p:cNvSpPr txBox="1"/>
          <p:nvPr/>
        </p:nvSpPr>
        <p:spPr bwMode="auto">
          <a:xfrm>
            <a:off x="8115300" y="2124373"/>
            <a:ext cx="95666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Traffic request_count</a:t>
            </a:r>
            <a:endParaRPr lang="en-US" sz="750"/>
          </a:p>
        </p:txBody>
      </p:sp>
      <p:pic>
        <p:nvPicPr>
          <p:cNvPr id="839175698" name="Image 10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9214842" y="2067223"/>
            <a:ext cx="989260" cy="238125"/>
          </a:xfrm>
          <a:prstGeom prst="rect">
            <a:avLst/>
          </a:prstGeom>
        </p:spPr>
      </p:pic>
      <p:sp>
        <p:nvSpPr>
          <p:cNvPr id="601302943" name="Text 20"/>
          <p:cNvSpPr txBox="1"/>
          <p:nvPr/>
        </p:nvSpPr>
        <p:spPr bwMode="auto">
          <a:xfrm>
            <a:off x="9300567" y="2124373"/>
            <a:ext cx="81781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Errors error_count</a:t>
            </a:r>
            <a:endParaRPr lang="en-US" sz="750"/>
          </a:p>
        </p:txBody>
      </p:sp>
      <p:pic>
        <p:nvPicPr>
          <p:cNvPr id="309342000" name="Image 11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0261253" y="2067223"/>
            <a:ext cx="948928" cy="238125"/>
          </a:xfrm>
          <a:prstGeom prst="rect">
            <a:avLst/>
          </a:prstGeom>
        </p:spPr>
      </p:pic>
      <p:sp>
        <p:nvSpPr>
          <p:cNvPr id="1076690409" name="Text 21"/>
          <p:cNvSpPr txBox="1"/>
          <p:nvPr/>
        </p:nvSpPr>
        <p:spPr bwMode="auto">
          <a:xfrm>
            <a:off x="10346978" y="2124373"/>
            <a:ext cx="7774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Latency Avg/Max</a:t>
            </a:r>
            <a:endParaRPr lang="en-US" sz="750"/>
          </a:p>
        </p:txBody>
      </p:sp>
      <p:pic>
        <p:nvPicPr>
          <p:cNvPr id="525970837" name="Image 12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8029575" y="2362497"/>
            <a:ext cx="796528" cy="238125"/>
          </a:xfrm>
          <a:prstGeom prst="rect">
            <a:avLst/>
          </a:prstGeom>
        </p:spPr>
      </p:pic>
      <p:sp>
        <p:nvSpPr>
          <p:cNvPr id="2127125832" name="Text 22"/>
          <p:cNvSpPr txBox="1"/>
          <p:nvPr/>
        </p:nvSpPr>
        <p:spPr bwMode="auto">
          <a:xfrm>
            <a:off x="8115300" y="2419648"/>
            <a:ext cx="6250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+ Orders</a:t>
            </a:r>
            <a:endParaRPr lang="en-US" sz="750"/>
          </a:p>
        </p:txBody>
      </p:sp>
      <p:pic>
        <p:nvPicPr>
          <p:cNvPr id="250265851" name="Image 13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3886200" y="3822353"/>
            <a:ext cx="3810000" cy="2540347"/>
          </a:xfrm>
          <a:prstGeom prst="rect">
            <a:avLst/>
          </a:prstGeom>
        </p:spPr>
      </p:pic>
      <p:sp>
        <p:nvSpPr>
          <p:cNvPr id="1479332469" name="Text 23"/>
          <p:cNvSpPr txBox="1"/>
          <p:nvPr/>
        </p:nvSpPr>
        <p:spPr bwMode="auto">
          <a:xfrm>
            <a:off x="38957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440759768" name="Text 24"/>
          <p:cNvSpPr txBox="1"/>
          <p:nvPr/>
        </p:nvSpPr>
        <p:spPr bwMode="auto">
          <a:xfrm>
            <a:off x="40671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03 — BOTTOM</a:t>
            </a:r>
            <a:endParaRPr lang="en-US" sz="900"/>
          </a:p>
        </p:txBody>
      </p:sp>
      <p:sp>
        <p:nvSpPr>
          <p:cNvPr id="617359067" name="Text 25"/>
          <p:cNvSpPr txBox="1"/>
          <p:nvPr/>
        </p:nvSpPr>
        <p:spPr bwMode="auto">
          <a:xfrm>
            <a:off x="40671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EC2 USE Resources</a:t>
            </a:r>
            <a:endParaRPr lang="en-US" sz="1150"/>
          </a:p>
        </p:txBody>
      </p:sp>
      <p:sp>
        <p:nvSpPr>
          <p:cNvPr id="1402293840" name="Text 26"/>
          <p:cNvSpPr txBox="1"/>
          <p:nvPr/>
        </p:nvSpPr>
        <p:spPr bwMode="auto">
          <a:xfrm>
            <a:off x="4067175" y="4520059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Utilization + Saturation. Disk uses SEARCH</a:t>
            </a:r>
            <a:endParaRPr lang="en-US" sz="1000"/>
          </a:p>
        </p:txBody>
      </p:sp>
      <p:pic>
        <p:nvPicPr>
          <p:cNvPr id="924670008" name="Image 14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4067175" y="4759970"/>
            <a:ext cx="817811" cy="238125"/>
          </a:xfrm>
          <a:prstGeom prst="rect">
            <a:avLst/>
          </a:prstGeom>
        </p:spPr>
      </p:pic>
      <p:sp>
        <p:nvSpPr>
          <p:cNvPr id="1177409990" name="Text 27"/>
          <p:cNvSpPr txBox="1"/>
          <p:nvPr/>
        </p:nvSpPr>
        <p:spPr bwMode="auto">
          <a:xfrm>
            <a:off x="4152900" y="4817120"/>
            <a:ext cx="6463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CPUUtilization</a:t>
            </a:r>
            <a:endParaRPr lang="en-US" sz="750"/>
          </a:p>
        </p:txBody>
      </p:sp>
      <p:pic>
        <p:nvPicPr>
          <p:cNvPr id="1412883087" name="Image 15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4942135" y="4759970"/>
            <a:ext cx="1049982" cy="238125"/>
          </a:xfrm>
          <a:prstGeom prst="rect">
            <a:avLst/>
          </a:prstGeom>
        </p:spPr>
      </p:pic>
      <p:sp>
        <p:nvSpPr>
          <p:cNvPr id="1322157398" name="Text 28"/>
          <p:cNvSpPr txBox="1"/>
          <p:nvPr/>
        </p:nvSpPr>
        <p:spPr bwMode="auto">
          <a:xfrm>
            <a:off x="5027861" y="4817120"/>
            <a:ext cx="87853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mem_used_percent</a:t>
            </a:r>
            <a:endParaRPr lang="en-US" sz="750"/>
          </a:p>
        </p:txBody>
      </p:sp>
      <p:pic>
        <p:nvPicPr>
          <p:cNvPr id="1253658132" name="Image 16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6049268" y="4759970"/>
            <a:ext cx="857548" cy="238125"/>
          </a:xfrm>
          <a:prstGeom prst="rect">
            <a:avLst/>
          </a:prstGeom>
        </p:spPr>
      </p:pic>
      <p:sp>
        <p:nvSpPr>
          <p:cNvPr id="1277450282" name="Text 29"/>
          <p:cNvSpPr txBox="1"/>
          <p:nvPr/>
        </p:nvSpPr>
        <p:spPr bwMode="auto">
          <a:xfrm>
            <a:off x="6134993" y="4817120"/>
            <a:ext cx="68609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Network In/Out</a:t>
            </a:r>
            <a:endParaRPr lang="en-US" sz="750"/>
          </a:p>
        </p:txBody>
      </p:sp>
      <p:pic>
        <p:nvPicPr>
          <p:cNvPr id="1579788591" name="Image 17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4067175" y="5055245"/>
            <a:ext cx="1176040" cy="238125"/>
          </a:xfrm>
          <a:prstGeom prst="rect">
            <a:avLst/>
          </a:prstGeom>
        </p:spPr>
      </p:pic>
      <p:sp>
        <p:nvSpPr>
          <p:cNvPr id="570735429" name="Text 30"/>
          <p:cNvSpPr txBox="1"/>
          <p:nvPr/>
        </p:nvSpPr>
        <p:spPr bwMode="auto">
          <a:xfrm>
            <a:off x="4152900" y="5112395"/>
            <a:ext cx="100459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SEARCH disk% → [[ ]]</a:t>
            </a:r>
            <a:endParaRPr lang="en-US" sz="750"/>
          </a:p>
        </p:txBody>
      </p:sp>
      <p:pic>
        <p:nvPicPr>
          <p:cNvPr id="348726533" name="Image 18" descr="preencoded.png"/>
          <p:cNvPicPr>
            <a:picLocks noChangeAspect="1"/>
          </p:cNvPicPr>
          <p:nvPr/>
        </p:nvPicPr>
        <p:blipFill rotWithShape="1">
          <a:blip r:embed="rId20"/>
          <a:stretch/>
        </p:blipFill>
        <p:spPr bwMode="auto">
          <a:xfrm>
            <a:off x="7848600" y="3822353"/>
            <a:ext cx="3810000" cy="2540347"/>
          </a:xfrm>
          <a:prstGeom prst="rect">
            <a:avLst/>
          </a:prstGeom>
        </p:spPr>
      </p:pic>
      <p:sp>
        <p:nvSpPr>
          <p:cNvPr id="361157839" name="Text 31"/>
          <p:cNvSpPr txBox="1"/>
          <p:nvPr/>
        </p:nvSpPr>
        <p:spPr bwMode="auto">
          <a:xfrm>
            <a:off x="78581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2136752239" name="Text 32"/>
          <p:cNvSpPr txBox="1"/>
          <p:nvPr/>
        </p:nvSpPr>
        <p:spPr bwMode="auto">
          <a:xfrm>
            <a:off x="80295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04 — CORRELATION</a:t>
            </a:r>
            <a:endParaRPr lang="en-US" sz="900"/>
          </a:p>
        </p:txBody>
      </p:sp>
      <p:sp>
        <p:nvSpPr>
          <p:cNvPr id="2005791964" name="Text 33"/>
          <p:cNvSpPr txBox="1"/>
          <p:nvPr/>
        </p:nvSpPr>
        <p:spPr bwMode="auto">
          <a:xfrm>
            <a:off x="80295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Latency vs Traffic vs Errors vs CPU</a:t>
            </a:r>
            <a:endParaRPr lang="en-US" sz="1150"/>
          </a:p>
        </p:txBody>
      </p:sp>
      <p:sp>
        <p:nvSpPr>
          <p:cNvPr id="937155690" name="Text 34"/>
          <p:cNvSpPr txBox="1"/>
          <p:nvPr/>
        </p:nvSpPr>
        <p:spPr bwMode="auto">
          <a:xfrm>
            <a:off x="8029575" y="4520059"/>
            <a:ext cx="34480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Overlay all in one graph. When /fail injected: Error spikes, Latency flat, CPU flat → app error not infra</a:t>
            </a:r>
            <a:endParaRPr lang="en-US" sz="1000"/>
          </a:p>
        </p:txBody>
      </p:sp>
      <p:pic>
        <p:nvPicPr>
          <p:cNvPr id="1462222136" name="Image 19" descr="preencoded.png"/>
          <p:cNvPicPr>
            <a:picLocks noChangeAspect="1"/>
          </p:cNvPicPr>
          <p:nvPr/>
        </p:nvPicPr>
        <p:blipFill rotWithShape="1">
          <a:blip r:embed="rId21"/>
          <a:stretch/>
        </p:blipFill>
        <p:spPr bwMode="auto">
          <a:xfrm>
            <a:off x="8029575" y="4933206"/>
            <a:ext cx="677763" cy="238125"/>
          </a:xfrm>
          <a:prstGeom prst="rect">
            <a:avLst/>
          </a:prstGeom>
        </p:spPr>
      </p:pic>
      <p:sp>
        <p:nvSpPr>
          <p:cNvPr id="81158266" name="Text 35"/>
          <p:cNvSpPr txBox="1"/>
          <p:nvPr/>
        </p:nvSpPr>
        <p:spPr bwMode="auto">
          <a:xfrm>
            <a:off x="8115300" y="4990356"/>
            <a:ext cx="50631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</a:t>
            </a:r>
            <a:endParaRPr lang="en-US" sz="750"/>
          </a:p>
        </p:txBody>
      </p:sp>
      <p:pic>
        <p:nvPicPr>
          <p:cNvPr id="830428080" name="Image 20" descr="preencoded.png"/>
          <p:cNvPicPr>
            <a:picLocks noChangeAspect="1"/>
          </p:cNvPicPr>
          <p:nvPr/>
        </p:nvPicPr>
        <p:blipFill rotWithShape="1">
          <a:blip r:embed="rId22"/>
          <a:stretch/>
        </p:blipFill>
        <p:spPr bwMode="auto">
          <a:xfrm>
            <a:off x="8764488" y="4933206"/>
            <a:ext cx="811709" cy="238125"/>
          </a:xfrm>
          <a:prstGeom prst="rect">
            <a:avLst/>
          </a:prstGeom>
        </p:spPr>
      </p:pic>
      <p:sp>
        <p:nvSpPr>
          <p:cNvPr id="585303877" name="Text 36"/>
          <p:cNvSpPr txBox="1"/>
          <p:nvPr/>
        </p:nvSpPr>
        <p:spPr bwMode="auto">
          <a:xfrm>
            <a:off x="8850213" y="4990356"/>
            <a:ext cx="64025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</a:t>
            </a:r>
            <a:endParaRPr lang="en-US" sz="750"/>
          </a:p>
        </p:txBody>
      </p:sp>
      <p:pic>
        <p:nvPicPr>
          <p:cNvPr id="623076101" name="Image 21" descr="preencoded.png"/>
          <p:cNvPicPr>
            <a:picLocks noChangeAspect="1"/>
          </p:cNvPicPr>
          <p:nvPr/>
        </p:nvPicPr>
        <p:blipFill rotWithShape="1">
          <a:blip r:embed="rId23"/>
          <a:stretch/>
        </p:blipFill>
        <p:spPr bwMode="auto">
          <a:xfrm>
            <a:off x="9633347" y="4933206"/>
            <a:ext cx="690414" cy="238125"/>
          </a:xfrm>
          <a:prstGeom prst="rect">
            <a:avLst/>
          </a:prstGeom>
        </p:spPr>
      </p:pic>
      <p:sp>
        <p:nvSpPr>
          <p:cNvPr id="1429112800" name="Text 37"/>
          <p:cNvSpPr txBox="1"/>
          <p:nvPr/>
        </p:nvSpPr>
        <p:spPr bwMode="auto">
          <a:xfrm>
            <a:off x="9719072" y="4990356"/>
            <a:ext cx="51896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</a:t>
            </a:r>
            <a:endParaRPr lang="en-US" sz="750"/>
          </a:p>
        </p:txBody>
      </p:sp>
      <p:pic>
        <p:nvPicPr>
          <p:cNvPr id="155931833" name="Image 22" descr="preencoded.png"/>
          <p:cNvPicPr>
            <a:picLocks noChangeAspect="1"/>
          </p:cNvPicPr>
          <p:nvPr/>
        </p:nvPicPr>
        <p:blipFill rotWithShape="1">
          <a:blip r:embed="rId24"/>
          <a:stretch/>
        </p:blipFill>
        <p:spPr bwMode="auto">
          <a:xfrm>
            <a:off x="10380911" y="4933206"/>
            <a:ext cx="493068" cy="238125"/>
          </a:xfrm>
          <a:prstGeom prst="rect">
            <a:avLst/>
          </a:prstGeom>
        </p:spPr>
      </p:pic>
      <p:sp>
        <p:nvSpPr>
          <p:cNvPr id="1523990572" name="Text 38"/>
          <p:cNvSpPr txBox="1"/>
          <p:nvPr/>
        </p:nvSpPr>
        <p:spPr bwMode="auto">
          <a:xfrm>
            <a:off x="10466636" y="4990356"/>
            <a:ext cx="32161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%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5267958" name="Text 0"/>
          <p:cNvSpPr txBox="1"/>
          <p:nvPr/>
        </p:nvSpPr>
        <p:spPr bwMode="auto">
          <a:xfrm>
            <a:off x="533399" y="457200"/>
            <a:ext cx="6618767" cy="42224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Instrumentation — </a:t>
            </a:r>
            <a:r>
              <a:rPr lang="de-DE" sz="3450" b="1" spc="-6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Key Decitions</a:t>
            </a:r>
            <a:endParaRPr lang="en-US" sz="3450"/>
          </a:p>
        </p:txBody>
      </p:sp>
      <p:pic>
        <p:nvPicPr>
          <p:cNvPr id="13003971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82873"/>
            <a:ext cx="5476875" cy="2496592"/>
          </a:xfrm>
          <a:prstGeom prst="rect">
            <a:avLst/>
          </a:prstGeom>
        </p:spPr>
      </p:pic>
      <p:sp>
        <p:nvSpPr>
          <p:cNvPr id="1193682762" name="Text 1"/>
          <p:cNvSpPr txBox="1"/>
          <p:nvPr/>
        </p:nvSpPr>
        <p:spPr bwMode="auto">
          <a:xfrm>
            <a:off x="752475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STRUCTURED LOGGING</a:t>
            </a:r>
            <a:endParaRPr lang="en-US" sz="850"/>
          </a:p>
        </p:txBody>
      </p:sp>
      <p:sp>
        <p:nvSpPr>
          <p:cNvPr id="724250998" name="Text 2"/>
          <p:cNvSpPr txBox="1"/>
          <p:nvPr/>
        </p:nvSpPr>
        <p:spPr bwMode="auto">
          <a:xfrm>
            <a:off x="752475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structlog JSONRenderer + TimeStamper ISO</a:t>
            </a:r>
            <a:endParaRPr lang="en-US" sz="1500"/>
          </a:p>
        </p:txBody>
      </p:sp>
      <p:pic>
        <p:nvPicPr>
          <p:cNvPr id="13696102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52475" y="1808559"/>
            <a:ext cx="5038725" cy="362843"/>
          </a:xfrm>
          <a:prstGeom prst="rect">
            <a:avLst/>
          </a:prstGeom>
        </p:spPr>
      </p:pic>
      <p:sp>
        <p:nvSpPr>
          <p:cNvPr id="56558292" name="Text 3"/>
          <p:cNvSpPr txBox="1"/>
          <p:nvPr/>
        </p:nvSpPr>
        <p:spPr bwMode="auto">
          <a:xfrm>
            <a:off x="876299" y="1922859"/>
            <a:ext cx="4791075" cy="1437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log.info("request_completed", correlation_id, method, path, status_code, latency_ms, level)</a:t>
            </a:r>
            <a:endParaRPr lang="en-US" sz="850"/>
          </a:p>
        </p:txBody>
      </p:sp>
      <p:sp>
        <p:nvSpPr>
          <p:cNvPr id="1563139722" name="Text 4"/>
          <p:cNvSpPr txBox="1"/>
          <p:nvPr/>
        </p:nvSpPr>
        <p:spPr bwMode="auto">
          <a:xfrm>
            <a:off x="752475" y="2276177"/>
            <a:ext cx="5038725" cy="38219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Decision: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CloudWatch Logs Insights auto-parses JSON → 20+ fields </a:t>
            </a:r>
            <a:endParaRPr lang="en-US" sz="1000"/>
          </a:p>
        </p:txBody>
      </p:sp>
      <p:pic>
        <p:nvPicPr>
          <p:cNvPr id="43612316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81725" y="1082873"/>
            <a:ext cx="5476875" cy="2496592"/>
          </a:xfrm>
          <a:prstGeom prst="rect">
            <a:avLst/>
          </a:prstGeom>
        </p:spPr>
      </p:pic>
      <p:sp>
        <p:nvSpPr>
          <p:cNvPr id="549175911" name="Text 5"/>
          <p:cNvSpPr txBox="1"/>
          <p:nvPr/>
        </p:nvSpPr>
        <p:spPr bwMode="auto">
          <a:xfrm>
            <a:off x="6400800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CORRELATION</a:t>
            </a:r>
            <a:endParaRPr lang="en-US" sz="850"/>
          </a:p>
        </p:txBody>
      </p:sp>
      <p:sp>
        <p:nvSpPr>
          <p:cNvPr id="2021756107" name="Text 6"/>
          <p:cNvSpPr txBox="1"/>
          <p:nvPr/>
        </p:nvSpPr>
        <p:spPr bwMode="auto">
          <a:xfrm>
            <a:off x="6400800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before_request → correlation_id</a:t>
            </a:r>
            <a:endParaRPr lang="en-US" sz="1500"/>
          </a:p>
        </p:txBody>
      </p:sp>
      <p:pic>
        <p:nvPicPr>
          <p:cNvPr id="2123300212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400800" y="1808559"/>
            <a:ext cx="5038725" cy="516136"/>
          </a:xfrm>
          <a:prstGeom prst="rect">
            <a:avLst/>
          </a:prstGeom>
        </p:spPr>
      </p:pic>
      <p:sp>
        <p:nvSpPr>
          <p:cNvPr id="1865634798" name="Text 7"/>
          <p:cNvSpPr txBox="1"/>
          <p:nvPr/>
        </p:nvSpPr>
        <p:spPr bwMode="auto">
          <a:xfrm>
            <a:off x="6524625" y="1922859"/>
            <a:ext cx="4791075" cy="29706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g.correlation_id = request.headers.get("X-Correlation-ID", uuid4())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g.start_time = time()</a:t>
            </a:r>
            <a:endParaRPr lang="en-US" sz="850"/>
          </a:p>
        </p:txBody>
      </p:sp>
      <p:sp>
        <p:nvSpPr>
          <p:cNvPr id="990680254" name="Text 8"/>
          <p:cNvSpPr txBox="1"/>
          <p:nvPr/>
        </p:nvSpPr>
        <p:spPr bwMode="auto">
          <a:xfrm>
            <a:off x="6400800" y="2429470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Every log line carries same ID → </a:t>
            </a:r>
            <a:r>
              <a:rPr lang="en-US" sz="1000">
                <a:solidFill>
                  <a:srgbClr val="38BDF8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finds full flow.</a:t>
            </a:r>
            <a:endParaRPr lang="en-US" sz="1000"/>
          </a:p>
        </p:txBody>
      </p:sp>
      <p:pic>
        <p:nvPicPr>
          <p:cNvPr id="465129910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3750915"/>
            <a:ext cx="5476875" cy="2649885"/>
          </a:xfrm>
          <a:prstGeom prst="rect">
            <a:avLst/>
          </a:prstGeom>
        </p:spPr>
      </p:pic>
      <p:sp>
        <p:nvSpPr>
          <p:cNvPr id="1970467095" name="Text 9"/>
          <p:cNvSpPr txBox="1"/>
          <p:nvPr/>
        </p:nvSpPr>
        <p:spPr bwMode="auto">
          <a:xfrm>
            <a:off x="752475" y="3950940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850"/>
          </a:p>
        </p:txBody>
      </p:sp>
      <p:sp>
        <p:nvSpPr>
          <p:cNvPr id="1231645605" name="Text 10"/>
          <p:cNvSpPr txBox="1"/>
          <p:nvPr/>
        </p:nvSpPr>
        <p:spPr bwMode="auto">
          <a:xfrm>
            <a:off x="752475" y="4171801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boto3 put_metric_data • Namespace Proj2/MyApp</a:t>
            </a:r>
            <a:endParaRPr lang="en-US" sz="1500"/>
          </a:p>
        </p:txBody>
      </p:sp>
      <p:pic>
        <p:nvPicPr>
          <p:cNvPr id="2048229651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52475" y="4476601"/>
            <a:ext cx="5038725" cy="669429"/>
          </a:xfrm>
          <a:prstGeom prst="rect">
            <a:avLst/>
          </a:prstGeom>
        </p:spPr>
      </p:pic>
      <p:sp>
        <p:nvSpPr>
          <p:cNvPr id="1458830564" name="Text 11"/>
          <p:cNvSpPr txBox="1"/>
          <p:nvPr/>
        </p:nvSpPr>
        <p:spPr bwMode="auto">
          <a:xfrm>
            <a:off x="876299" y="4590901"/>
            <a:ext cx="4791075" cy="45035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cloudwatch.put_metric_data(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Namespace="Proj2/MyApp",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MetricData=[{Name: "request_count", Value:1, Timestamp:utcnow()}])</a:t>
            </a:r>
            <a:endParaRPr lang="en-US" sz="850"/>
          </a:p>
        </p:txBody>
      </p:sp>
      <p:sp>
        <p:nvSpPr>
          <p:cNvPr id="2056528209" name="Text 12"/>
          <p:cNvSpPr txBox="1"/>
          <p:nvPr/>
        </p:nvSpPr>
        <p:spPr bwMode="auto">
          <a:xfrm>
            <a:off x="752475" y="5250805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5 signals in after_request + business hook. </a:t>
            </a:r>
            <a:endParaRPr lang="en-US" sz="1000"/>
          </a:p>
        </p:txBody>
      </p:sp>
      <p:pic>
        <p:nvPicPr>
          <p:cNvPr id="829176570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181725" y="3750915"/>
            <a:ext cx="5476875" cy="2649885"/>
          </a:xfrm>
          <a:prstGeom prst="rect">
            <a:avLst/>
          </a:prstGeom>
        </p:spPr>
      </p:pic>
      <p:sp>
        <p:nvSpPr>
          <p:cNvPr id="109959321" name="Text 13"/>
          <p:cNvSpPr txBox="1"/>
          <p:nvPr/>
        </p:nvSpPr>
        <p:spPr bwMode="auto">
          <a:xfrm>
            <a:off x="6400800" y="3950939"/>
            <a:ext cx="906727" cy="1310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de-DE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ERROR LEVEL</a:t>
            </a:r>
            <a:endParaRPr lang="en-US" sz="850"/>
          </a:p>
        </p:txBody>
      </p:sp>
      <p:sp>
        <p:nvSpPr>
          <p:cNvPr id="1992807022" name="Text 14"/>
          <p:cNvSpPr txBox="1"/>
          <p:nvPr/>
        </p:nvSpPr>
        <p:spPr bwMode="auto">
          <a:xfrm>
            <a:off x="6400800" y="4171800"/>
            <a:ext cx="1372105" cy="2192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de-DE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3 levels of error</a:t>
            </a:r>
            <a:endParaRPr lang="en-US" sz="1500"/>
          </a:p>
        </p:txBody>
      </p:sp>
      <p:sp>
        <p:nvSpPr>
          <p:cNvPr id="1327538697" name="Text 15"/>
          <p:cNvSpPr txBox="1"/>
          <p:nvPr/>
        </p:nvSpPr>
        <p:spPr bwMode="auto">
          <a:xfrm>
            <a:off x="6400800" y="4486126"/>
            <a:ext cx="5038725" cy="5494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WARN-ERROR-INFO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39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3682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425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96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58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3139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123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175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175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3300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5634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68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129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0467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64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229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8830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528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176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59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807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7538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559999" name="Text 0"/>
          <p:cNvSpPr txBox="1"/>
          <p:nvPr/>
        </p:nvSpPr>
        <p:spPr bwMode="auto">
          <a:xfrm>
            <a:off x="533400" y="4191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RED / USE Analysis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— how we triaged</a:t>
            </a:r>
            <a:endParaRPr lang="en-US" sz="3450"/>
          </a:p>
        </p:txBody>
      </p:sp>
      <p:pic>
        <p:nvPicPr>
          <p:cNvPr id="187889301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937768" y="978097"/>
            <a:ext cx="5972175" cy="5460802"/>
          </a:xfrm>
          <a:prstGeom prst="rect">
            <a:avLst/>
          </a:prstGeom>
        </p:spPr>
      </p:pic>
      <p:sp>
        <p:nvSpPr>
          <p:cNvPr id="368847529" name="Text 1"/>
          <p:cNvSpPr txBox="1"/>
          <p:nvPr/>
        </p:nvSpPr>
        <p:spPr bwMode="auto">
          <a:xfrm>
            <a:off x="7303790" y="1120972"/>
            <a:ext cx="125372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 spc="9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DASHBOARD MAPPING</a:t>
            </a:r>
            <a:endParaRPr lang="en-US" sz="750"/>
          </a:p>
        </p:txBody>
      </p:sp>
      <p:pic>
        <p:nvPicPr>
          <p:cNvPr id="661145371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671192" y="1809599"/>
            <a:ext cx="4886325" cy="1198513"/>
          </a:xfrm>
          <a:prstGeom prst="rect">
            <a:avLst/>
          </a:prstGeom>
        </p:spPr>
      </p:pic>
      <p:sp>
        <p:nvSpPr>
          <p:cNvPr id="2015422912" name="Text 2"/>
          <p:cNvSpPr txBox="1"/>
          <p:nvPr/>
        </p:nvSpPr>
        <p:spPr bwMode="auto">
          <a:xfrm>
            <a:off x="3852167" y="1971524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RED — SERVICE VIEW</a:t>
            </a:r>
            <a:endParaRPr lang="en-US" sz="850"/>
          </a:p>
        </p:txBody>
      </p:sp>
      <p:sp>
        <p:nvSpPr>
          <p:cNvPr id="708401268" name="Text 3"/>
          <p:cNvSpPr txBox="1"/>
          <p:nvPr/>
        </p:nvSpPr>
        <p:spPr bwMode="auto">
          <a:xfrm>
            <a:off x="3852167" y="2173335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Rate</a:t>
            </a:r>
            <a:endParaRPr lang="en-US" sz="1000"/>
          </a:p>
        </p:txBody>
      </p:sp>
      <p:sp>
        <p:nvSpPr>
          <p:cNvPr id="10291635" name="Text 4"/>
          <p:cNvSpPr txBox="1"/>
          <p:nvPr/>
        </p:nvSpPr>
        <p:spPr bwMode="auto">
          <a:xfrm>
            <a:off x="4747518" y="2173335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request_count Sum • Traffic timeSeries</a:t>
            </a:r>
            <a:endParaRPr lang="en-US" sz="850"/>
          </a:p>
        </p:txBody>
      </p:sp>
      <p:sp>
        <p:nvSpPr>
          <p:cNvPr id="96220719" name="Text 5"/>
          <p:cNvSpPr txBox="1"/>
          <p:nvPr/>
        </p:nvSpPr>
        <p:spPr bwMode="auto">
          <a:xfrm>
            <a:off x="3852167" y="2397619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928929883" name="Text 6"/>
          <p:cNvSpPr txBox="1"/>
          <p:nvPr/>
        </p:nvSpPr>
        <p:spPr bwMode="auto">
          <a:xfrm>
            <a:off x="4747518" y="2397619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error_count Sum • red spike</a:t>
            </a:r>
            <a:endParaRPr lang="en-US" sz="850"/>
          </a:p>
        </p:txBody>
      </p:sp>
      <p:sp>
        <p:nvSpPr>
          <p:cNvPr id="418282321" name="Text 7"/>
          <p:cNvSpPr txBox="1"/>
          <p:nvPr/>
        </p:nvSpPr>
        <p:spPr bwMode="auto">
          <a:xfrm>
            <a:off x="3852167" y="2621903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Duration</a:t>
            </a:r>
            <a:endParaRPr lang="en-US" sz="1000"/>
          </a:p>
        </p:txBody>
      </p:sp>
      <p:sp>
        <p:nvSpPr>
          <p:cNvPr id="490286310" name="Text 8"/>
          <p:cNvSpPr txBox="1"/>
          <p:nvPr/>
        </p:nvSpPr>
        <p:spPr bwMode="auto">
          <a:xfrm>
            <a:off x="4747518" y="2621903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api_latency Avg / Max / P95</a:t>
            </a:r>
            <a:endParaRPr lang="en-US" sz="850"/>
          </a:p>
        </p:txBody>
      </p:sp>
      <p:pic>
        <p:nvPicPr>
          <p:cNvPr id="1029610401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671192" y="3141462"/>
            <a:ext cx="4886325" cy="1198513"/>
          </a:xfrm>
          <a:prstGeom prst="rect">
            <a:avLst/>
          </a:prstGeom>
        </p:spPr>
      </p:pic>
      <p:sp>
        <p:nvSpPr>
          <p:cNvPr id="1712044990" name="Text 9"/>
          <p:cNvSpPr txBox="1"/>
          <p:nvPr/>
        </p:nvSpPr>
        <p:spPr bwMode="auto">
          <a:xfrm>
            <a:off x="3852167" y="3303387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38BDF8"/>
                </a:solidFill>
                <a:latin typeface="Space Grotesk"/>
                <a:ea typeface="Space Grotesk"/>
                <a:cs typeface="Space Grotesk"/>
              </a:rPr>
              <a:t>USE — RESOURCE VIEW</a:t>
            </a:r>
            <a:endParaRPr lang="en-US" sz="850"/>
          </a:p>
        </p:txBody>
      </p:sp>
      <p:sp>
        <p:nvSpPr>
          <p:cNvPr id="319529811" name="Text 10"/>
          <p:cNvSpPr txBox="1"/>
          <p:nvPr/>
        </p:nvSpPr>
        <p:spPr bwMode="auto">
          <a:xfrm>
            <a:off x="3852167" y="3505198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Utilization</a:t>
            </a:r>
            <a:endParaRPr lang="en-US" sz="1000"/>
          </a:p>
        </p:txBody>
      </p:sp>
      <p:sp>
        <p:nvSpPr>
          <p:cNvPr id="901014120" name="Text 11"/>
          <p:cNvSpPr txBox="1"/>
          <p:nvPr/>
        </p:nvSpPr>
        <p:spPr bwMode="auto">
          <a:xfrm>
            <a:off x="4747518" y="3505198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CPUUtilization + mem_used% + disk SEARCH [[ ]]</a:t>
            </a:r>
            <a:endParaRPr lang="en-US" sz="850"/>
          </a:p>
        </p:txBody>
      </p:sp>
      <p:sp>
        <p:nvSpPr>
          <p:cNvPr id="254249482" name="Text 12"/>
          <p:cNvSpPr txBox="1"/>
          <p:nvPr/>
        </p:nvSpPr>
        <p:spPr bwMode="auto">
          <a:xfrm>
            <a:off x="3852167" y="3729483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Saturation</a:t>
            </a:r>
            <a:endParaRPr lang="en-US" sz="1000"/>
          </a:p>
        </p:txBody>
      </p:sp>
      <p:sp>
        <p:nvSpPr>
          <p:cNvPr id="1133368329" name="Text 13"/>
          <p:cNvSpPr txBox="1"/>
          <p:nvPr/>
        </p:nvSpPr>
        <p:spPr bwMode="auto">
          <a:xfrm>
            <a:off x="4747518" y="3729483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orders_per_minute • business queue</a:t>
            </a:r>
            <a:endParaRPr lang="en-US" sz="850"/>
          </a:p>
        </p:txBody>
      </p:sp>
      <p:sp>
        <p:nvSpPr>
          <p:cNvPr id="1182541449" name="Text 14"/>
          <p:cNvSpPr txBox="1"/>
          <p:nvPr/>
        </p:nvSpPr>
        <p:spPr bwMode="auto">
          <a:xfrm>
            <a:off x="3852167" y="3953766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1774632573" name="Text 15"/>
          <p:cNvSpPr txBox="1"/>
          <p:nvPr/>
        </p:nvSpPr>
        <p:spPr bwMode="auto">
          <a:xfrm>
            <a:off x="4747518" y="3953766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same error_count • overlay correlation</a:t>
            </a:r>
            <a:endParaRPr lang="en-US" sz="850"/>
          </a:p>
        </p:txBody>
      </p:sp>
      <p:pic>
        <p:nvPicPr>
          <p:cNvPr id="1867864232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671192" y="4473325"/>
            <a:ext cx="4886325" cy="737146"/>
          </a:xfrm>
          <a:prstGeom prst="rect">
            <a:avLst/>
          </a:prstGeom>
        </p:spPr>
      </p:pic>
      <p:sp>
        <p:nvSpPr>
          <p:cNvPr id="1991887302" name="Text 16"/>
          <p:cNvSpPr txBox="1"/>
          <p:nvPr/>
        </p:nvSpPr>
        <p:spPr bwMode="auto">
          <a:xfrm>
            <a:off x="3814067" y="4597150"/>
            <a:ext cx="4600575" cy="48949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Evidence: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Injected 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monospace"/>
                <a:ea typeface="monospace"/>
                <a:cs typeface="monospace"/>
              </a:rPr>
              <a:t>/fail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20x → Error Rate ↑ 5+ in 60s, Latency flat 30ms, CPU 8% flat →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 error not infra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. Top row = RED single value, Middle = Golden Signals, Bottom = USE, Correlation = all overlayed. 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889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47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145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5422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40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20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929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282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286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610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2044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529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014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249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368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541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463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7864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887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8216721" name="Text 0"/>
          <p:cNvSpPr txBox="1"/>
          <p:nvPr/>
        </p:nvSpPr>
        <p:spPr bwMode="auto">
          <a:xfrm>
            <a:off x="533400" y="495300"/>
            <a:ext cx="6275784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Learnings —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What I Learned</a:t>
            </a:r>
            <a:endParaRPr lang="en-US" sz="3450"/>
          </a:p>
        </p:txBody>
      </p:sp>
      <p:pic>
        <p:nvPicPr>
          <p:cNvPr id="81952117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483668"/>
            <a:ext cx="6275784" cy="785515"/>
          </a:xfrm>
          <a:prstGeom prst="rect">
            <a:avLst/>
          </a:prstGeom>
        </p:spPr>
      </p:pic>
      <p:pic>
        <p:nvPicPr>
          <p:cNvPr id="210057780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6275" y="1607493"/>
            <a:ext cx="266700" cy="266700"/>
          </a:xfrm>
          <a:prstGeom prst="rect">
            <a:avLst/>
          </a:prstGeom>
        </p:spPr>
      </p:pic>
      <p:sp>
        <p:nvSpPr>
          <p:cNvPr id="1872400703" name="Text 1"/>
          <p:cNvSpPr txBox="1"/>
          <p:nvPr/>
        </p:nvSpPr>
        <p:spPr bwMode="auto">
          <a:xfrm>
            <a:off x="746373" y="1664643"/>
            <a:ext cx="187077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01</a:t>
            </a:r>
            <a:endParaRPr lang="en-US" sz="900"/>
          </a:p>
        </p:txBody>
      </p:sp>
      <p:sp>
        <p:nvSpPr>
          <p:cNvPr id="208362282" name="Text 2"/>
          <p:cNvSpPr txBox="1"/>
          <p:nvPr/>
        </p:nvSpPr>
        <p:spPr bwMode="auto">
          <a:xfrm>
            <a:off x="1095375" y="1607493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Separation of concerns: access.log vs app.log</a:t>
            </a:r>
            <a:endParaRPr lang="en-US" sz="1000"/>
          </a:p>
        </p:txBody>
      </p:sp>
      <p:sp>
        <p:nvSpPr>
          <p:cNvPr id="1740555768" name="Text 3"/>
          <p:cNvSpPr txBox="1"/>
          <p:nvPr/>
        </p:nvSpPr>
        <p:spPr bwMode="auto">
          <a:xfrm>
            <a:off x="1095375" y="1806327"/>
            <a:ext cx="5570934" cy="3390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Pointing both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--access-logfile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and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--error-logfile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to same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mixes Apache format 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monospace"/>
                <a:ea typeface="monospace"/>
                <a:cs typeface="monospace"/>
              </a:rPr>
              <a:t>91.0.58.40 - - [13/Aug...]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with JSON. Parser breaks → Discovered fields 11, no level.</a:t>
            </a:r>
            <a:endParaRPr lang="en-US" sz="900"/>
          </a:p>
        </p:txBody>
      </p:sp>
      <p:pic>
        <p:nvPicPr>
          <p:cNvPr id="1708264086" name="Image 6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399" y="3260580"/>
            <a:ext cx="6275784" cy="766465"/>
          </a:xfrm>
          <a:prstGeom prst="rect">
            <a:avLst/>
          </a:prstGeom>
        </p:spPr>
      </p:pic>
      <p:pic>
        <p:nvPicPr>
          <p:cNvPr id="1952696795" name="Image 7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76274" y="3384406"/>
            <a:ext cx="266700" cy="266700"/>
          </a:xfrm>
          <a:prstGeom prst="rect">
            <a:avLst/>
          </a:prstGeom>
        </p:spPr>
      </p:pic>
      <p:sp>
        <p:nvSpPr>
          <p:cNvPr id="1925467829" name="Text 10"/>
          <p:cNvSpPr txBox="1"/>
          <p:nvPr/>
        </p:nvSpPr>
        <p:spPr bwMode="auto">
          <a:xfrm>
            <a:off x="732382" y="3441556"/>
            <a:ext cx="127853" cy="20074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</a:t>
            </a:r>
            <a:r>
              <a:rPr lang="de-DE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2</a:t>
            </a:r>
            <a:endParaRPr lang="en-US" sz="900"/>
          </a:p>
        </p:txBody>
      </p:sp>
      <p:sp>
        <p:nvSpPr>
          <p:cNvPr id="1506926338" name="Text 11"/>
          <p:cNvSpPr txBox="1"/>
          <p:nvPr/>
        </p:nvSpPr>
        <p:spPr bwMode="auto">
          <a:xfrm>
            <a:off x="1095374" y="3384406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IAM least privilege bite</a:t>
            </a:r>
            <a:endParaRPr lang="en-US" sz="1000"/>
          </a:p>
        </p:txBody>
      </p:sp>
      <p:sp>
        <p:nvSpPr>
          <p:cNvPr id="2005795834" name="Text 12"/>
          <p:cNvSpPr txBox="1"/>
          <p:nvPr/>
        </p:nvSpPr>
        <p:spPr bwMode="auto">
          <a:xfrm>
            <a:off x="1095374" y="3583240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proj2-ec2-role PutMetricData works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but ListMetrics fails. Validate from Admin console, not EC2. Learned to test both planes.</a:t>
            </a:r>
            <a:endParaRPr lang="en-US" sz="900"/>
          </a:p>
        </p:txBody>
      </p:sp>
      <p:pic>
        <p:nvPicPr>
          <p:cNvPr id="2017384804" name="Image 8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5204817"/>
            <a:ext cx="6275784" cy="766465"/>
          </a:xfrm>
          <a:prstGeom prst="rect">
            <a:avLst/>
          </a:prstGeom>
        </p:spPr>
      </p:pic>
      <p:pic>
        <p:nvPicPr>
          <p:cNvPr id="1614387286" name="Image 9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76275" y="5328642"/>
            <a:ext cx="266700" cy="266700"/>
          </a:xfrm>
          <a:prstGeom prst="rect">
            <a:avLst/>
          </a:prstGeom>
        </p:spPr>
      </p:pic>
      <p:sp>
        <p:nvSpPr>
          <p:cNvPr id="2098510617" name="Text 13"/>
          <p:cNvSpPr txBox="1"/>
          <p:nvPr/>
        </p:nvSpPr>
        <p:spPr bwMode="auto">
          <a:xfrm>
            <a:off x="735508" y="5385791"/>
            <a:ext cx="127853" cy="20074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0</a:t>
            </a:r>
            <a:r>
              <a:rPr lang="de-DE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3</a:t>
            </a:r>
            <a:endParaRPr lang="en-US" sz="900"/>
          </a:p>
        </p:txBody>
      </p:sp>
      <p:sp>
        <p:nvSpPr>
          <p:cNvPr id="219627799" name="Text 14"/>
          <p:cNvSpPr txBox="1"/>
          <p:nvPr/>
        </p:nvSpPr>
        <p:spPr bwMode="auto">
          <a:xfrm>
            <a:off x="1095375" y="5328642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Correlation ID is game changer</a:t>
            </a:r>
            <a:endParaRPr lang="en-US" sz="1000"/>
          </a:p>
        </p:txBody>
      </p:sp>
      <p:sp>
        <p:nvSpPr>
          <p:cNvPr id="190740228" name="Text 15"/>
          <p:cNvSpPr txBox="1"/>
          <p:nvPr/>
        </p:nvSpPr>
        <p:spPr bwMode="auto">
          <a:xfrm>
            <a:off x="1095375" y="5527477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One header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X-Correlation-ID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=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51e9ef29-4528…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ties order_created + request_completed. Without X-Ray, full trace in Logs Insights via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.</a:t>
            </a:r>
            <a:endParaRPr lang="en-US" sz="900"/>
          </a:p>
        </p:txBody>
      </p:sp>
      <p:pic>
        <p:nvPicPr>
          <p:cNvPr id="906360949" name="Image 10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13984" y="495300"/>
            <a:ext cx="4544616" cy="5867399"/>
          </a:xfrm>
          <a:prstGeom prst="rect">
            <a:avLst/>
          </a:prstGeom>
        </p:spPr>
      </p:pic>
      <p:pic>
        <p:nvPicPr>
          <p:cNvPr id="118534261" name="Image 11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123509" y="504825"/>
            <a:ext cx="4525566" cy="5848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783697" name="Text 0"/>
          <p:cNvSpPr txBox="1"/>
          <p:nvPr/>
        </p:nvSpPr>
        <p:spPr bwMode="auto">
          <a:xfrm>
            <a:off x="533400" y="4572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What Would I Do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Differently?</a:t>
            </a:r>
            <a:endParaRPr lang="en-US" sz="3450"/>
          </a:p>
        </p:txBody>
      </p:sp>
      <p:pic>
        <p:nvPicPr>
          <p:cNvPr id="67556952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73348"/>
            <a:ext cx="5486400" cy="2587526"/>
          </a:xfrm>
          <a:prstGeom prst="rect">
            <a:avLst/>
          </a:prstGeom>
        </p:spPr>
      </p:pic>
      <p:sp>
        <p:nvSpPr>
          <p:cNvPr id="643095657" name="Text 1"/>
          <p:cNvSpPr txBox="1"/>
          <p:nvPr/>
        </p:nvSpPr>
        <p:spPr bwMode="auto">
          <a:xfrm>
            <a:off x="752475" y="1273373"/>
            <a:ext cx="50482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01 — INSTRUMENTATION</a:t>
            </a:r>
            <a:endParaRPr lang="en-US" sz="850"/>
          </a:p>
        </p:txBody>
      </p:sp>
      <p:sp>
        <p:nvSpPr>
          <p:cNvPr id="1555227935" name="Text 2"/>
          <p:cNvSpPr txBox="1"/>
          <p:nvPr/>
        </p:nvSpPr>
        <p:spPr bwMode="auto">
          <a:xfrm>
            <a:off x="752475" y="1494234"/>
            <a:ext cx="5048250" cy="1970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en-US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Use OpenTelemetry SDK, not manual boto3 put_metric_data</a:t>
            </a:r>
            <a:endParaRPr lang="en-US" sz="1350"/>
          </a:p>
        </p:txBody>
      </p:sp>
      <p:sp>
        <p:nvSpPr>
          <p:cNvPr id="779737868" name="Text 3"/>
          <p:cNvSpPr txBox="1"/>
          <p:nvPr/>
        </p:nvSpPr>
        <p:spPr bwMode="auto">
          <a:xfrm>
            <a:off x="7524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en-US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Dimensions out of the box, context propagation, no try/except hand-rolled. OTEL → CloudWatch exporter keeps native but adds trace id.</a:t>
            </a:r>
            <a:endParaRPr lang="en-US" sz="1000"/>
          </a:p>
        </p:txBody>
      </p:sp>
      <p:pic>
        <p:nvPicPr>
          <p:cNvPr id="361884749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172200" y="1073348"/>
            <a:ext cx="5486400" cy="2587526"/>
          </a:xfrm>
          <a:prstGeom prst="rect">
            <a:avLst/>
          </a:prstGeom>
        </p:spPr>
      </p:pic>
      <p:sp>
        <p:nvSpPr>
          <p:cNvPr id="1586756753" name="Text 5"/>
          <p:cNvSpPr txBox="1"/>
          <p:nvPr/>
        </p:nvSpPr>
        <p:spPr bwMode="auto">
          <a:xfrm>
            <a:off x="6391274" y="1273372"/>
            <a:ext cx="1426582" cy="1328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02 — </a:t>
            </a:r>
            <a:r>
              <a:rPr lang="de-DE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USING GRAFANA </a:t>
            </a:r>
            <a:endParaRPr lang="en-US" sz="850"/>
          </a:p>
        </p:txBody>
      </p:sp>
      <p:sp>
        <p:nvSpPr>
          <p:cNvPr id="1528517468" name="Text 6"/>
          <p:cNvSpPr txBox="1"/>
          <p:nvPr/>
        </p:nvSpPr>
        <p:spPr bwMode="auto">
          <a:xfrm>
            <a:off x="6391274" y="1494234"/>
            <a:ext cx="3468853" cy="2146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de-DE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Using a third-parthy opensource dashboard</a:t>
            </a:r>
            <a:endParaRPr lang="en-US" sz="1350"/>
          </a:p>
        </p:txBody>
      </p:sp>
      <p:sp>
        <p:nvSpPr>
          <p:cNvPr id="1552936820" name="Text 7"/>
          <p:cNvSpPr txBox="1"/>
          <p:nvPr/>
        </p:nvSpPr>
        <p:spPr bwMode="auto">
          <a:xfrm>
            <a:off x="63912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de-DE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It cloud be a good practice for multi-cloud environmet with no dependency on Cloudwatch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201878" name="Text 0"/>
          <p:cNvSpPr txBox="1"/>
          <p:nvPr/>
        </p:nvSpPr>
        <p:spPr bwMode="auto">
          <a:xfrm>
            <a:off x="609600" y="1148358"/>
            <a:ext cx="10972800" cy="1140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Thank You </a:t>
            </a:r>
            <a:endParaRPr lang="en-US" sz="4800"/>
          </a:p>
          <a:p>
            <a:pPr marL="0" indent="0" algn="ctr">
              <a:buNone/>
              <a:defRPr/>
            </a:pPr>
            <a:endParaRPr lang="en-US" sz="4800" b="1" spc="-95">
              <a:solidFill>
                <a:srgbClr val="EAEEF2"/>
              </a:solidFill>
              <a:latin typeface="Space Grotesk"/>
              <a:ea typeface="Space Grotesk"/>
              <a:cs typeface="Space Grotesk"/>
            </a:endParaRPr>
          </a:p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</a:t>
            </a: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Q&amp;A</a:t>
            </a:r>
            <a:endParaRPr lang="en-US" sz="4800"/>
          </a:p>
        </p:txBody>
      </p:sp>
      <p:sp>
        <p:nvSpPr>
          <p:cNvPr id="516194253" name="Shape 11"/>
          <p:cNvSpPr/>
          <p:nvPr/>
        </p:nvSpPr>
        <p:spPr bwMode="auto">
          <a:xfrm>
            <a:off x="1619250" y="5210175"/>
            <a:ext cx="8953500" cy="9525"/>
          </a:xfrm>
          <a:prstGeom prst="rect">
            <a:avLst/>
          </a:prstGeom>
          <a:solidFill>
            <a:srgbClr val="EBEBF5">
              <a:alpha val="1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Proj2-Observability-Deep-Dive</dc:title>
  <dc:subject>PptxGenJS Presentation</dc:subject>
  <dc:creator>PptxGenJS</dc:creator>
  <cp:lastModifiedBy/>
  <cp:revision>3</cp:revision>
  <dcterms:created xsi:type="dcterms:W3CDTF">2026-08-14T09:44:03Z</dcterms:created>
  <dcterms:modified xsi:type="dcterms:W3CDTF">2026-08-17T07:51:26Z</dcterms:modified>
</cp:coreProperties>
</file>